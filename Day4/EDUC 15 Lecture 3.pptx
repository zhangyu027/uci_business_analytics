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456" r:id="rId3"/>
    <p:sldId id="298" r:id="rId4"/>
    <p:sldId id="414" r:id="rId5"/>
    <p:sldId id="416" r:id="rId6"/>
    <p:sldId id="465" r:id="rId7"/>
    <p:sldId id="445" r:id="rId8"/>
    <p:sldId id="446" r:id="rId9"/>
    <p:sldId id="447" r:id="rId10"/>
    <p:sldId id="459" r:id="rId11"/>
    <p:sldId id="450" r:id="rId12"/>
    <p:sldId id="440" r:id="rId13"/>
    <p:sldId id="460" r:id="rId14"/>
    <p:sldId id="451" r:id="rId15"/>
    <p:sldId id="452" r:id="rId16"/>
    <p:sldId id="453" r:id="rId17"/>
    <p:sldId id="497" r:id="rId18"/>
    <p:sldId id="471" r:id="rId19"/>
    <p:sldId id="530" r:id="rId20"/>
    <p:sldId id="531" r:id="rId21"/>
    <p:sldId id="309" r:id="rId22"/>
    <p:sldId id="320" r:id="rId23"/>
    <p:sldId id="496" r:id="rId24"/>
    <p:sldId id="308" r:id="rId25"/>
    <p:sldId id="457" r:id="rId26"/>
    <p:sldId id="449" r:id="rId27"/>
    <p:sldId id="458" r:id="rId28"/>
    <p:sldId id="259" r:id="rId29"/>
    <p:sldId id="260" r:id="rId30"/>
    <p:sldId id="299" r:id="rId31"/>
    <p:sldId id="261" r:id="rId32"/>
    <p:sldId id="474" r:id="rId33"/>
    <p:sldId id="482" r:id="rId34"/>
    <p:sldId id="481" r:id="rId35"/>
    <p:sldId id="484" r:id="rId36"/>
    <p:sldId id="312" r:id="rId37"/>
    <p:sldId id="311" r:id="rId38"/>
    <p:sldId id="313" r:id="rId39"/>
    <p:sldId id="314" r:id="rId40"/>
    <p:sldId id="315" r:id="rId41"/>
    <p:sldId id="487" r:id="rId42"/>
    <p:sldId id="267" r:id="rId43"/>
    <p:sldId id="488" r:id="rId44"/>
    <p:sldId id="490" r:id="rId45"/>
    <p:sldId id="293" r:id="rId46"/>
    <p:sldId id="316" r:id="rId4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94757"/>
  </p:normalViewPr>
  <p:slideViewPr>
    <p:cSldViewPr>
      <p:cViewPr varScale="1">
        <p:scale>
          <a:sx n="107" d="100"/>
          <a:sy n="107" d="100"/>
        </p:scale>
        <p:origin x="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710436255"/>
        <c:axId val="1710424495"/>
      </c:barChart>
      <c:catAx>
        <c:axId val="1710436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10424495"/>
        <c:crosses val="autoZero"/>
        <c:auto val="1"/>
        <c:lblAlgn val="ctr"/>
        <c:lblOffset val="100"/>
        <c:noMultiLvlLbl val="0"/>
      </c:catAx>
      <c:valAx>
        <c:axId val="1710424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4362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BF25F2-CE1C-B34D-80D5-E89847E049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1F194-6238-7247-AB1A-4FC6CCFF25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E6AB28-DAA3-B44C-829C-1E9FE9BAC38E}" type="datetimeFigureOut">
              <a:rPr lang="en-US" altLang="en-US"/>
              <a:pPr/>
              <a:t>6/25/22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14DEF-63B3-3D4D-92BB-2500FC0DA6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EA59C-88CA-E24C-AA13-4A84F0E07C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22517A-AB1C-3440-B0B7-962DCBF735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2353D-66D8-EB4D-873C-7C3D4744C2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B3A36-CA99-F148-A7E4-60D00A1C974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986D2ED-7C7E-A84A-A352-9902757F0692}" type="datetimeFigureOut">
              <a:rPr lang="en-US" altLang="en-US"/>
              <a:pPr/>
              <a:t>6/25/22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1129F1-920C-D842-B2F5-5C6544D065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580C840-825A-2941-B73B-D43E21CE9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6A81B-ED98-5E49-9B09-A5E1684E38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9CB2A-9029-2141-ACFC-3404735B4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7E7E126-1023-7140-BD7D-F309B7E92C3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2758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8372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8023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306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2587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237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0857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7551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9478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372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3150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4838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7526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00839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4107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9915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0916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2148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311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7306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1366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26951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9873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85852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024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064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A79DA7-5881-6747-9739-33B1E46625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A9C371-9479-9E4D-8B0A-49C55B2FE5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5D86CE-ECE2-D140-AF86-3808BAE5BB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699C12-6AA0-A344-89EB-8E948BCF29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148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8959F9-0C98-2949-A660-2CA434F076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388BE2-778C-0449-89F4-4487338956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702C0F4-F5DF-6D48-A8C1-8AD7532AF8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7A6BAC-4D90-7F49-9D4E-873F0254B6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80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2FE210-50C6-734C-9683-CCBD26CEBC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33CDAF-8407-A248-9908-B5600D27C9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33FF53-43E3-6A40-A167-1F8416795E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4CF304-1CA6-FF4E-B27B-245C567538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589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CDFB0-3DBD-B343-9B0F-902F6653D5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23459-74B8-E048-9B65-68C8E6527E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16AE91-71ED-DF40-B1F5-148A00BF64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BDBA89-C1A0-1A43-888C-E0A380409A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61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BC0864-9F93-1E4F-96FD-EBA5345A96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8C19D51-CD5A-B648-82D1-1BE81A4D24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4F6AD6-655C-E146-8F82-7332705C91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74BC08-0E29-C641-83FF-905B9BBA61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03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EB64723-19B7-994E-A335-4E1476C176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A0ED3D5-BC69-CC46-94A8-BF55945E27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3ECB823-9A25-CB46-8CB0-EFD619095D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11ADE7-1502-764B-80C5-A78DF8AB91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9363B12-0C62-174A-BC94-B1DB7E82E7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5B7A7D-F199-E14B-8790-A2791FF513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F04C1A-EAAE-4B41-89B7-DFE30661B4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8D56F5-ECCE-F743-82E1-D12EF3829D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33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A5FCFB-E2A1-CB44-8D2E-79DF5CEB12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EFC513-936C-694A-8542-FB63D912AE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DAFA30-208D-F64F-B490-490F2977F7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7E0AA4-BF50-5749-A0DD-3BD88AF53A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755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DF218-930B-4743-9083-ED53B01BA0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EF3BA3-C8B8-EF4A-B22C-2DDB9648A4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25635-DA83-EC4C-B2CE-5590501A87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E69210-F16C-9647-B737-C9BD6635ED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225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3F2E7E-6A58-0543-9D12-31FA9386E4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B371A1-2EEE-634B-A756-998099FBF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00C40E-7FAF-DF4F-B7E1-E7A15633BD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887DD2-0D54-974B-8EED-249871DE86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183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7E2436-7DFC-C54B-84BF-63466919A3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977239-D92A-A24A-BCBD-516BE37F10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D7ACE7-7988-1F4D-8FF5-B26E2E8B79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F962BE-1029-4C4D-9971-C5B6B48AAF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9243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222D0F-CE4F-F14D-95D4-4664E3B4EC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663616-093B-444F-9190-841545A90D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7BF21-8CF2-AE47-B1BC-B717C2549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6412DD-8BCE-444F-894C-10C74C00F9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974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7B0745E-57EA-8D4A-A173-2590939A26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17B2A3A-0603-6748-ACB9-0FC211B653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6A3411C-000B-D04E-ABED-6250590F8D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625672-E291-9547-A347-AF2A6D8F36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848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9C76C15-DB7F-C948-BEE5-644B737B2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084330-E236-634B-9EA0-0B9640C17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64DA50B-9710-AE47-A6DA-0932F88949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C9AE88D-D8D1-634B-B064-4669213F34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1F9BC8-43F9-DA40-B37B-79D2873345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27B988-2FBB-8844-9B9B-99A7D95D8AD4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3334A0-AB52-8040-A32C-524BA8E23540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187184" y="6626896"/>
            <a:ext cx="1956816" cy="1891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10" Type="http://schemas.openxmlformats.org/officeDocument/2006/relationships/image" Target="../media/image7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Excel_Worksheet.xls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Excel_Worksheet1.xls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Excel_Worksheet2.xls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3.xls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4.xlsx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EDUC 15: Statistics for Education Research</a:t>
            </a:r>
            <a:br>
              <a:rPr lang="en-US" sz="3300" dirty="0"/>
            </a:br>
            <a:endParaRPr lang="en-US" sz="3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505200"/>
            <a:ext cx="7997825" cy="1752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Lecture 3</a:t>
            </a:r>
          </a:p>
          <a:p>
            <a:pPr algn="ctr"/>
            <a:r>
              <a:rPr lang="en-US" dirty="0"/>
              <a:t>School of Education</a:t>
            </a:r>
          </a:p>
          <a:p>
            <a:pPr algn="ctr"/>
            <a:r>
              <a:rPr lang="en-US" dirty="0"/>
              <a:t>UCI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82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D4CA-8118-F44E-96CB-049DCCB7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/>
              <a:t>Measure of 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D492A-19DD-414B-BDE9-5D721A9A5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Mode:</a:t>
            </a:r>
            <a:r>
              <a:rPr lang="en-US" dirty="0"/>
              <a:t> the most frequent value in a group is the </a:t>
            </a:r>
            <a:r>
              <a:rPr lang="en-US" b="1" dirty="0"/>
              <a:t>mode</a:t>
            </a:r>
            <a:r>
              <a:rPr lang="en-US" dirty="0"/>
              <a:t>. </a:t>
            </a:r>
          </a:p>
          <a:p>
            <a:r>
              <a:rPr lang="en-US" b="1" dirty="0"/>
              <a:t>Median: </a:t>
            </a:r>
            <a:r>
              <a:rPr lang="en-US" dirty="0"/>
              <a:t>the median is a set of scores' midpoint. </a:t>
            </a:r>
          </a:p>
          <a:p>
            <a:r>
              <a:rPr lang="en-US" b="1" dirty="0"/>
              <a:t>Mean: </a:t>
            </a:r>
            <a:r>
              <a:rPr lang="en-US" dirty="0"/>
              <a:t>the </a:t>
            </a:r>
            <a:r>
              <a:rPr lang="en-US" b="1" dirty="0"/>
              <a:t>mean </a:t>
            </a:r>
            <a:r>
              <a:rPr lang="en-US" dirty="0"/>
              <a:t>is the average, and more affected by extreme scores, or </a:t>
            </a:r>
            <a:r>
              <a:rPr lang="en-US" b="1" dirty="0"/>
              <a:t>outliers</a:t>
            </a:r>
            <a:r>
              <a:rPr lang="en-US" dirty="0"/>
              <a:t>.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17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74713" y="2060068"/>
            <a:ext cx="7375525" cy="3554819"/>
          </a:xfrm>
          <a:prstGeom prst="rect">
            <a:avLst/>
          </a:prstGeom>
          <a:solidFill>
            <a:srgbClr val="EAEDCB"/>
          </a:solidFill>
          <a:ln w="10000">
            <a:solidFill>
              <a:srgbClr val="D2DA7A"/>
            </a:solidFill>
            <a:miter lim="800000"/>
            <a:headEnd/>
            <a:tailEnd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endParaRPr lang="en-US" sz="2000" b="1" dirty="0">
              <a:solidFill>
                <a:srgbClr val="000000"/>
              </a:solidFill>
            </a:endParaRPr>
          </a:p>
          <a:p>
            <a:pPr marL="342900" indent="-342900" eaLnBrk="1" hangingPunct="1">
              <a:spcAft>
                <a:spcPts val="18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Median, five number summary</a:t>
            </a:r>
            <a:r>
              <a:rPr lang="en-US" sz="2000" i="1" dirty="0">
                <a:solidFill>
                  <a:srgbClr val="000000"/>
                </a:solidFill>
              </a:rPr>
              <a:t> and IQR </a:t>
            </a:r>
            <a:r>
              <a:rPr lang="en-US" sz="2000" dirty="0">
                <a:solidFill>
                  <a:srgbClr val="000000"/>
                </a:solidFill>
              </a:rPr>
              <a:t>usually better than the mean and standard deviation for describing a skewed distribution or a distribution with outliers</a:t>
            </a:r>
          </a:p>
          <a:p>
            <a:pPr marL="342900" indent="-342900" eaLnBrk="1" hangingPunct="1">
              <a:spcAft>
                <a:spcPts val="1800"/>
              </a:spcAft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Use mean and standard deviation only for reasonably symmetric distributions that don’</a:t>
            </a:r>
            <a:r>
              <a:rPr lang="en-US" altLang="ja-JP" sz="2000" dirty="0">
                <a:solidFill>
                  <a:srgbClr val="000000"/>
                </a:solidFill>
              </a:rPr>
              <a:t>t have outliers.</a:t>
            </a:r>
          </a:p>
          <a:p>
            <a:pPr eaLnBrk="1" hangingPunct="1">
              <a:spcAft>
                <a:spcPts val="1800"/>
              </a:spcAft>
            </a:pPr>
            <a:r>
              <a:rPr lang="en-US" sz="2000" b="1" dirty="0">
                <a:solidFill>
                  <a:srgbClr val="000000"/>
                </a:solidFill>
              </a:rPr>
              <a:t>NOTE: Numerical summaries do not fully describe the shape of a distribution.  </a:t>
            </a:r>
            <a:r>
              <a:rPr lang="en-US" sz="2000" b="1" i="1" dirty="0">
                <a:solidFill>
                  <a:srgbClr val="000000"/>
                </a:solidFill>
              </a:rPr>
              <a:t>ALWAYS  PLOT  YOUR  DATA!</a:t>
            </a:r>
            <a:endParaRPr lang="en-US" sz="2000" b="1" dirty="0">
              <a:solidFill>
                <a:srgbClr val="000000"/>
              </a:solidFill>
            </a:endParaRPr>
          </a:p>
          <a:p>
            <a:pPr eaLnBrk="1" hangingPunct="1">
              <a:spcAft>
                <a:spcPts val="1800"/>
              </a:spcAft>
              <a:buFont typeface="Arial" charset="0"/>
              <a:buChar char="•"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066800" y="1853693"/>
            <a:ext cx="7040563" cy="369887"/>
          </a:xfrm>
          <a:prstGeom prst="rect">
            <a:avLst/>
          </a:prstGeom>
          <a:solidFill>
            <a:srgbClr val="C9CCD8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Choosing Measures of Center and Spread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34963" y="471078"/>
            <a:ext cx="7696200" cy="93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14400">
              <a:defRPr/>
            </a:pPr>
            <a:r>
              <a:rPr lang="en-US" sz="3600" dirty="0">
                <a:solidFill>
                  <a:srgbClr val="0070C0"/>
                </a:solidFill>
                <a:latin typeface="+mj-lt"/>
                <a:ea typeface="ＭＳ Ｐゴシック" pitchFamily="-1" charset="-128"/>
                <a:cs typeface="ＭＳ Ｐゴシック" pitchFamily="-1" charset="-128"/>
              </a:rPr>
              <a:t>Choosing Measures of Center </a:t>
            </a:r>
          </a:p>
          <a:p>
            <a:pPr defTabSz="914400">
              <a:defRPr/>
            </a:pPr>
            <a:r>
              <a:rPr lang="en-US" sz="3600" dirty="0">
                <a:solidFill>
                  <a:srgbClr val="0070C0"/>
                </a:solidFill>
                <a:latin typeface="+mj-lt"/>
                <a:ea typeface="ＭＳ Ｐゴシック" pitchFamily="-1" charset="-128"/>
                <a:cs typeface="ＭＳ Ｐゴシック" pitchFamily="-1" charset="-128"/>
              </a:rPr>
              <a:t>and Spread</a:t>
            </a:r>
          </a:p>
        </p:txBody>
      </p:sp>
    </p:spTree>
    <p:extLst>
      <p:ext uri="{BB962C8B-B14F-4D97-AF65-F5344CB8AC3E}">
        <p14:creationId xmlns:p14="http://schemas.microsoft.com/office/powerpoint/2010/main" val="3257443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8361428-1103-A64C-BFB1-42C594771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Mean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B2A0EC1-34C7-7442-8709-18DE2252B4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800600"/>
          </a:xfrm>
        </p:spPr>
        <p:txBody>
          <a:bodyPr/>
          <a:lstStyle/>
          <a:p>
            <a:pPr eaLnBrk="1" hangingPunct="1"/>
            <a:r>
              <a:rPr lang="en-US" altLang="en-US"/>
              <a:t>Average is another name for mean</a:t>
            </a:r>
          </a:p>
          <a:p>
            <a:pPr eaLnBrk="1" hangingPunct="1"/>
            <a:r>
              <a:rPr lang="en-US" altLang="en-US"/>
              <a:t>If describing a population, denoted as </a:t>
            </a:r>
            <a:r>
              <a:rPr lang="en-US" altLang="en-US" b="1">
                <a:solidFill>
                  <a:schemeClr val="accent2"/>
                </a:solidFill>
                <a:sym typeface="Symbol" pitchFamily="2" charset="2"/>
              </a:rPr>
              <a:t>μ</a:t>
            </a:r>
            <a:r>
              <a:rPr lang="en-US" altLang="en-US">
                <a:sym typeface="Symbol" pitchFamily="2" charset="2"/>
              </a:rPr>
              <a:t>, the greek letter </a:t>
            </a:r>
            <a:r>
              <a:rPr lang="ja-JP" altLang="en-US">
                <a:sym typeface="Symbol" pitchFamily="2" charset="2"/>
              </a:rPr>
              <a:t>“</a:t>
            </a:r>
            <a:r>
              <a:rPr lang="en-US" altLang="ja-JP">
                <a:sym typeface="Symbol" pitchFamily="2" charset="2"/>
              </a:rPr>
              <a:t>mu</a:t>
            </a:r>
            <a:r>
              <a:rPr lang="ja-JP" altLang="en-US">
                <a:sym typeface="Symbol" pitchFamily="2" charset="2"/>
              </a:rPr>
              <a:t>”</a:t>
            </a:r>
            <a:r>
              <a:rPr lang="en-US" altLang="ja-JP">
                <a:sym typeface="Symbol" pitchFamily="2" charset="2"/>
              </a:rPr>
              <a:t>.</a:t>
            </a:r>
          </a:p>
          <a:p>
            <a:pPr eaLnBrk="1" hangingPunct="1"/>
            <a:r>
              <a:rPr lang="en-US" altLang="en-US"/>
              <a:t>If describing a sample, denoted as X, called </a:t>
            </a:r>
            <a:r>
              <a:rPr lang="ja-JP" altLang="en-US"/>
              <a:t>“</a:t>
            </a:r>
            <a:r>
              <a:rPr lang="en-US" altLang="ja-JP"/>
              <a:t>x-bar</a:t>
            </a:r>
            <a:r>
              <a:rPr lang="ja-JP" altLang="en-US"/>
              <a:t>”</a:t>
            </a:r>
            <a:r>
              <a:rPr lang="en-US" altLang="ja-JP"/>
              <a:t>. In SPSS the mean is denoted by M</a:t>
            </a:r>
          </a:p>
          <a:p>
            <a:pPr eaLnBrk="1" hangingPunct="1"/>
            <a:r>
              <a:rPr lang="en-US" altLang="en-US"/>
              <a:t>Seriously affected by unusual values called </a:t>
            </a:r>
            <a:r>
              <a:rPr lang="ja-JP" altLang="en-US"/>
              <a:t>“</a:t>
            </a:r>
            <a:r>
              <a:rPr lang="en-US" altLang="ja-JP" b="1">
                <a:solidFill>
                  <a:schemeClr val="accent2"/>
                </a:solidFill>
              </a:rPr>
              <a:t>outliers</a:t>
            </a:r>
            <a:r>
              <a:rPr lang="ja-JP" altLang="en-US"/>
              <a:t>”</a:t>
            </a:r>
            <a:r>
              <a:rPr lang="en-US" altLang="ja-JP"/>
              <a:t>.</a:t>
            </a:r>
            <a:endParaRPr lang="en-US" altLang="en-US"/>
          </a:p>
        </p:txBody>
      </p:sp>
      <p:sp>
        <p:nvSpPr>
          <p:cNvPr id="5124" name="Line 4">
            <a:extLst>
              <a:ext uri="{FF2B5EF4-FFF2-40B4-BE49-F238E27FC236}">
                <a16:creationId xmlns:a16="http://schemas.microsoft.com/office/drawing/2014/main" id="{F63EF9C0-55DE-E144-B9E1-AC33F260C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276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85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5338A78-DE4A-4147-A9F0-755229DF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Median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A9B27A5-CA50-7042-AE8F-FA6A842791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Another name for 50th percentile.</a:t>
            </a:r>
          </a:p>
          <a:p>
            <a:pPr eaLnBrk="1" hangingPunct="1"/>
            <a:r>
              <a:rPr lang="en-US" altLang="en-US" dirty="0"/>
              <a:t>Appropriate for describing measurement data.</a:t>
            </a:r>
          </a:p>
          <a:p>
            <a:pPr eaLnBrk="1" hangingPunct="1"/>
            <a:r>
              <a:rPr lang="ja-JP" altLang="en-US"/>
              <a:t>“</a:t>
            </a:r>
            <a:r>
              <a:rPr lang="en-US" altLang="ja-JP" b="1" dirty="0"/>
              <a:t>Robust to outliers</a:t>
            </a:r>
            <a:r>
              <a:rPr lang="en-US" altLang="ja-JP" dirty="0"/>
              <a:t>,</a:t>
            </a:r>
            <a:r>
              <a:rPr lang="ja-JP" altLang="en-US"/>
              <a:t>”</a:t>
            </a:r>
            <a:r>
              <a:rPr lang="en-US" altLang="ja-JP" dirty="0"/>
              <a:t> that is, not affected much by unusual values.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9953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87EC-B51D-9547-B94F-1B25AFFA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19ED-DCEE-3249-B990-AA1921E90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most frequent value of the data</a:t>
            </a:r>
          </a:p>
          <a:p>
            <a:r>
              <a:rPr lang="ja-JP" altLang="en-US" sz="2800"/>
              <a:t>“</a:t>
            </a:r>
            <a:r>
              <a:rPr lang="en-US" altLang="ja-JP" sz="2800" b="1" dirty="0"/>
              <a:t>Robust to outliers</a:t>
            </a:r>
            <a:r>
              <a:rPr lang="en-US" altLang="ja-JP" sz="2800" dirty="0"/>
              <a:t>,</a:t>
            </a:r>
            <a:r>
              <a:rPr lang="ja-JP" altLang="en-US" sz="2800"/>
              <a:t>”</a:t>
            </a:r>
            <a:r>
              <a:rPr lang="en-US" altLang="ja-JP" sz="2800" dirty="0"/>
              <a:t> that is, not affected much by unusual values.</a:t>
            </a:r>
          </a:p>
          <a:p>
            <a:r>
              <a:rPr lang="en-US" altLang="en-US" sz="2800" dirty="0"/>
              <a:t>Depends on whether or not data have one (</a:t>
            </a:r>
            <a:r>
              <a:rPr lang="ja-JP" altLang="en-US" sz="2800"/>
              <a:t>“</a:t>
            </a:r>
            <a:r>
              <a:rPr lang="en-US" altLang="ja-JP" sz="2800" b="1" dirty="0"/>
              <a:t>unimodal</a:t>
            </a:r>
            <a:r>
              <a:rPr lang="ja-JP" altLang="en-US" sz="2800"/>
              <a:t>”</a:t>
            </a:r>
            <a:r>
              <a:rPr lang="en-US" altLang="ja-JP" sz="2800" dirty="0"/>
              <a:t>) or two (</a:t>
            </a:r>
            <a:r>
              <a:rPr lang="ja-JP" altLang="en-US" sz="2800"/>
              <a:t>“</a:t>
            </a:r>
            <a:r>
              <a:rPr lang="en-US" altLang="ja-JP" sz="2800" b="1" dirty="0"/>
              <a:t>bimodal</a:t>
            </a:r>
            <a:r>
              <a:rPr lang="ja-JP" altLang="en-US" sz="2800"/>
              <a:t>”</a:t>
            </a:r>
            <a:r>
              <a:rPr lang="en-US" altLang="ja-JP" sz="2800" dirty="0"/>
              <a:t>), or more (</a:t>
            </a:r>
            <a:r>
              <a:rPr lang="ja-JP" altLang="en-US" sz="2800"/>
              <a:t>“</a:t>
            </a:r>
            <a:r>
              <a:rPr lang="en-US" altLang="ja-JP" sz="2800" b="1" dirty="0"/>
              <a:t>multimodal</a:t>
            </a:r>
            <a:r>
              <a:rPr lang="ja-JP" altLang="en-US" sz="2800"/>
              <a:t>”</a:t>
            </a:r>
            <a:r>
              <a:rPr lang="en-US" altLang="ja-JP" sz="2800" dirty="0"/>
              <a:t>) modes.</a:t>
            </a:r>
            <a:endParaRPr lang="en-US" alt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310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Effect of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one or two observations are far from the rest of the data, these observations are called </a:t>
            </a:r>
            <a:r>
              <a:rPr lang="en-US" b="1" dirty="0"/>
              <a:t>outliers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For example:  add a score of 0</a:t>
            </a:r>
          </a:p>
          <a:p>
            <a:pPr marL="0" indent="0">
              <a:buNone/>
            </a:pPr>
            <a:r>
              <a:rPr lang="en-US" dirty="0"/>
              <a:t>93 92 88 90 0 </a:t>
            </a:r>
          </a:p>
          <a:p>
            <a:pPr lvl="1"/>
            <a:r>
              <a:rPr lang="en-US" dirty="0"/>
              <a:t>Mean change from 90.75 to 72.6</a:t>
            </a:r>
          </a:p>
          <a:p>
            <a:pPr lvl="1"/>
            <a:r>
              <a:rPr lang="en-US" dirty="0"/>
              <a:t>The median nearly unaffected ( 0 88 </a:t>
            </a:r>
            <a:r>
              <a:rPr lang="en-US" b="1" dirty="0">
                <a:solidFill>
                  <a:schemeClr val="accent2"/>
                </a:solidFill>
              </a:rPr>
              <a:t>90</a:t>
            </a:r>
            <a:r>
              <a:rPr lang="en-US" dirty="0"/>
              <a:t> 92 93)</a:t>
            </a:r>
          </a:p>
          <a:p>
            <a:pPr lvl="1"/>
            <a:r>
              <a:rPr lang="en-US" dirty="0"/>
              <a:t>Median less affected by outliers than mean</a:t>
            </a:r>
          </a:p>
        </p:txBody>
      </p:sp>
    </p:spTree>
    <p:extLst>
      <p:ext uri="{BB962C8B-B14F-4D97-AF65-F5344CB8AC3E}">
        <p14:creationId xmlns:p14="http://schemas.microsoft.com/office/powerpoint/2010/main" val="2156870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19200" y="5003800"/>
            <a:ext cx="6858000" cy="1244600"/>
            <a:chOff x="672" y="3152"/>
            <a:chExt cx="4320" cy="784"/>
          </a:xfrm>
        </p:grpSpPr>
        <p:sp>
          <p:nvSpPr>
            <p:cNvPr id="2064" name="Text Box 3"/>
            <p:cNvSpPr txBox="1">
              <a:spLocks noChangeArrowheads="1"/>
            </p:cNvSpPr>
            <p:nvPr/>
          </p:nvSpPr>
          <p:spPr bwMode="auto">
            <a:xfrm>
              <a:off x="2832" y="3152"/>
              <a:ext cx="2160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en-US" dirty="0"/>
                <a:t>The median, on the other hand, is only slightly pulled to the right by the outliers (from 3.4 to 3.6).</a:t>
              </a:r>
            </a:p>
          </p:txBody>
        </p:sp>
        <p:sp>
          <p:nvSpPr>
            <p:cNvPr id="2065" name="Text Box 4"/>
            <p:cNvSpPr txBox="1">
              <a:spLocks noChangeArrowheads="1"/>
            </p:cNvSpPr>
            <p:nvPr/>
          </p:nvSpPr>
          <p:spPr bwMode="auto">
            <a:xfrm>
              <a:off x="672" y="3152"/>
              <a:ext cx="2031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140000"/>
                </a:lnSpc>
              </a:pPr>
              <a:r>
                <a:rPr lang="en-US" dirty="0"/>
                <a:t>The mean is pulled to the right a lot by the outliers </a:t>
              </a:r>
              <a:br>
                <a:rPr lang="en-US" dirty="0"/>
              </a:br>
              <a:r>
                <a:rPr lang="en-US" dirty="0"/>
                <a:t>(from 3.4 to 4.2).</a:t>
              </a:r>
            </a:p>
          </p:txBody>
        </p:sp>
      </p:grp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286500" y="3713163"/>
            <a:ext cx="762000" cy="457200"/>
          </a:xfrm>
          <a:prstGeom prst="rect">
            <a:avLst/>
          </a:prstGeom>
          <a:solidFill>
            <a:srgbClr val="CC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 rot="16200000">
            <a:off x="300831" y="2807639"/>
            <a:ext cx="367506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/>
              <a:t>                      Percent of people dying                      </a:t>
            </a:r>
          </a:p>
          <a:p>
            <a:r>
              <a:rPr lang="en-US" sz="1200" dirty="0"/>
              <a:t>   </a:t>
            </a:r>
            <a:endParaRPr lang="en-US" sz="1200" u="sng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A9A7A8"/>
              </a:clrFrom>
              <a:clrTo>
                <a:srgbClr val="A9A7A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03470"/>
            <a:ext cx="480060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457200" y="304800"/>
            <a:ext cx="8153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400" b="1" dirty="0">
                <a:latin typeface="Garamond" charset="0"/>
              </a:rPr>
              <a:t>Mean and median of a distribution with outliers</a:t>
            </a:r>
          </a:p>
          <a:p>
            <a:r>
              <a:rPr lang="en-US" sz="2400" b="1" dirty="0">
                <a:latin typeface="Garamond" charset="0"/>
              </a:rPr>
              <a:t>Weekly commuting time to school 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073400" y="1563833"/>
            <a:ext cx="3886200" cy="1189037"/>
            <a:chOff x="1936" y="787"/>
            <a:chExt cx="2448" cy="749"/>
          </a:xfrm>
        </p:grpSpPr>
        <p:sp>
          <p:nvSpPr>
            <p:cNvPr id="2062" name="Line 10"/>
            <p:cNvSpPr>
              <a:spLocks noChangeShapeType="1"/>
            </p:cNvSpPr>
            <p:nvPr/>
          </p:nvSpPr>
          <p:spPr bwMode="auto">
            <a:xfrm>
              <a:off x="2546" y="84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1" name="Object 11"/>
            <p:cNvGraphicFramePr>
              <a:graphicFrameLocks noChangeAspect="1"/>
            </p:cNvGraphicFramePr>
            <p:nvPr/>
          </p:nvGraphicFramePr>
          <p:xfrm>
            <a:off x="1936" y="787"/>
            <a:ext cx="54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75" name="Equation" r:id="rId5" imgW="469800" imgH="215640" progId="Equation.3">
                    <p:embed/>
                  </p:oleObj>
                </mc:Choice>
                <mc:Fallback>
                  <p:oleObj name="Equation" r:id="rId5" imgW="469800" imgH="215640" progId="Equation.3">
                    <p:embed/>
                    <p:pic>
                      <p:nvPicPr>
                        <p:cNvPr id="205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6" y="787"/>
                          <a:ext cx="549" cy="25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3" name="Text Box 12"/>
            <p:cNvSpPr txBox="1">
              <a:spLocks noChangeArrowheads="1"/>
            </p:cNvSpPr>
            <p:nvPr/>
          </p:nvSpPr>
          <p:spPr bwMode="auto">
            <a:xfrm>
              <a:off x="3312" y="1344"/>
              <a:ext cx="10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/>
                <a:t>Without the outliers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4346575" y="1568595"/>
            <a:ext cx="2867025" cy="2916238"/>
            <a:chOff x="2738" y="790"/>
            <a:chExt cx="1806" cy="1837"/>
          </a:xfrm>
        </p:grpSpPr>
        <p:sp>
          <p:nvSpPr>
            <p:cNvPr id="2059" name="Oval 14"/>
            <p:cNvSpPr>
              <a:spLocks noChangeArrowheads="1"/>
            </p:cNvSpPr>
            <p:nvPr/>
          </p:nvSpPr>
          <p:spPr bwMode="auto">
            <a:xfrm>
              <a:off x="4112" y="2339"/>
              <a:ext cx="432" cy="288"/>
            </a:xfrm>
            <a:prstGeom prst="ellips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/>
            </a:p>
          </p:txBody>
        </p:sp>
        <p:sp>
          <p:nvSpPr>
            <p:cNvPr id="2060" name="Line 15"/>
            <p:cNvSpPr>
              <a:spLocks noChangeShapeType="1"/>
            </p:cNvSpPr>
            <p:nvPr/>
          </p:nvSpPr>
          <p:spPr bwMode="auto">
            <a:xfrm>
              <a:off x="2738" y="842"/>
              <a:ext cx="0" cy="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0" name="Object 16"/>
            <p:cNvGraphicFramePr>
              <a:graphicFrameLocks noChangeAspect="1"/>
            </p:cNvGraphicFramePr>
            <p:nvPr/>
          </p:nvGraphicFramePr>
          <p:xfrm>
            <a:off x="2810" y="790"/>
            <a:ext cx="55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76" name="Equation" r:id="rId7" imgW="469800" imgH="215640" progId="Equation.3">
                    <p:embed/>
                  </p:oleObj>
                </mc:Choice>
                <mc:Fallback>
                  <p:oleObj name="Equation" r:id="rId7" imgW="469800" imgH="215640" progId="Equation.3">
                    <p:embed/>
                    <p:pic>
                      <p:nvPicPr>
                        <p:cNvPr id="205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0" y="790"/>
                          <a:ext cx="550" cy="25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8575">
                          <a:solidFill>
                            <a:srgbClr val="CC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1" name="Text Box 17"/>
            <p:cNvSpPr txBox="1">
              <a:spLocks noChangeArrowheads="1"/>
            </p:cNvSpPr>
            <p:nvPr/>
          </p:nvSpPr>
          <p:spPr bwMode="auto">
            <a:xfrm>
              <a:off x="3312" y="1616"/>
              <a:ext cx="91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i="1" dirty="0">
                  <a:solidFill>
                    <a:srgbClr val="CC0000"/>
                  </a:solidFill>
                </a:rPr>
                <a:t>With the outliers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50762" y="2442358"/>
            <a:ext cx="1300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</a:t>
            </a:r>
          </a:p>
          <a:p>
            <a:r>
              <a:rPr lang="en-US" dirty="0"/>
              <a:t>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8381" y="1129743"/>
            <a:ext cx="462521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Commuting time to school: hours per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3148" y="4592931"/>
            <a:ext cx="28453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Hours per week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669816" y="2695204"/>
            <a:ext cx="28453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Percentage of students</a:t>
            </a:r>
          </a:p>
        </p:txBody>
      </p:sp>
    </p:spTree>
    <p:extLst>
      <p:ext uri="{BB962C8B-B14F-4D97-AF65-F5344CB8AC3E}">
        <p14:creationId xmlns:p14="http://schemas.microsoft.com/office/powerpoint/2010/main" val="2895146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Measures of variability, or dispersion, are the statistical companions to central tendency values. 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They indicate how much scores tend to differ from one another. 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Small measures of variability indicate that scores are generally quite similar. 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Larger measures of variability indicate more difference among the scores. How spread out the data are has an important influence on the way we analyze and understand them. 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323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56EA9-FE23-6546-B503-F83CC16D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90DD-84F5-1B41-8326-1619F0D2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variance </a:t>
            </a:r>
            <a:r>
              <a:rPr lang="en-US" dirty="0"/>
              <a:t>is the sum of the squared score-to-mean differences divided by n −1. </a:t>
            </a:r>
          </a:p>
          <a:p>
            <a:r>
              <a:rPr lang="en-US" dirty="0"/>
              <a:t>The </a:t>
            </a:r>
            <a:r>
              <a:rPr lang="en-US" b="1" dirty="0"/>
              <a:t>standard deviation </a:t>
            </a:r>
            <a:r>
              <a:rPr lang="en-US" dirty="0"/>
              <a:t>is its square root.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599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ChangeArrowheads="1"/>
          </p:cNvSpPr>
          <p:nvPr/>
        </p:nvSpPr>
        <p:spPr bwMode="auto">
          <a:xfrm>
            <a:off x="381000" y="9906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</a:pPr>
            <a:r>
              <a:rPr lang="en-US" sz="2000" dirty="0"/>
              <a:t>The standard deviation </a:t>
            </a:r>
            <a:r>
              <a:rPr lang="ja-JP" altLang="en-US" sz="2000" dirty="0"/>
              <a:t>“</a:t>
            </a:r>
            <a:r>
              <a:rPr lang="en-US" sz="2000" i="1" dirty="0"/>
              <a:t>s</a:t>
            </a:r>
            <a:r>
              <a:rPr lang="ja-JP" altLang="en-US" sz="2000" dirty="0"/>
              <a:t>”</a:t>
            </a:r>
            <a:r>
              <a:rPr lang="en-US" sz="2000" dirty="0"/>
              <a:t> is used to describe the variation around the </a:t>
            </a:r>
            <a:r>
              <a:rPr lang="en-US" sz="2000" u="sng" dirty="0"/>
              <a:t>mean</a:t>
            </a:r>
            <a:r>
              <a:rPr lang="en-US" sz="2000" dirty="0"/>
              <a:t>. Like the mean, it is not resistant to outliers.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547810" y="1995714"/>
            <a:ext cx="4153838" cy="1839682"/>
            <a:chOff x="2888" y="1183"/>
            <a:chExt cx="2643" cy="1129"/>
          </a:xfrm>
        </p:grpSpPr>
        <p:graphicFrame>
          <p:nvGraphicFramePr>
            <p:cNvPr id="4100" name="Object 4"/>
            <p:cNvGraphicFramePr>
              <a:graphicFrameLocks noChangeAspect="1"/>
            </p:cNvGraphicFramePr>
            <p:nvPr/>
          </p:nvGraphicFramePr>
          <p:xfrm>
            <a:off x="3365" y="1585"/>
            <a:ext cx="2166" cy="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1" name="Equation" r:id="rId4" imgW="1968500" imgH="660400" progId="Equation.3">
                    <p:embed/>
                  </p:oleObj>
                </mc:Choice>
                <mc:Fallback>
                  <p:oleObj name="Equation" r:id="rId4" imgW="1968500" imgH="660400" progId="Equation.3">
                    <p:embed/>
                    <p:pic>
                      <p:nvPicPr>
                        <p:cNvPr id="410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5" y="1585"/>
                          <a:ext cx="2166" cy="72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4" name="Text Box 5"/>
            <p:cNvSpPr txBox="1">
              <a:spLocks noChangeArrowheads="1"/>
            </p:cNvSpPr>
            <p:nvPr/>
          </p:nvSpPr>
          <p:spPr bwMode="auto">
            <a:xfrm>
              <a:off x="2888" y="1183"/>
              <a:ext cx="24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/>
                <a:t>1. First calculate the </a:t>
              </a:r>
              <a:r>
                <a:rPr lang="en-US" sz="2000" b="1">
                  <a:solidFill>
                    <a:srgbClr val="333399"/>
                  </a:solidFill>
                </a:rPr>
                <a:t>variance </a:t>
              </a:r>
              <a:r>
                <a:rPr lang="en-US" sz="2000" b="1" i="1">
                  <a:solidFill>
                    <a:srgbClr val="333399"/>
                  </a:solidFill>
                </a:rPr>
                <a:t>s</a:t>
              </a:r>
              <a:r>
                <a:rPr lang="en-US" sz="2000" b="1" baseline="30000">
                  <a:solidFill>
                    <a:srgbClr val="333399"/>
                  </a:solidFill>
                </a:rPr>
                <a:t>2</a:t>
              </a:r>
              <a:r>
                <a:rPr lang="en-US" sz="2000" b="1"/>
                <a:t>.</a:t>
              </a:r>
              <a:endParaRPr lang="en-US" sz="2000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748213" y="4038600"/>
            <a:ext cx="4395787" cy="2271713"/>
            <a:chOff x="2895" y="2410"/>
            <a:chExt cx="2769" cy="1431"/>
          </a:xfrm>
        </p:grpSpPr>
        <p:graphicFrame>
          <p:nvGraphicFramePr>
            <p:cNvPr id="4099" name="Object 3"/>
            <p:cNvGraphicFramePr>
              <a:graphicFrameLocks noChangeAspect="1"/>
            </p:cNvGraphicFramePr>
            <p:nvPr/>
          </p:nvGraphicFramePr>
          <p:xfrm>
            <a:off x="3203" y="3044"/>
            <a:ext cx="2277" cy="7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22" name="Equation" r:id="rId6" imgW="2070100" imgH="723900" progId="Equation.3">
                    <p:embed/>
                  </p:oleObj>
                </mc:Choice>
                <mc:Fallback>
                  <p:oleObj name="Equation" r:id="rId6" imgW="2070100" imgH="723900" progId="Equation.3">
                    <p:embed/>
                    <p:pic>
                      <p:nvPicPr>
                        <p:cNvPr id="409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" y="3044"/>
                          <a:ext cx="2277" cy="79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3" name="Text Box 8"/>
            <p:cNvSpPr txBox="1">
              <a:spLocks noChangeArrowheads="1"/>
            </p:cNvSpPr>
            <p:nvPr/>
          </p:nvSpPr>
          <p:spPr bwMode="auto">
            <a:xfrm>
              <a:off x="2895" y="2410"/>
              <a:ext cx="2769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sz="2000"/>
                <a:t>2. Then take the square root to get the </a:t>
              </a:r>
              <a:r>
                <a:rPr lang="en-US" sz="2000" b="1">
                  <a:solidFill>
                    <a:srgbClr val="333399"/>
                  </a:solidFill>
                </a:rPr>
                <a:t>standard deviation </a:t>
              </a:r>
              <a:r>
                <a:rPr lang="en-US" sz="2000" b="1" i="1">
                  <a:solidFill>
                    <a:srgbClr val="333399"/>
                  </a:solidFill>
                </a:rPr>
                <a:t>s</a:t>
              </a:r>
              <a:r>
                <a:rPr lang="en-US" sz="2000" b="1"/>
                <a:t>.</a:t>
              </a:r>
            </a:p>
          </p:txBody>
        </p:sp>
      </p:grpSp>
      <p:sp>
        <p:nvSpPr>
          <p:cNvPr id="4104" name="Rectangle 9"/>
          <p:cNvSpPr>
            <a:spLocks noChangeArrowheads="1"/>
          </p:cNvSpPr>
          <p:nvPr/>
        </p:nvSpPr>
        <p:spPr bwMode="auto">
          <a:xfrm>
            <a:off x="381000" y="228600"/>
            <a:ext cx="8610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sz="3600">
                <a:solidFill>
                  <a:srgbClr val="CC0000"/>
                </a:solidFill>
                <a:latin typeface="Garamond" charset="0"/>
              </a:rPr>
              <a:t>Measure of spread: the </a:t>
            </a:r>
            <a:r>
              <a:rPr lang="en-US" sz="3600" b="1">
                <a:solidFill>
                  <a:srgbClr val="CC0000"/>
                </a:solidFill>
                <a:latin typeface="Garamond" charset="0"/>
              </a:rPr>
              <a:t>standard deviation</a:t>
            </a:r>
          </a:p>
        </p:txBody>
      </p:sp>
      <p:pic>
        <p:nvPicPr>
          <p:cNvPr id="4105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" r="958" b="4041"/>
          <a:stretch>
            <a:fillRect/>
          </a:stretch>
        </p:blipFill>
        <p:spPr bwMode="auto">
          <a:xfrm>
            <a:off x="241300" y="1905000"/>
            <a:ext cx="41021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6" name="Line 11"/>
          <p:cNvSpPr>
            <a:spLocks noChangeShapeType="1"/>
          </p:cNvSpPr>
          <p:nvPr/>
        </p:nvSpPr>
        <p:spPr bwMode="auto">
          <a:xfrm>
            <a:off x="3822700" y="3022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3746500" y="302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3746500" y="5461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3746500" y="4318000"/>
            <a:ext cx="152400" cy="76200"/>
          </a:xfrm>
          <a:prstGeom prst="rect">
            <a:avLst/>
          </a:prstGeom>
          <a:solidFill>
            <a:srgbClr val="ED181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4110" name="Text Box 15"/>
          <p:cNvSpPr txBox="1">
            <a:spLocks noChangeArrowheads="1"/>
          </p:cNvSpPr>
          <p:nvPr/>
        </p:nvSpPr>
        <p:spPr bwMode="auto">
          <a:xfrm>
            <a:off x="3441700" y="5459413"/>
            <a:ext cx="99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/>
              <a:t>Mean</a:t>
            </a:r>
          </a:p>
          <a:p>
            <a:r>
              <a:rPr lang="en-US"/>
              <a:t>± 1 s.d.</a:t>
            </a:r>
            <a:endParaRPr lang="en-US" sz="240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289300" y="4178300"/>
          <a:ext cx="3381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3" name="Equation" r:id="rId9" imgW="139680" imgH="164880" progId="Equation.3">
                  <p:embed/>
                </p:oleObj>
              </mc:Choice>
              <mc:Fallback>
                <p:oleObj name="Equation" r:id="rId9" imgW="139680" imgH="164880" progId="Equation.3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178300"/>
                        <a:ext cx="338138" cy="400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1" name="Line 17"/>
          <p:cNvSpPr>
            <a:spLocks noChangeShapeType="1"/>
          </p:cNvSpPr>
          <p:nvPr/>
        </p:nvSpPr>
        <p:spPr bwMode="auto">
          <a:xfrm>
            <a:off x="304800" y="5054600"/>
            <a:ext cx="0" cy="17526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2" name="Line 18"/>
          <p:cNvSpPr>
            <a:spLocks noChangeShapeType="1"/>
          </p:cNvSpPr>
          <p:nvPr/>
        </p:nvSpPr>
        <p:spPr bwMode="auto">
          <a:xfrm flipH="1">
            <a:off x="292100" y="1905000"/>
            <a:ext cx="12700" cy="19304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43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7A01-62C9-4A42-B866-A0172522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Variance</a:t>
            </a:r>
          </a:p>
        </p:txBody>
      </p:sp>
      <p:sp>
        <p:nvSpPr>
          <p:cNvPr id="46083" name="TextBox 5">
            <a:extLst>
              <a:ext uri="{FF2B5EF4-FFF2-40B4-BE49-F238E27FC236}">
                <a16:creationId xmlns:a16="http://schemas.microsoft.com/office/drawing/2014/main" id="{D69A7011-2F3E-054B-B5E8-CB49549A0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133600"/>
            <a:ext cx="373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Variance from Population</a:t>
            </a:r>
          </a:p>
        </p:txBody>
      </p:sp>
      <p:sp>
        <p:nvSpPr>
          <p:cNvPr id="46084" name="TextBox 7">
            <a:extLst>
              <a:ext uri="{FF2B5EF4-FFF2-40B4-BE49-F238E27FC236}">
                <a16:creationId xmlns:a16="http://schemas.microsoft.com/office/drawing/2014/main" id="{4DDD4E03-1DA7-BB43-B76D-4C53A3564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181600"/>
            <a:ext cx="373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Variance from the sample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100319-118C-FE4A-BC23-D15A168A77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9248" t="21887" b="24237"/>
          <a:stretch/>
        </p:blipFill>
        <p:spPr>
          <a:xfrm>
            <a:off x="212535" y="1417638"/>
            <a:ext cx="4664265" cy="4133850"/>
          </a:xfrm>
        </p:spPr>
      </p:pic>
    </p:spTree>
    <p:extLst>
      <p:ext uri="{BB962C8B-B14F-4D97-AF65-F5344CB8AC3E}">
        <p14:creationId xmlns:p14="http://schemas.microsoft.com/office/powerpoint/2010/main" val="240444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E359-8571-3F40-A0F3-348C895A2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s</a:t>
            </a:r>
            <a:r>
              <a:rPr lang="en-US" i="1" baseline="30000" dirty="0"/>
              <a:t>2</a:t>
            </a:r>
            <a:r>
              <a:rPr lang="en-US" i="1" dirty="0"/>
              <a:t> </a:t>
            </a:r>
            <a:r>
              <a:rPr lang="en-US" dirty="0"/>
              <a:t>= the variance </a:t>
            </a:r>
          </a:p>
          <a:p>
            <a:pPr marL="0" indent="0">
              <a:buNone/>
            </a:pPr>
            <a:r>
              <a:rPr lang="en-US" dirty="0"/>
              <a:t>SD = standard deviation of the sample</a:t>
            </a:r>
          </a:p>
          <a:p>
            <a:pPr marL="0" indent="0">
              <a:buNone/>
            </a:pPr>
            <a:r>
              <a:rPr lang="en-US" dirty="0"/>
              <a:t>𝜎</a:t>
            </a:r>
            <a:r>
              <a:rPr lang="en-US" baseline="30000" dirty="0"/>
              <a:t>2</a:t>
            </a:r>
            <a:r>
              <a:rPr lang="en-US" dirty="0"/>
              <a:t> = standard deviation of the population</a:t>
            </a:r>
            <a:br>
              <a:rPr lang="el-GR" dirty="0"/>
            </a:br>
            <a:r>
              <a:rPr lang="el-GR" i="1" dirty="0"/>
              <a:t>Σ </a:t>
            </a:r>
            <a:r>
              <a:rPr lang="el-GR" dirty="0"/>
              <a:t>= </a:t>
            </a:r>
            <a:r>
              <a:rPr lang="en-US" dirty="0"/>
              <a:t>the sum of 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= each score from the 1st to the “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,” or last score </a:t>
            </a:r>
          </a:p>
          <a:p>
            <a:pPr marL="0" indent="0">
              <a:buNone/>
            </a:pPr>
            <a:r>
              <a:rPr lang="en-US" i="1" dirty="0"/>
              <a:t>n </a:t>
            </a:r>
            <a:r>
              <a:rPr lang="en-US" dirty="0"/>
              <a:t>= the number of scores in the sample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i="1" dirty="0"/>
              <a:t>n </a:t>
            </a:r>
            <a:r>
              <a:rPr lang="en-US" dirty="0"/>
              <a:t>- 1 = df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C1CD3B-CD8C-9540-9D6F-EB0D196B58E5}"/>
              </a:ext>
            </a:extLst>
          </p:cNvPr>
          <p:cNvSpPr txBox="1">
            <a:spLocks/>
          </p:cNvSpPr>
          <p:nvPr/>
        </p:nvSpPr>
        <p:spPr bwMode="auto"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kern="0"/>
              <a:t>Calculating the Variance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35611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600" dirty="0"/>
              <a:t>Determine the mean for the group, </a:t>
            </a:r>
            <a:r>
              <a:rPr lang="en-US" sz="2600" i="1" dirty="0"/>
              <a:t>M</a:t>
            </a:r>
            <a:endParaRPr lang="en-US" sz="2600" dirty="0"/>
          </a:p>
          <a:p>
            <a:pPr lvl="0"/>
            <a:r>
              <a:rPr lang="en-US" sz="2600" dirty="0"/>
              <a:t>Determine the difference between each individual score and the mean, from the first number (</a:t>
            </a:r>
            <a:r>
              <a:rPr lang="en-US" sz="2600" i="1" dirty="0"/>
              <a:t>x)</a:t>
            </a:r>
            <a:r>
              <a:rPr lang="en-US" sz="2600" dirty="0"/>
              <a:t>, to the last or “</a:t>
            </a:r>
            <a:r>
              <a:rPr lang="en-US" sz="2600" i="1" dirty="0" err="1"/>
              <a:t>i</a:t>
            </a:r>
            <a:r>
              <a:rPr lang="en-US" sz="2600" i="1" baseline="30000" dirty="0" err="1"/>
              <a:t>th</a:t>
            </a:r>
            <a:r>
              <a:rPr lang="en-US" sz="2600" dirty="0"/>
              <a:t>” number, </a:t>
            </a:r>
            <a:r>
              <a:rPr lang="en-US" sz="2600" i="1" dirty="0"/>
              <a:t>x</a:t>
            </a:r>
            <a:r>
              <a:rPr lang="en-US" sz="2600" i="1" baseline="-25000" dirty="0"/>
              <a:t>i</a:t>
            </a:r>
            <a:endParaRPr lang="en-US" sz="2600" dirty="0"/>
          </a:p>
          <a:p>
            <a:pPr lvl="0"/>
            <a:r>
              <a:rPr lang="en-US" sz="2600" dirty="0"/>
              <a:t>Square the difference between each individual score and the mean of the sample (this ensures no negative values)</a:t>
            </a:r>
          </a:p>
          <a:p>
            <a:pPr lvl="0"/>
            <a:r>
              <a:rPr lang="en-US" sz="2600" dirty="0"/>
              <a:t>Sum the squared differences</a:t>
            </a:r>
          </a:p>
          <a:p>
            <a:pPr lvl="0"/>
            <a:r>
              <a:rPr lang="en-US" sz="2600" dirty="0"/>
              <a:t>Divide by the number of observations -1: </a:t>
            </a:r>
            <a:r>
              <a:rPr lang="en-US" sz="2600" i="1" dirty="0"/>
              <a:t>n-1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377093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/>
              <a:t>Degrees of Freedom 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N</a:t>
            </a:r>
            <a:r>
              <a:rPr lang="en-US" dirty="0"/>
              <a:t> represents the number of an entire population</a:t>
            </a:r>
          </a:p>
          <a:p>
            <a:r>
              <a:rPr lang="en-US" i="1" dirty="0"/>
              <a:t>n</a:t>
            </a:r>
            <a:r>
              <a:rPr lang="en-US" dirty="0"/>
              <a:t> represents the number in a sample</a:t>
            </a:r>
          </a:p>
          <a:p>
            <a:endParaRPr lang="en-US" i="1" dirty="0"/>
          </a:p>
          <a:p>
            <a:r>
              <a:rPr lang="en-US" dirty="0"/>
              <a:t>Samples usually </a:t>
            </a:r>
            <a:r>
              <a:rPr lang="en-US" i="1" dirty="0"/>
              <a:t>underestimate </a:t>
            </a:r>
            <a:r>
              <a:rPr lang="en-US" dirty="0"/>
              <a:t>the amount of variation in a population</a:t>
            </a:r>
          </a:p>
          <a:p>
            <a:r>
              <a:rPr lang="en-US" dirty="0"/>
              <a:t>Dividing by n-1 instead of n </a:t>
            </a:r>
            <a:r>
              <a:rPr lang="en-US" b="1" dirty="0"/>
              <a:t>for the unbiased sample variance</a:t>
            </a:r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54367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3638" y="379851"/>
            <a:ext cx="8580831" cy="1156244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ea typeface="+mj-ea"/>
              </a:rPr>
              <a:t>Standard Deviation (SD):  Test score Example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799" y="1536095"/>
            <a:ext cx="5277151" cy="5017105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alibri" charset="0"/>
              </a:rPr>
              <a:t>4 scores: 90, 92, 88, 93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Calculate the mean first  (M = 90.75)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Make this table:</a:t>
            </a:r>
          </a:p>
          <a:p>
            <a:pPr marL="274320" lvl="1" indent="0" eaLnBrk="1" hangingPunct="1">
              <a:buNone/>
            </a:pPr>
            <a:endParaRPr lang="en-US" sz="2000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marL="274320" lvl="1" indent="0" eaLnBrk="1" hangingPunct="1">
              <a:buNone/>
            </a:pPr>
            <a:endParaRPr lang="en-US" sz="2000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191000" y="4114800"/>
          <a:ext cx="9144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5" name="Equation" r:id="rId4" imgW="431640" imgH="228600" progId="Equation.3">
                  <p:embed/>
                </p:oleObj>
              </mc:Choice>
              <mc:Fallback>
                <p:oleObj name="Equation" r:id="rId4" imgW="431640" imgH="228600" progId="Equation.3">
                  <p:embed/>
                  <p:pic>
                    <p:nvPicPr>
                      <p:cNvPr id="51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114800"/>
                        <a:ext cx="914400" cy="484188"/>
                      </a:xfrm>
                      <a:prstGeom prst="rect">
                        <a:avLst/>
                      </a:prstGeom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18202" y="3076782"/>
          <a:ext cx="5121988" cy="29484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188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 dirty="0">
                          <a:effectLst/>
                        </a:rPr>
                        <a:t>Mean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 dirty="0">
                          <a:effectLst/>
                        </a:rPr>
                        <a:t>X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 dirty="0">
                          <a:effectLst/>
                        </a:rPr>
                        <a:t>Xi - M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 dirty="0">
                          <a:effectLst/>
                        </a:rPr>
                        <a:t>(Xi-M)^2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4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90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-0.75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0.5625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4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92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1.25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1.5625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4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88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-2.75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7.5625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4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2.25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5.0625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188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Sum of square differences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44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err="1">
                          <a:effectLst/>
                        </a:rPr>
                        <a:t>Divid</a:t>
                      </a:r>
                      <a:r>
                        <a:rPr lang="en-US" sz="1800" u="none" strike="noStrike" dirty="0">
                          <a:effectLst/>
                        </a:rPr>
                        <a:t> by n-1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24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Take the square root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endParaRPr lang="en-US" sz="1800" b="1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40190" y="5386899"/>
            <a:ext cx="1215614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0190" y="5734730"/>
            <a:ext cx="3234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Deviation (SD)</a:t>
            </a:r>
          </a:p>
        </p:txBody>
      </p:sp>
    </p:spTree>
    <p:extLst>
      <p:ext uri="{BB962C8B-B14F-4D97-AF65-F5344CB8AC3E}">
        <p14:creationId xmlns:p14="http://schemas.microsoft.com/office/powerpoint/2010/main" val="3871255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3638" y="379851"/>
            <a:ext cx="8580831" cy="1156244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ea typeface="+mj-ea"/>
              </a:rPr>
              <a:t>Standard Deviation (SD):  Test score Example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799" y="1536095"/>
            <a:ext cx="5277151" cy="5017105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alibri" charset="0"/>
              </a:rPr>
              <a:t>4 scores: 90, 92, 88, 93</a:t>
            </a:r>
          </a:p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Calculate the mean first  (M = 90.75)</a:t>
            </a:r>
          </a:p>
          <a:p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Make this table:</a:t>
            </a:r>
          </a:p>
          <a:p>
            <a:pPr marL="274320" lvl="1" indent="0" eaLnBrk="1" hangingPunct="1">
              <a:buNone/>
            </a:pPr>
            <a:endParaRPr lang="en-US" sz="2000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marL="274320" lvl="1" indent="0" eaLnBrk="1" hangingPunct="1">
              <a:buNone/>
            </a:pPr>
            <a:endParaRPr lang="en-US" sz="2000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191000" y="4114800"/>
          <a:ext cx="9144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89" name="Equation" r:id="rId4" imgW="431640" imgH="228600" progId="Equation.3">
                  <p:embed/>
                </p:oleObj>
              </mc:Choice>
              <mc:Fallback>
                <p:oleObj name="Equation" r:id="rId4" imgW="431640" imgH="228600" progId="Equation.3">
                  <p:embed/>
                  <p:pic>
                    <p:nvPicPr>
                      <p:cNvPr id="51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114800"/>
                        <a:ext cx="914400" cy="484188"/>
                      </a:xfrm>
                      <a:prstGeom prst="rect">
                        <a:avLst/>
                      </a:prstGeom>
                      <a:effectLst/>
                      <a:extLs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18202" y="3076782"/>
          <a:ext cx="5121988" cy="2969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188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 dirty="0">
                          <a:effectLst/>
                        </a:rPr>
                        <a:t>Mean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 dirty="0">
                          <a:effectLst/>
                        </a:rPr>
                        <a:t>X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 dirty="0">
                          <a:effectLst/>
                        </a:rPr>
                        <a:t>Xi - M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 dirty="0">
                          <a:effectLst/>
                        </a:rPr>
                        <a:t>(Xi-M)^2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4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90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-0.75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0.5625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4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92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1.25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1.5625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4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88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-2.75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7.5625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4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90.75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93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2.25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5.0625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188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Sum of square differences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14.75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44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Divid by n-1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4.9167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44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Take the square root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sng" strike="noStrike" dirty="0">
                          <a:effectLst/>
                        </a:rPr>
                        <a:t>2.2174</a:t>
                      </a:r>
                      <a:endParaRPr lang="en-US" sz="1800" b="1" i="0" u="sng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40190" y="5386899"/>
            <a:ext cx="1215614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0190" y="5734730"/>
            <a:ext cx="3234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Deviation (SD)</a:t>
            </a:r>
          </a:p>
        </p:txBody>
      </p:sp>
    </p:spTree>
    <p:extLst>
      <p:ext uri="{BB962C8B-B14F-4D97-AF65-F5344CB8AC3E}">
        <p14:creationId xmlns:p14="http://schemas.microsoft.com/office/powerpoint/2010/main" val="3350405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25DA-5BB2-1447-A861-9C34FE75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5B364-31EB-8C4B-9C65-EFA73B5AE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973831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2DE57-7F43-DE4A-A9C7-45BC661A4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5DBF8-67E8-764F-937E-F971EBB19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dirty="0"/>
              <a:t>As the district's human resources specialist, you have been asked to analyze data on the ages of special education teachers in the district. For a sample of 10 you find them to be as follows: 24, 25, 28, 28, 31, 36, 39, 40, 53, 54.  If a new teacher with age 30 is added, what happens to the standard deviation?</a:t>
            </a:r>
          </a:p>
          <a:p>
            <a:pPr lvl="0"/>
            <a:r>
              <a:rPr lang="en-US" sz="2200" dirty="0"/>
              <a:t>Increase</a:t>
            </a:r>
          </a:p>
          <a:p>
            <a:pPr lvl="0"/>
            <a:r>
              <a:rPr lang="en-US" sz="2200" b="1" u="sng" dirty="0"/>
              <a:t>Decrease</a:t>
            </a:r>
          </a:p>
          <a:p>
            <a:pPr lvl="0"/>
            <a:r>
              <a:rPr lang="en-US" sz="2200" dirty="0"/>
              <a:t>No Change</a:t>
            </a:r>
          </a:p>
          <a:p>
            <a:pPr lvl="0"/>
            <a:r>
              <a:rPr lang="en-US" sz="2200" dirty="0"/>
              <a:t>Unknow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88006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4C51-8278-564B-894A-09DCCBC3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5F303-B9EC-0E42-9282-9B7A6234A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dirty="0"/>
              <a:t>A group of students have completed a history test and answered the following number of test items correctly: 23, 27, 31, 33, 34, 34, 35, 37, 40, 45.  If a 35 were added to the data in item 11, what would happen to the value of the stand and deviation?</a:t>
            </a:r>
          </a:p>
          <a:p>
            <a:r>
              <a:rPr lang="en-US" sz="2200" dirty="0"/>
              <a:t>A. Increase</a:t>
            </a:r>
          </a:p>
          <a:p>
            <a:r>
              <a:rPr lang="en-US" sz="2200" b="1" u="sng" dirty="0"/>
              <a:t>B. Decrease</a:t>
            </a:r>
          </a:p>
          <a:p>
            <a:r>
              <a:rPr lang="en-US" sz="2200" dirty="0"/>
              <a:t>C. No Change</a:t>
            </a:r>
          </a:p>
          <a:p>
            <a:r>
              <a:rPr lang="en-US" sz="2200" dirty="0"/>
              <a:t>D. Unknow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25620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variance is the square root of the standard deviation.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u="sng" dirty="0"/>
              <a:t>False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E81529-C6C4-E34E-87B5-E0D2C420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14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standard deviation gives one a sense of the average amount that individual observations vary around the mean.</a:t>
            </a:r>
          </a:p>
          <a:p>
            <a:pPr marL="457200" indent="-457200">
              <a:buFont typeface="+mj-lt"/>
              <a:buAutoNum type="alphaUcPeriod"/>
            </a:pPr>
            <a:r>
              <a:rPr lang="en-US" b="1" u="sng" dirty="0"/>
              <a:t>True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/>
              <a:t>False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A02805-95AF-4E45-99FF-281A4EED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5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B30AC-9A89-CC4B-AED3-E194C1469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C0000"/>
                </a:solidFill>
                <a:latin typeface="Garamond" charset="0"/>
              </a:rPr>
              <a:t>Five-number summary</a:t>
            </a:r>
          </a:p>
          <a:p>
            <a:r>
              <a:rPr lang="en-US" dirty="0">
                <a:solidFill>
                  <a:srgbClr val="CC0000"/>
                </a:solidFill>
                <a:latin typeface="Garamond" charset="0"/>
              </a:rPr>
              <a:t>Distribution of Mean and median with outliers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0E842C-53B5-E14D-BFD6-54F66F20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71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"/>
          <p:cNvSpPr txBox="1">
            <a:spLocks noChangeArrowheads="1"/>
          </p:cNvSpPr>
          <p:nvPr/>
        </p:nvSpPr>
        <p:spPr bwMode="auto">
          <a:xfrm>
            <a:off x="1828801" y="3684588"/>
            <a:ext cx="2364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i="1" dirty="0" err="1"/>
              <a:t>M</a:t>
            </a:r>
            <a:r>
              <a:rPr lang="en-US" sz="2000" i="1" baseline="-25000" dirty="0" err="1"/>
              <a:t>dn</a:t>
            </a:r>
            <a:r>
              <a:rPr lang="en-US" sz="2000" dirty="0"/>
              <a:t> = median = 3.4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6842128" y="257969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lang="en-US" sz="2400"/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1828800" y="2008188"/>
            <a:ext cx="21788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i="1" dirty="0"/>
              <a:t>Q</a:t>
            </a:r>
            <a:r>
              <a:rPr lang="en-US" sz="2000" baseline="-25000" dirty="0"/>
              <a:t>3</a:t>
            </a:r>
            <a:r>
              <a:rPr lang="en-US" sz="2000" dirty="0"/>
              <a:t>= third quartile </a:t>
            </a:r>
          </a:p>
          <a:p>
            <a:r>
              <a:rPr lang="en-US" sz="2000" dirty="0"/>
              <a:t>     = 4.35</a:t>
            </a: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1828804" y="5132388"/>
            <a:ext cx="20922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i="1"/>
              <a:t>Q</a:t>
            </a:r>
            <a:r>
              <a:rPr lang="en-US" sz="2000" baseline="-25000"/>
              <a:t>1</a:t>
            </a:r>
            <a:r>
              <a:rPr lang="en-US" sz="2000"/>
              <a:t>= first quartile </a:t>
            </a:r>
          </a:p>
          <a:p>
            <a:r>
              <a:rPr lang="en-US" sz="2000"/>
              <a:t>     = 2.2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828801" y="849316"/>
            <a:ext cx="24593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 dirty="0"/>
              <a:t>Largest = max = 6.1</a:t>
            </a: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828801" y="6351589"/>
            <a:ext cx="25186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/>
              <a:t>Smallest = min = 0.6</a:t>
            </a:r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822331"/>
              </p:ext>
            </p:extLst>
          </p:nvPr>
        </p:nvGraphicFramePr>
        <p:xfrm>
          <a:off x="5219704" y="990602"/>
          <a:ext cx="3395663" cy="481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83" name="Worksheet" r:id="rId4" imgW="2857500" imgH="4051300" progId="Excel.Sheet.8">
                  <p:embed/>
                </p:oleObj>
              </mc:Choice>
              <mc:Fallback>
                <p:oleObj name="Worksheet" r:id="rId4" imgW="2857500" imgH="4051300" progId="Excel.Sheet.8">
                  <p:embed/>
                  <p:pic>
                    <p:nvPicPr>
                      <p:cNvPr id="307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4" y="990602"/>
                        <a:ext cx="3395663" cy="481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10"/>
          <p:cNvSpPr>
            <a:spLocks noChangeArrowheads="1"/>
          </p:cNvSpPr>
          <p:nvPr/>
        </p:nvSpPr>
        <p:spPr bwMode="auto">
          <a:xfrm>
            <a:off x="7048500" y="3048000"/>
            <a:ext cx="304800" cy="533400"/>
          </a:xfrm>
          <a:prstGeom prst="rect">
            <a:avLst/>
          </a:prstGeom>
          <a:solidFill>
            <a:srgbClr val="FFAF1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082" name="Rectangle 11"/>
          <p:cNvSpPr>
            <a:spLocks noChangeArrowheads="1"/>
          </p:cNvSpPr>
          <p:nvPr/>
        </p:nvSpPr>
        <p:spPr bwMode="auto">
          <a:xfrm>
            <a:off x="7048500" y="3581400"/>
            <a:ext cx="304800" cy="533400"/>
          </a:xfrm>
          <a:prstGeom prst="rect">
            <a:avLst/>
          </a:prstGeom>
          <a:solidFill>
            <a:srgbClr val="FFAF1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3083" name="Text Box 12"/>
          <p:cNvSpPr txBox="1">
            <a:spLocks noChangeArrowheads="1"/>
          </p:cNvSpPr>
          <p:nvPr/>
        </p:nvSpPr>
        <p:spPr bwMode="auto">
          <a:xfrm>
            <a:off x="5738916" y="5876928"/>
            <a:ext cx="2736647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99"/>
                </a:solidFill>
              </a:rPr>
              <a:t>Five-number summary:</a:t>
            </a: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333399"/>
                </a:solidFill>
              </a:rPr>
              <a:t>min Q</a:t>
            </a:r>
            <a:r>
              <a:rPr lang="en-US" b="1" baseline="-25000" dirty="0">
                <a:solidFill>
                  <a:srgbClr val="333399"/>
                </a:solidFill>
              </a:rPr>
              <a:t>1</a:t>
            </a:r>
            <a:r>
              <a:rPr lang="en-US" b="1" dirty="0">
                <a:solidFill>
                  <a:srgbClr val="333399"/>
                </a:solidFill>
              </a:rPr>
              <a:t> </a:t>
            </a:r>
            <a:r>
              <a:rPr lang="en-US" b="1" i="1" dirty="0" err="1">
                <a:solidFill>
                  <a:srgbClr val="333399"/>
                </a:solidFill>
              </a:rPr>
              <a:t>M</a:t>
            </a:r>
            <a:r>
              <a:rPr lang="en-US" b="1" i="1" baseline="-25000" dirty="0" err="1">
                <a:solidFill>
                  <a:srgbClr val="333399"/>
                </a:solidFill>
              </a:rPr>
              <a:t>dn</a:t>
            </a:r>
            <a:r>
              <a:rPr lang="en-US" b="1" dirty="0">
                <a:solidFill>
                  <a:srgbClr val="333399"/>
                </a:solidFill>
              </a:rPr>
              <a:t> Q</a:t>
            </a:r>
            <a:r>
              <a:rPr lang="en-US" b="1" baseline="-25000" dirty="0">
                <a:solidFill>
                  <a:srgbClr val="333399"/>
                </a:solidFill>
              </a:rPr>
              <a:t>3</a:t>
            </a:r>
            <a:r>
              <a:rPr lang="en-US" b="1" dirty="0">
                <a:solidFill>
                  <a:srgbClr val="333399"/>
                </a:solidFill>
              </a:rPr>
              <a:t> max</a:t>
            </a:r>
          </a:p>
        </p:txBody>
      </p:sp>
      <p:sp>
        <p:nvSpPr>
          <p:cNvPr id="3084" name="Rectangle 13"/>
          <p:cNvSpPr>
            <a:spLocks noChangeArrowheads="1"/>
          </p:cNvSpPr>
          <p:nvPr/>
        </p:nvSpPr>
        <p:spPr bwMode="auto">
          <a:xfrm>
            <a:off x="266700" y="378161"/>
            <a:ext cx="861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sz="4000" dirty="0">
                <a:solidFill>
                  <a:srgbClr val="CC0000"/>
                </a:solidFill>
                <a:latin typeface="Garamond" charset="0"/>
              </a:rPr>
              <a:t>Five-number summary and boxplot</a:t>
            </a:r>
          </a:p>
        </p:txBody>
      </p:sp>
      <p:sp>
        <p:nvSpPr>
          <p:cNvPr id="3085" name="Line 14"/>
          <p:cNvSpPr>
            <a:spLocks noChangeShapeType="1"/>
          </p:cNvSpPr>
          <p:nvPr/>
        </p:nvSpPr>
        <p:spPr bwMode="auto">
          <a:xfrm>
            <a:off x="4229100" y="1143000"/>
            <a:ext cx="2819400" cy="106680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" name="Line 15"/>
          <p:cNvSpPr>
            <a:spLocks noChangeShapeType="1"/>
          </p:cNvSpPr>
          <p:nvPr/>
        </p:nvSpPr>
        <p:spPr bwMode="auto">
          <a:xfrm>
            <a:off x="3848100" y="2209800"/>
            <a:ext cx="3200400" cy="83820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Line 16"/>
          <p:cNvSpPr>
            <a:spLocks noChangeShapeType="1"/>
          </p:cNvSpPr>
          <p:nvPr/>
        </p:nvSpPr>
        <p:spPr bwMode="auto">
          <a:xfrm flipV="1">
            <a:off x="3924300" y="3581400"/>
            <a:ext cx="3048000" cy="30480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" name="Line 17"/>
          <p:cNvSpPr>
            <a:spLocks noChangeShapeType="1"/>
          </p:cNvSpPr>
          <p:nvPr/>
        </p:nvSpPr>
        <p:spPr bwMode="auto">
          <a:xfrm flipV="1">
            <a:off x="3924300" y="4114800"/>
            <a:ext cx="3124200" cy="121920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" name="Line 18"/>
          <p:cNvSpPr>
            <a:spLocks noChangeShapeType="1"/>
          </p:cNvSpPr>
          <p:nvPr/>
        </p:nvSpPr>
        <p:spPr bwMode="auto">
          <a:xfrm flipV="1">
            <a:off x="4152900" y="4876800"/>
            <a:ext cx="2895600" cy="175260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0" name="Text Box 19"/>
          <p:cNvSpPr txBox="1">
            <a:spLocks noChangeArrowheads="1"/>
          </p:cNvSpPr>
          <p:nvPr/>
        </p:nvSpPr>
        <p:spPr bwMode="auto">
          <a:xfrm>
            <a:off x="6464999" y="1219203"/>
            <a:ext cx="1300356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b="1">
                <a:solidFill>
                  <a:srgbClr val="333399"/>
                </a:solidFill>
              </a:rPr>
              <a:t>BOXPLOT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4545017" y="3222113"/>
            <a:ext cx="1571625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Hours per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9093" y="5317094"/>
            <a:ext cx="1571625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Commuting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F6BA60-02C7-EE4C-AB09-F821219A9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5094" y="2076450"/>
            <a:ext cx="6731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69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5BD0-3CB8-1041-89FF-9FD991C4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=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D9B69-3B9E-7242-A919-368A3D0FF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  <a:p>
            <a:pPr lvl="1"/>
            <a:r>
              <a:rPr lang="en-US" dirty="0"/>
              <a:t>The distance from the largest to the smallest number.</a:t>
            </a:r>
          </a:p>
          <a:p>
            <a:r>
              <a:rPr lang="en-US" dirty="0"/>
              <a:t>Example: test scores: 70 83 83 83 90 90 94 95 95 </a:t>
            </a:r>
          </a:p>
          <a:p>
            <a:pPr lvl="1"/>
            <a:r>
              <a:rPr lang="en-US" dirty="0"/>
              <a:t>The range is calculated by subtracting the smallest value (70) from the largest value (95):  </a:t>
            </a:r>
            <a:r>
              <a:rPr lang="en-US" i="1" dirty="0"/>
              <a:t>R </a:t>
            </a:r>
            <a:r>
              <a:rPr lang="en-US" dirty="0"/>
              <a:t>= 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09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54000" y="506588"/>
            <a:ext cx="8128000" cy="5032147"/>
          </a:xfrm>
          <a:prstGeom prst="rect">
            <a:avLst/>
          </a:prstGeom>
          <a:solidFill>
            <a:srgbClr val="EAEDCB"/>
          </a:solidFill>
          <a:ln w="10000">
            <a:solidFill>
              <a:srgbClr val="D2DA7A"/>
            </a:solidFill>
            <a:miter lim="800000"/>
            <a:headEnd/>
            <a:tailEnd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endParaRPr lang="en-US" sz="2200" b="1" dirty="0">
              <a:solidFill>
                <a:srgbClr val="000000"/>
              </a:solidFill>
            </a:endParaRPr>
          </a:p>
          <a:p>
            <a:pPr eaLnBrk="1" hangingPunct="1">
              <a:spcAft>
                <a:spcPts val="600"/>
              </a:spcAft>
            </a:pPr>
            <a:r>
              <a:rPr lang="en-US" sz="2200" dirty="0">
                <a:solidFill>
                  <a:srgbClr val="000000"/>
                </a:solidFill>
              </a:rPr>
              <a:t>To calculate the </a:t>
            </a:r>
            <a:r>
              <a:rPr lang="en-US" sz="2200" b="1" dirty="0">
                <a:solidFill>
                  <a:srgbClr val="800000"/>
                </a:solidFill>
              </a:rPr>
              <a:t>quartiles</a:t>
            </a:r>
            <a:r>
              <a:rPr lang="en-US" sz="2200" b="1" dirty="0">
                <a:solidFill>
                  <a:srgbClr val="990000"/>
                </a:solidFill>
              </a:rPr>
              <a:t>:</a:t>
            </a:r>
          </a:p>
          <a:p>
            <a:pPr eaLnBrk="1" hangingPunct="1">
              <a:spcAft>
                <a:spcPts val="600"/>
              </a:spcAft>
              <a:buClr>
                <a:schemeClr val="accent1"/>
              </a:buClr>
              <a:buFont typeface="Wingdings" charset="0"/>
              <a:buChar char="§"/>
            </a:pPr>
            <a:r>
              <a:rPr lang="en-US" sz="2200" dirty="0">
                <a:solidFill>
                  <a:srgbClr val="000000"/>
                </a:solidFill>
              </a:rPr>
              <a:t>Sort the observations and locate the </a:t>
            </a:r>
            <a:r>
              <a:rPr lang="en-US" sz="2200" b="1" dirty="0">
                <a:solidFill>
                  <a:srgbClr val="800000"/>
                </a:solidFill>
              </a:rPr>
              <a:t>median </a:t>
            </a:r>
            <a:r>
              <a:rPr lang="en-US" sz="2200" b="1" i="1" dirty="0">
                <a:solidFill>
                  <a:srgbClr val="800000"/>
                </a:solidFill>
              </a:rPr>
              <a:t>M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</a:p>
          <a:p>
            <a:pPr eaLnBrk="1" hangingPunct="1">
              <a:spcAft>
                <a:spcPts val="600"/>
              </a:spcAft>
              <a:buClr>
                <a:schemeClr val="accent1"/>
              </a:buClr>
              <a:buFont typeface="Wingdings" charset="0"/>
              <a:buChar char="§"/>
            </a:pPr>
            <a:r>
              <a:rPr lang="en-US" sz="2200" dirty="0">
                <a:solidFill>
                  <a:srgbClr val="000000"/>
                </a:solidFill>
              </a:rPr>
              <a:t>The </a:t>
            </a:r>
            <a:r>
              <a:rPr lang="en-US" sz="2200" b="1" dirty="0">
                <a:solidFill>
                  <a:srgbClr val="800000"/>
                </a:solidFill>
              </a:rPr>
              <a:t>first quartile </a:t>
            </a:r>
            <a:r>
              <a:rPr lang="en-US" sz="2200" b="1" i="1" dirty="0">
                <a:solidFill>
                  <a:srgbClr val="800000"/>
                </a:solidFill>
              </a:rPr>
              <a:t>Q</a:t>
            </a:r>
            <a:r>
              <a:rPr lang="en-US" sz="2200" b="1" baseline="-25000" dirty="0">
                <a:solidFill>
                  <a:srgbClr val="800000"/>
                </a:solidFill>
              </a:rPr>
              <a:t>1</a:t>
            </a:r>
            <a:r>
              <a:rPr lang="en-US" sz="2200" i="1" dirty="0">
                <a:solidFill>
                  <a:srgbClr val="80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is the median of the observations located to the left of the median.</a:t>
            </a:r>
          </a:p>
          <a:p>
            <a:pPr lvl="1" eaLnBrk="1" hangingPunct="1">
              <a:spcAft>
                <a:spcPts val="600"/>
              </a:spcAft>
              <a:buClr>
                <a:schemeClr val="accent1"/>
              </a:buClr>
              <a:buFont typeface="Wingdings" charset="0"/>
              <a:buChar char="§"/>
            </a:pPr>
            <a:r>
              <a:rPr lang="en-US" sz="2200" dirty="0">
                <a:solidFill>
                  <a:srgbClr val="000000"/>
                </a:solidFill>
              </a:rPr>
              <a:t>Also p25</a:t>
            </a:r>
          </a:p>
          <a:p>
            <a:pPr eaLnBrk="1" hangingPunct="1">
              <a:spcAft>
                <a:spcPts val="600"/>
              </a:spcAft>
              <a:buClr>
                <a:schemeClr val="accent1"/>
              </a:buClr>
              <a:buFont typeface="Wingdings" charset="0"/>
              <a:buChar char="§"/>
            </a:pPr>
            <a:r>
              <a:rPr lang="en-US" sz="2200" dirty="0"/>
              <a:t>The </a:t>
            </a:r>
            <a:r>
              <a:rPr lang="en-US" sz="2200" b="1" dirty="0">
                <a:solidFill>
                  <a:srgbClr val="800000"/>
                </a:solidFill>
              </a:rPr>
              <a:t>2nd quartile (Q2) </a:t>
            </a:r>
            <a:r>
              <a:rPr lang="en-US" sz="2200" dirty="0"/>
              <a:t>is the point below which 50% of the scores occur (</a:t>
            </a:r>
            <a:r>
              <a:rPr lang="en-US" sz="2200" i="1" dirty="0"/>
              <a:t>P</a:t>
            </a:r>
            <a:r>
              <a:rPr lang="en-US" sz="2200" i="1" baseline="-25000" dirty="0"/>
              <a:t>50</a:t>
            </a:r>
            <a:r>
              <a:rPr lang="en-US" sz="2200" dirty="0"/>
              <a:t>). </a:t>
            </a:r>
            <a:r>
              <a:rPr lang="en-US" sz="2200" dirty="0">
                <a:solidFill>
                  <a:schemeClr val="accent2"/>
                </a:solidFill>
              </a:rPr>
              <a:t>It is also the median</a:t>
            </a:r>
            <a:r>
              <a:rPr lang="en-US" sz="2200" dirty="0"/>
              <a:t>.</a:t>
            </a:r>
            <a:endParaRPr lang="en-US" sz="2200" dirty="0">
              <a:solidFill>
                <a:srgbClr val="000000"/>
              </a:solidFill>
            </a:endParaRPr>
          </a:p>
          <a:p>
            <a:pPr eaLnBrk="1" hangingPunct="1">
              <a:spcAft>
                <a:spcPts val="600"/>
              </a:spcAft>
              <a:buClr>
                <a:schemeClr val="accent1"/>
              </a:buClr>
              <a:buFont typeface="Wingdings" charset="0"/>
              <a:buChar char="§"/>
            </a:pPr>
            <a:r>
              <a:rPr lang="en-US" sz="2200" dirty="0">
                <a:solidFill>
                  <a:srgbClr val="000000"/>
                </a:solidFill>
              </a:rPr>
              <a:t>The </a:t>
            </a:r>
            <a:r>
              <a:rPr lang="en-US" sz="2200" b="1" dirty="0">
                <a:solidFill>
                  <a:srgbClr val="800000"/>
                </a:solidFill>
              </a:rPr>
              <a:t>third quartile </a:t>
            </a:r>
            <a:r>
              <a:rPr lang="en-US" sz="2200" b="1" i="1" dirty="0">
                <a:solidFill>
                  <a:srgbClr val="800000"/>
                </a:solidFill>
              </a:rPr>
              <a:t>Q</a:t>
            </a:r>
            <a:r>
              <a:rPr lang="en-US" sz="2200" b="1" baseline="-25000" dirty="0">
                <a:solidFill>
                  <a:srgbClr val="800000"/>
                </a:solidFill>
              </a:rPr>
              <a:t>3</a:t>
            </a:r>
            <a:r>
              <a:rPr lang="en-US" sz="2200" b="1" i="1" dirty="0">
                <a:solidFill>
                  <a:srgbClr val="80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is the median of the observations located to the right of the median</a:t>
            </a:r>
          </a:p>
          <a:p>
            <a:pPr lvl="1" eaLnBrk="1" hangingPunct="1">
              <a:spcAft>
                <a:spcPts val="600"/>
              </a:spcAft>
              <a:buClr>
                <a:schemeClr val="accent1"/>
              </a:buClr>
              <a:buFont typeface="Wingdings" charset="0"/>
              <a:buChar char="§"/>
            </a:pPr>
            <a:r>
              <a:rPr lang="en-US" sz="2200" dirty="0">
                <a:solidFill>
                  <a:srgbClr val="000000"/>
                </a:solidFill>
              </a:rPr>
              <a:t>Also p75 </a:t>
            </a:r>
          </a:p>
          <a:p>
            <a:pPr eaLnBrk="1" hangingPunct="1">
              <a:spcAft>
                <a:spcPts val="600"/>
              </a:spcAft>
              <a:buClr>
                <a:schemeClr val="accent1"/>
              </a:buClr>
              <a:buFont typeface="Wingdings" charset="0"/>
              <a:buChar char="§"/>
            </a:pPr>
            <a:r>
              <a:rPr lang="en-US" sz="2200" dirty="0">
                <a:solidFill>
                  <a:srgbClr val="000000"/>
                </a:solidFill>
              </a:rPr>
              <a:t>The </a:t>
            </a:r>
            <a:r>
              <a:rPr lang="en-US" sz="2200" b="1" dirty="0">
                <a:solidFill>
                  <a:srgbClr val="800000"/>
                </a:solidFill>
              </a:rPr>
              <a:t>interquartile range (</a:t>
            </a:r>
            <a:r>
              <a:rPr lang="en-US" sz="2200" b="1" i="1" dirty="0">
                <a:solidFill>
                  <a:srgbClr val="800000"/>
                </a:solidFill>
              </a:rPr>
              <a:t>IQR</a:t>
            </a:r>
            <a:r>
              <a:rPr lang="en-US" sz="2200" b="1" dirty="0">
                <a:solidFill>
                  <a:srgbClr val="800000"/>
                </a:solidFill>
              </a:rPr>
              <a:t>)</a:t>
            </a:r>
            <a:r>
              <a:rPr lang="en-US" sz="2200" dirty="0">
                <a:solidFill>
                  <a:srgbClr val="800000"/>
                </a:solidFill>
              </a:rPr>
              <a:t> </a:t>
            </a:r>
            <a:r>
              <a:rPr lang="en-US" sz="2200" dirty="0">
                <a:solidFill>
                  <a:srgbClr val="000000"/>
                </a:solidFill>
              </a:rPr>
              <a:t>is defined as: </a:t>
            </a:r>
            <a:r>
              <a:rPr lang="en-US" sz="2200" b="1" i="1" dirty="0">
                <a:solidFill>
                  <a:srgbClr val="000000"/>
                </a:solidFill>
              </a:rPr>
              <a:t>IQR = Q</a:t>
            </a:r>
            <a:r>
              <a:rPr lang="en-US" sz="2200" b="1" baseline="-25000" dirty="0">
                <a:solidFill>
                  <a:srgbClr val="000000"/>
                </a:solidFill>
              </a:rPr>
              <a:t>3</a:t>
            </a:r>
            <a:r>
              <a:rPr lang="en-US" sz="2200" b="1" i="1" dirty="0">
                <a:solidFill>
                  <a:srgbClr val="000000"/>
                </a:solidFill>
              </a:rPr>
              <a:t> – Q</a:t>
            </a:r>
            <a:r>
              <a:rPr lang="en-US" sz="2200" b="1" baseline="-25000" dirty="0">
                <a:solidFill>
                  <a:srgbClr val="000000"/>
                </a:solidFill>
              </a:rPr>
              <a:t>1</a:t>
            </a:r>
            <a:r>
              <a:rPr lang="en-US" sz="2200" b="1" dirty="0">
                <a:solidFill>
                  <a:srgbClr val="000000"/>
                </a:solidFill>
              </a:rPr>
              <a:t>. Semi-quartile Range = IQR/2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61974" y="343075"/>
            <a:ext cx="7439025" cy="400110"/>
          </a:xfrm>
          <a:prstGeom prst="rect">
            <a:avLst/>
          </a:prstGeom>
          <a:solidFill>
            <a:srgbClr val="C9CCD8"/>
          </a:solidFill>
          <a:ln w="10000">
            <a:solidFill>
              <a:schemeClr val="accent1"/>
            </a:solidFill>
            <a:miter lim="800000"/>
            <a:headEnd/>
            <a:tailEnd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How to Calculate the Quartiles and the Interquartile Range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0762" y="5503333"/>
            <a:ext cx="7232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10 ages: </a:t>
            </a:r>
          </a:p>
          <a:p>
            <a:r>
              <a:rPr lang="en-US" dirty="0"/>
              <a:t>25     33      35      38      48      55      55      55      56      64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3326190" y="6059711"/>
            <a:ext cx="0" cy="4475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785257" y="6059711"/>
            <a:ext cx="0" cy="4475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961466" y="6059711"/>
            <a:ext cx="0" cy="44752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36800" y="6476573"/>
            <a:ext cx="2062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M</a:t>
            </a:r>
            <a:r>
              <a:rPr lang="en-US" sz="1400" baseline="-25000" dirty="0" err="1"/>
              <a:t>dn</a:t>
            </a:r>
            <a:r>
              <a:rPr lang="en-US" sz="1400" dirty="0"/>
              <a:t>=(48+55)/2=</a:t>
            </a:r>
            <a:r>
              <a:rPr lang="en-US" sz="1400" b="1" dirty="0"/>
              <a:t>51.5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1196" y="6444307"/>
            <a:ext cx="44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66" y="6507238"/>
            <a:ext cx="44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9143" y="6337905"/>
            <a:ext cx="199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IQR= (55-35)= 20</a:t>
            </a:r>
          </a:p>
        </p:txBody>
      </p:sp>
    </p:spTree>
    <p:extLst>
      <p:ext uri="{BB962C8B-B14F-4D97-AF65-F5344CB8AC3E}">
        <p14:creationId xmlns:p14="http://schemas.microsoft.com/office/powerpoint/2010/main" val="1363148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DED5-AD91-8B48-913A-FAEAA834F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4800"/>
            <a:ext cx="8458200" cy="58213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science students’ test score are the following:</a:t>
            </a:r>
          </a:p>
          <a:p>
            <a:pPr marL="0" indent="0">
              <a:buNone/>
            </a:pPr>
            <a:r>
              <a:rPr lang="en-US" sz="2000" dirty="0"/>
              <a:t>13, 14, 8, 16, 17, 13, 16, 14, 20, 14, 12, 15, 17, 15, 17, 15, 14, 15, 13, 16, 14, 15</a:t>
            </a:r>
          </a:p>
          <a:p>
            <a:pPr marL="0" indent="0">
              <a:buNone/>
            </a:pPr>
            <a:r>
              <a:rPr lang="en-US" sz="2000" dirty="0"/>
              <a:t>If the scores are arranged from smallest to largest and repeated score are stacked vertically, the results is a frequency distribution.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There are five scores in each quartile (20/4)</a:t>
            </a:r>
          </a:p>
          <a:p>
            <a:pPr marL="0" indent="0">
              <a:buNone/>
            </a:pPr>
            <a:r>
              <a:rPr lang="en-US" sz="2000" dirty="0"/>
              <a:t>The 5</a:t>
            </a:r>
            <a:r>
              <a:rPr lang="en-US" sz="2000" baseline="30000" dirty="0"/>
              <a:t>th</a:t>
            </a:r>
            <a:r>
              <a:rPr lang="en-US" sz="2000" dirty="0"/>
              <a:t> score is a 13, and 6</a:t>
            </a:r>
            <a:r>
              <a:rPr lang="en-US" sz="2000" baseline="30000" dirty="0"/>
              <a:t>th</a:t>
            </a:r>
            <a:r>
              <a:rPr lang="en-US" sz="2000" dirty="0"/>
              <a:t> a 14, </a:t>
            </a:r>
            <a:r>
              <a:rPr lang="en-US" sz="2000" i="1" dirty="0"/>
              <a:t>Q</a:t>
            </a:r>
            <a:r>
              <a:rPr lang="en-US" sz="2000" i="1" baseline="-25000" dirty="0"/>
              <a:t>1</a:t>
            </a:r>
            <a:r>
              <a:rPr lang="en-US" sz="2000" dirty="0"/>
              <a:t> occurs at 13.5 = [(13+14)/2].</a:t>
            </a:r>
          </a:p>
          <a:p>
            <a:pPr marL="0" indent="0">
              <a:buNone/>
            </a:pPr>
            <a:r>
              <a:rPr lang="en-US" sz="2000" dirty="0"/>
              <a:t>The 10</a:t>
            </a:r>
            <a:r>
              <a:rPr lang="en-US" sz="2000" baseline="30000" dirty="0"/>
              <a:t>th</a:t>
            </a:r>
            <a:r>
              <a:rPr lang="en-US" sz="2000" dirty="0"/>
              <a:t> score is a 14 and 11</a:t>
            </a:r>
            <a:r>
              <a:rPr lang="en-US" sz="2000" baseline="30000" dirty="0"/>
              <a:t>th </a:t>
            </a:r>
            <a:r>
              <a:rPr lang="en-US" sz="2000" dirty="0"/>
              <a:t>a 15. </a:t>
            </a:r>
            <a:r>
              <a:rPr lang="en-US" sz="2000" i="1" dirty="0"/>
              <a:t>Q</a:t>
            </a:r>
            <a:r>
              <a:rPr lang="en-US" sz="2000" i="1" baseline="-25000" dirty="0"/>
              <a:t>2</a:t>
            </a:r>
            <a:r>
              <a:rPr lang="en-US" sz="2000" dirty="0"/>
              <a:t> (</a:t>
            </a:r>
            <a:r>
              <a:rPr lang="en-US" sz="2000" i="1" dirty="0" err="1"/>
              <a:t>M</a:t>
            </a:r>
            <a:r>
              <a:rPr lang="en-US" sz="2000" i="1" baseline="-25000" dirty="0" err="1"/>
              <a:t>dn</a:t>
            </a:r>
            <a:r>
              <a:rPr lang="en-US" sz="2000" dirty="0"/>
              <a:t>) occurs at 14.5.</a:t>
            </a:r>
          </a:p>
          <a:p>
            <a:pPr marL="0" indent="0">
              <a:buNone/>
            </a:pPr>
            <a:r>
              <a:rPr lang="en-US" sz="2000" dirty="0"/>
              <a:t>The 15</a:t>
            </a:r>
            <a:r>
              <a:rPr lang="en-US" sz="2000" baseline="30000" dirty="0"/>
              <a:t>th</a:t>
            </a:r>
            <a:r>
              <a:rPr lang="en-US" sz="2000" dirty="0"/>
              <a:t> score is a 16 and the 16</a:t>
            </a:r>
            <a:r>
              <a:rPr lang="en-US" sz="2000" baseline="30000" dirty="0"/>
              <a:t>th</a:t>
            </a:r>
            <a:r>
              <a:rPr lang="en-US" sz="2000" dirty="0"/>
              <a:t> score is also 16, so </a:t>
            </a:r>
            <a:r>
              <a:rPr lang="en-US" sz="2000" i="1" dirty="0"/>
              <a:t>Q</a:t>
            </a:r>
            <a:r>
              <a:rPr lang="en-US" sz="2000" i="1" baseline="-25000" dirty="0"/>
              <a:t>3</a:t>
            </a:r>
            <a:r>
              <a:rPr lang="en-US" sz="2000" dirty="0"/>
              <a:t> occurs at 16.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interquartile range is 2.5, that interval from 13.5 to 16. </a:t>
            </a:r>
          </a:p>
          <a:p>
            <a:pPr marL="0" indent="0">
              <a:buNone/>
            </a:pPr>
            <a:r>
              <a:rPr lang="en-US" sz="2000" dirty="0"/>
              <a:t>The semi-interquartile range is 1.25 [(16-13.5)/2].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22D7ED3A-8404-5F45-9D7E-76CA5146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981200"/>
            <a:ext cx="3521364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09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 idx="4294967295"/>
          </p:nvPr>
        </p:nvSpPr>
        <p:spPr>
          <a:xfrm>
            <a:off x="457200" y="357693"/>
            <a:ext cx="7696200" cy="606425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Distribution of a Variable</a:t>
            </a:r>
          </a:p>
        </p:txBody>
      </p:sp>
      <p:sp>
        <p:nvSpPr>
          <p:cNvPr id="33796" name="Rectangle 3"/>
          <p:cNvSpPr txBox="1">
            <a:spLocks noChangeArrowheads="1"/>
          </p:cNvSpPr>
          <p:nvPr/>
        </p:nvSpPr>
        <p:spPr bwMode="auto">
          <a:xfrm>
            <a:off x="381000" y="1371600"/>
            <a:ext cx="8534400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914400" eaLnBrk="1" hangingPunct="1">
              <a:spcBef>
                <a:spcPct val="40000"/>
              </a:spcBef>
              <a:buClr>
                <a:schemeClr val="accent2"/>
              </a:buClr>
              <a:buSzPct val="60000"/>
            </a:pPr>
            <a:r>
              <a:rPr lang="en-US" sz="2000">
                <a:cs typeface="Arial" charset="0"/>
              </a:rPr>
              <a:t>To examine a single variable, we graphically display its </a:t>
            </a:r>
            <a:r>
              <a:rPr lang="en-US" sz="2000" b="1">
                <a:solidFill>
                  <a:srgbClr val="800000"/>
                </a:solidFill>
                <a:cs typeface="Arial" charset="0"/>
              </a:rPr>
              <a:t>distribution</a:t>
            </a:r>
            <a:r>
              <a:rPr lang="en-US" sz="2000" b="1">
                <a:solidFill>
                  <a:srgbClr val="751D25"/>
                </a:solidFill>
                <a:cs typeface="Arial" charset="0"/>
              </a:rPr>
              <a:t>.</a:t>
            </a:r>
            <a:endParaRPr lang="en-US" sz="2000">
              <a:solidFill>
                <a:srgbClr val="751D25"/>
              </a:solidFill>
              <a:cs typeface="Arial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81000" y="2174875"/>
            <a:ext cx="8534400" cy="2173288"/>
          </a:xfrm>
          <a:prstGeom prst="rect">
            <a:avLst/>
          </a:prstGeom>
          <a:solidFill>
            <a:srgbClr val="EAEDCB"/>
          </a:solidFill>
          <a:ln w="10000">
            <a:solidFill>
              <a:srgbClr val="D2DA7A"/>
            </a:solidFill>
            <a:miter lim="800000"/>
            <a:headEnd/>
            <a:tailEnd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anchor="ctr"/>
          <a:lstStyle>
            <a:lvl1pPr marL="319088" indent="-319088">
              <a:defRPr>
                <a:solidFill>
                  <a:schemeClr val="tx1"/>
                </a:solidFill>
                <a:latin typeface="Tw Cen MT" charset="0"/>
                <a:ea typeface="ＭＳ Ｐゴシック" charset="0"/>
                <a:cs typeface="ＭＳ Ｐゴシック" charset="0"/>
              </a:defRPr>
            </a:lvl1pPr>
            <a:lvl2pPr marL="639763" indent="-273050">
              <a:defRPr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3pPr>
            <a:lvl4pPr>
              <a:defRPr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4pPr>
            <a:lvl5pPr>
              <a:defRPr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charset="0"/>
                <a:ea typeface="ＭＳ Ｐゴシック" charset="0"/>
              </a:defRPr>
            </a:lvl9pPr>
          </a:lstStyle>
          <a:p>
            <a:pPr marL="395288" lvl="1" defTabSz="914400">
              <a:spcBef>
                <a:spcPct val="40000"/>
              </a:spcBef>
              <a:buClr>
                <a:schemeClr val="accent1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Arial"/>
                <a:cs typeface="Arial"/>
              </a:rPr>
              <a:t>The distribution of a variable tells us what values it takes and how often it takes these values.</a:t>
            </a:r>
          </a:p>
          <a:p>
            <a:pPr marL="400050" lvl="1" defTabSz="914400">
              <a:spcBef>
                <a:spcPct val="40000"/>
              </a:spcBef>
              <a:buClr>
                <a:schemeClr val="accent1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Arial"/>
                <a:cs typeface="Arial"/>
              </a:rPr>
              <a:t>Distributions can be displayed using a variety of graphical tools. The proper choice of graph depends on the nature of the variable.</a:t>
            </a:r>
          </a:p>
        </p:txBody>
      </p:sp>
    </p:spTree>
    <p:extLst>
      <p:ext uri="{BB962C8B-B14F-4D97-AF65-F5344CB8AC3E}">
        <p14:creationId xmlns:p14="http://schemas.microsoft.com/office/powerpoint/2010/main" val="1683356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Frequency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619" y="1600200"/>
            <a:ext cx="8587619" cy="4876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40000"/>
              </a:lnSpc>
            </a:pPr>
            <a:r>
              <a:rPr lang="en-US" dirty="0"/>
              <a:t>A frequency distribution displays the different values of data and the frequency with which each value occurs </a:t>
            </a:r>
          </a:p>
          <a:p>
            <a:pPr lvl="1">
              <a:lnSpc>
                <a:spcPct val="140000"/>
              </a:lnSpc>
            </a:pPr>
            <a:r>
              <a:rPr lang="en-US" dirty="0"/>
              <a:t>Should be ordered</a:t>
            </a:r>
          </a:p>
          <a:p>
            <a:pPr>
              <a:lnSpc>
                <a:spcPct val="140000"/>
              </a:lnSpc>
            </a:pPr>
            <a:r>
              <a:rPr lang="en-US" dirty="0"/>
              <a:t>Can be used for qualitative (categorical) and quantitative data</a:t>
            </a:r>
          </a:p>
          <a:p>
            <a:pPr>
              <a:lnSpc>
                <a:spcPct val="140000"/>
              </a:lnSpc>
            </a:pPr>
            <a:r>
              <a:rPr lang="en-US" dirty="0"/>
              <a:t>A grouped frequency distribution includes </a:t>
            </a:r>
            <a:r>
              <a:rPr lang="en-US" b="1" dirty="0"/>
              <a:t>class intervals </a:t>
            </a:r>
            <a:r>
              <a:rPr lang="en-US" dirty="0"/>
              <a:t>in which data are grouped together.</a:t>
            </a:r>
          </a:p>
          <a:p>
            <a:pPr lvl="1">
              <a:lnSpc>
                <a:spcPct val="140000"/>
              </a:lnSpc>
            </a:pPr>
            <a:r>
              <a:rPr lang="en-US" dirty="0"/>
              <a:t>A grouped frequency distribution is used rather than listing out individual data.</a:t>
            </a:r>
          </a:p>
          <a:p>
            <a:pPr>
              <a:lnSpc>
                <a:spcPct val="14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758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8751" y="533400"/>
            <a:ext cx="8810624" cy="9906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</a:rPr>
              <a:t>Frequency distribution table: </a:t>
            </a:r>
            <a:br>
              <a:rPr lang="en-US" sz="3200" dirty="0">
                <a:ea typeface="+mj-ea"/>
              </a:rPr>
            </a:br>
            <a:r>
              <a:rPr lang="en-US" sz="3200" dirty="0">
                <a:ea typeface="+mj-ea"/>
              </a:rPr>
              <a:t>Education Among Young Adults (age: 24-34) </a:t>
            </a:r>
          </a:p>
        </p:txBody>
      </p:sp>
      <p:graphicFrame>
        <p:nvGraphicFramePr>
          <p:cNvPr id="190557" name="Group 93"/>
          <p:cNvGraphicFramePr>
            <a:graphicFrameLocks noGrp="1"/>
          </p:cNvGraphicFramePr>
          <p:nvPr>
            <p:ph idx="1"/>
          </p:nvPr>
        </p:nvGraphicFramePr>
        <p:xfrm>
          <a:off x="457200" y="2012950"/>
          <a:ext cx="8229600" cy="4472306"/>
        </p:xfrm>
        <a:graphic>
          <a:graphicData uri="http://schemas.openxmlformats.org/drawingml/2006/table">
            <a:tbl>
              <a:tblPr/>
              <a:tblGrid>
                <a:gridCol w="395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Education</a:t>
                      </a:r>
                    </a:p>
                  </a:txBody>
                  <a:tcPr marL="96819" marR="968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Count (millions)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Percent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Less than High School</a:t>
                      </a:r>
                    </a:p>
                  </a:txBody>
                  <a:tcPr marL="96819" marR="968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4.7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12.3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High School Graduate</a:t>
                      </a:r>
                    </a:p>
                  </a:txBody>
                  <a:tcPr marL="96819" marR="968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11.8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30.7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Some College</a:t>
                      </a:r>
                    </a:p>
                  </a:txBody>
                  <a:tcPr marL="96819" marR="968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10.9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28.3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Bachelor</a:t>
                      </a:r>
                      <a:r>
                        <a:rPr kumimoji="0" lang="ja-JP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’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s Degree</a:t>
                      </a:r>
                    </a:p>
                  </a:txBody>
                  <a:tcPr marL="96819" marR="968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8.5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22.1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Advanced Degree</a:t>
                      </a:r>
                    </a:p>
                  </a:txBody>
                  <a:tcPr marL="96819" marR="968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2.5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6.6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Total</a:t>
                      </a:r>
                    </a:p>
                  </a:txBody>
                  <a:tcPr marL="96819" marR="968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38.1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</a:rPr>
                        <a:t>100</a:t>
                      </a:r>
                    </a:p>
                  </a:txBody>
                  <a:tcPr marL="96819" marR="96819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249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1125"/>
            <a:ext cx="8229600" cy="990600"/>
          </a:xfrm>
        </p:spPr>
        <p:txBody>
          <a:bodyPr/>
          <a:lstStyle/>
          <a:p>
            <a:r>
              <a:rPr lang="en-US" dirty="0"/>
              <a:t>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1875"/>
            <a:ext cx="8369299" cy="5651500"/>
          </a:xfrm>
        </p:spPr>
        <p:txBody>
          <a:bodyPr>
            <a:normAutofit/>
          </a:bodyPr>
          <a:lstStyle/>
          <a:p>
            <a:r>
              <a:rPr lang="en-US" sz="2800" dirty="0"/>
              <a:t>Conventions of a grouped frequency distribution:</a:t>
            </a:r>
          </a:p>
          <a:p>
            <a:pPr lvl="1"/>
            <a:r>
              <a:rPr lang="en-US" sz="2400" dirty="0"/>
              <a:t>The groups must have equal ranges.</a:t>
            </a:r>
          </a:p>
          <a:p>
            <a:pPr lvl="1"/>
            <a:r>
              <a:rPr lang="en-US" sz="2400" dirty="0"/>
              <a:t>A particular score or observation can fit into only one group. </a:t>
            </a:r>
          </a:p>
          <a:p>
            <a:pPr marL="0" indent="0">
              <a:buNone/>
            </a:pPr>
            <a:r>
              <a:rPr lang="en-US" sz="2800" dirty="0"/>
              <a:t>What is displayed on a frequency distribution table:</a:t>
            </a:r>
          </a:p>
          <a:p>
            <a:r>
              <a:rPr lang="en-US" sz="2800" dirty="0"/>
              <a:t>Frequency (raw count)</a:t>
            </a:r>
          </a:p>
          <a:p>
            <a:r>
              <a:rPr lang="en-US" sz="2800" dirty="0"/>
              <a:t>Relative Frequency (proportion)</a:t>
            </a:r>
          </a:p>
          <a:p>
            <a:r>
              <a:rPr lang="en-US" sz="2800" dirty="0"/>
              <a:t>Cumulative Relative Frequency (cumulative proportion)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88427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DB9C-15A8-C941-9BDB-D3F44DF55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8362950" cy="5014913"/>
          </a:xfrm>
        </p:spPr>
        <p:txBody>
          <a:bodyPr/>
          <a:lstStyle/>
          <a:p>
            <a:r>
              <a:rPr lang="en-US" sz="2400" dirty="0"/>
              <a:t>Example: Smarter Balanced Board Consortium Score (Math Scale Score)</a:t>
            </a:r>
          </a:p>
          <a:p>
            <a:pPr marL="457200" lvl="1" indent="0">
              <a:buNone/>
            </a:pPr>
            <a:r>
              <a:rPr lang="en-US" sz="2400" dirty="0"/>
              <a:t>Grade 8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EC67DC-F480-EC4B-9A5A-5C616BC1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1125"/>
            <a:ext cx="8229600" cy="9906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7FC75C-15AD-1B4F-B641-4A5301CED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801568"/>
              </p:ext>
            </p:extLst>
          </p:nvPr>
        </p:nvGraphicFramePr>
        <p:xfrm>
          <a:off x="1032828" y="3200400"/>
          <a:ext cx="7078344" cy="2606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448">
                  <a:extLst>
                    <a:ext uri="{9D8B030D-6E8A-4147-A177-3AD203B41FA5}">
                      <a16:colId xmlns:a16="http://schemas.microsoft.com/office/drawing/2014/main" val="1830530225"/>
                    </a:ext>
                  </a:extLst>
                </a:gridCol>
                <a:gridCol w="2359448">
                  <a:extLst>
                    <a:ext uri="{9D8B030D-6E8A-4147-A177-3AD203B41FA5}">
                      <a16:colId xmlns:a16="http://schemas.microsoft.com/office/drawing/2014/main" val="3277068369"/>
                    </a:ext>
                  </a:extLst>
                </a:gridCol>
                <a:gridCol w="2359448">
                  <a:extLst>
                    <a:ext uri="{9D8B030D-6E8A-4147-A177-3AD203B41FA5}">
                      <a16:colId xmlns:a16="http://schemas.microsoft.com/office/drawing/2014/main" val="2915072376"/>
                    </a:ext>
                  </a:extLst>
                </a:gridCol>
              </a:tblGrid>
              <a:tr h="351845">
                <a:tc>
                  <a:txBody>
                    <a:bodyPr/>
                    <a:lstStyle/>
                    <a:p>
                      <a:r>
                        <a:rPr lang="en-US" sz="2400" dirty="0"/>
                        <a:t>Levels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Intervals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Frequency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511981"/>
                  </a:ext>
                </a:extLst>
              </a:tr>
              <a:tr h="3518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Far Below 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Less than 2281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292418"/>
                  </a:ext>
                </a:extLst>
              </a:tr>
              <a:tr h="3518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Below 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2281- 2486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506910"/>
                  </a:ext>
                </a:extLst>
              </a:tr>
              <a:tr h="3518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2487 - 2566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020135"/>
                  </a:ext>
                </a:extLst>
              </a:tr>
              <a:tr h="3518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Proficient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2567 - 2667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30349"/>
                  </a:ext>
                </a:extLst>
              </a:tr>
              <a:tr h="3518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Advanced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2668 - 2769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240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406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6DFD5F-3D59-1C42-A63A-60A9E9449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189549"/>
              </p:ext>
            </p:extLst>
          </p:nvPr>
        </p:nvGraphicFramePr>
        <p:xfrm>
          <a:off x="628649" y="681037"/>
          <a:ext cx="6317272" cy="30098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34836">
                  <a:extLst>
                    <a:ext uri="{9D8B030D-6E8A-4147-A177-3AD203B41FA5}">
                      <a16:colId xmlns:a16="http://schemas.microsoft.com/office/drawing/2014/main" val="441474267"/>
                    </a:ext>
                  </a:extLst>
                </a:gridCol>
                <a:gridCol w="1034836">
                  <a:extLst>
                    <a:ext uri="{9D8B030D-6E8A-4147-A177-3AD203B41FA5}">
                      <a16:colId xmlns:a16="http://schemas.microsoft.com/office/drawing/2014/main" val="3562490061"/>
                    </a:ext>
                  </a:extLst>
                </a:gridCol>
                <a:gridCol w="893024">
                  <a:extLst>
                    <a:ext uri="{9D8B030D-6E8A-4147-A177-3AD203B41FA5}">
                      <a16:colId xmlns:a16="http://schemas.microsoft.com/office/drawing/2014/main" val="3896859388"/>
                    </a:ext>
                  </a:extLst>
                </a:gridCol>
                <a:gridCol w="1068564">
                  <a:extLst>
                    <a:ext uri="{9D8B030D-6E8A-4147-A177-3AD203B41FA5}">
                      <a16:colId xmlns:a16="http://schemas.microsoft.com/office/drawing/2014/main" val="3264367947"/>
                    </a:ext>
                  </a:extLst>
                </a:gridCol>
                <a:gridCol w="1125287">
                  <a:extLst>
                    <a:ext uri="{9D8B030D-6E8A-4147-A177-3AD203B41FA5}">
                      <a16:colId xmlns:a16="http://schemas.microsoft.com/office/drawing/2014/main" val="1053991221"/>
                    </a:ext>
                  </a:extLst>
                </a:gridCol>
                <a:gridCol w="1125287">
                  <a:extLst>
                    <a:ext uri="{9D8B030D-6E8A-4147-A177-3AD203B41FA5}">
                      <a16:colId xmlns:a16="http://schemas.microsoft.com/office/drawing/2014/main" val="3427399815"/>
                    </a:ext>
                  </a:extLst>
                </a:gridCol>
                <a:gridCol w="35438">
                  <a:extLst>
                    <a:ext uri="{9D8B030D-6E8A-4147-A177-3AD203B41FA5}">
                      <a16:colId xmlns:a16="http://schemas.microsoft.com/office/drawing/2014/main" val="1979111735"/>
                    </a:ext>
                  </a:extLst>
                </a:gridCol>
              </a:tblGrid>
              <a:tr h="318242">
                <a:tc gridSpan="7">
                  <a:txBody>
                    <a:bodyPr/>
                    <a:lstStyle/>
                    <a:p>
                      <a:pPr marL="38100" marR="381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 A  SBAC Math 2019 Score Distribution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146812"/>
                  </a:ext>
                </a:extLst>
              </a:tr>
              <a:tr h="666103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Percent(%)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Frequency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Cumulative Percent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544141"/>
                  </a:ext>
                </a:extLst>
              </a:tr>
              <a:tr h="318242">
                <a:tc rowSpan="5">
                  <a:txBody>
                    <a:bodyPr/>
                    <a:lstStyle/>
                    <a:p>
                      <a:pPr marL="38100" marR="381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Far Below 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297125"/>
                  </a:ext>
                </a:extLst>
              </a:tr>
              <a:tr h="318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Below 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27.3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27.3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39.4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99530"/>
                  </a:ext>
                </a:extLst>
              </a:tr>
              <a:tr h="318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36.4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36.4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75.8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200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2834"/>
                  </a:ext>
                </a:extLst>
              </a:tr>
              <a:tr h="318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Proficient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84.8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929344"/>
                  </a:ext>
                </a:extLst>
              </a:tr>
              <a:tr h="318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Advanced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361176"/>
                  </a:ext>
                </a:extLst>
              </a:tr>
              <a:tr h="318242"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65953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A1B266B-DC04-5E4C-A2EA-632A192BF242}"/>
              </a:ext>
            </a:extLst>
          </p:cNvPr>
          <p:cNvSpPr txBox="1"/>
          <p:nvPr/>
        </p:nvSpPr>
        <p:spPr>
          <a:xfrm>
            <a:off x="757646" y="3905794"/>
            <a:ext cx="7223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second column contains the same frequency values.</a:t>
            </a:r>
          </a:p>
          <a:p>
            <a:r>
              <a:rPr lang="en-US" dirty="0"/>
              <a:t>The third column contains the total that occur in the particular interval.</a:t>
            </a:r>
          </a:p>
          <a:p>
            <a:r>
              <a:rPr lang="en-US" dirty="0"/>
              <a:t> The fourth column contains the frequencies accumulate. </a:t>
            </a:r>
          </a:p>
          <a:p>
            <a:endParaRPr lang="en-US" dirty="0"/>
          </a:p>
        </p:txBody>
      </p:sp>
      <p:sp>
        <p:nvSpPr>
          <p:cNvPr id="7" name="Line Callout 2 6">
            <a:extLst>
              <a:ext uri="{FF2B5EF4-FFF2-40B4-BE49-F238E27FC236}">
                <a16:creationId xmlns:a16="http://schemas.microsoft.com/office/drawing/2014/main" id="{F9EA950B-F4D2-F84B-9CBA-18123D3C8133}"/>
              </a:ext>
            </a:extLst>
          </p:cNvPr>
          <p:cNvSpPr/>
          <p:nvPr/>
        </p:nvSpPr>
        <p:spPr>
          <a:xfrm>
            <a:off x="6945921" y="1319348"/>
            <a:ext cx="2067450" cy="61395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70526"/>
              <a:gd name="adj6" fmla="val -410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12.1% </a:t>
            </a:r>
            <a:r>
              <a:rPr lang="en-US"/>
              <a:t>+ 27.3%= 39.4% </a:t>
            </a:r>
            <a:endParaRPr lang="en-US" dirty="0"/>
          </a:p>
        </p:txBody>
      </p:sp>
      <p:sp>
        <p:nvSpPr>
          <p:cNvPr id="8" name="Line Callout 2 7">
            <a:extLst>
              <a:ext uri="{FF2B5EF4-FFF2-40B4-BE49-F238E27FC236}">
                <a16:creationId xmlns:a16="http://schemas.microsoft.com/office/drawing/2014/main" id="{A39FDB9F-608E-E14E-98A2-F6344B3BF5EF}"/>
              </a:ext>
            </a:extLst>
          </p:cNvPr>
          <p:cNvSpPr/>
          <p:nvPr/>
        </p:nvSpPr>
        <p:spPr>
          <a:xfrm>
            <a:off x="7262949" y="2776359"/>
            <a:ext cx="1541417" cy="61395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4042"/>
              <a:gd name="adj6" fmla="val -19381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12/33= 36.4%</a:t>
            </a:r>
          </a:p>
        </p:txBody>
      </p:sp>
    </p:spTree>
    <p:extLst>
      <p:ext uri="{BB962C8B-B14F-4D97-AF65-F5344CB8AC3E}">
        <p14:creationId xmlns:p14="http://schemas.microsoft.com/office/powerpoint/2010/main" val="3040161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7180-7F6B-144E-9D12-1E342BA7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746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More SPSS output</a:t>
            </a:r>
            <a:br>
              <a:rPr lang="en-US" sz="3600" dirty="0"/>
            </a:br>
            <a:r>
              <a:rPr lang="en-US" sz="3600" dirty="0"/>
              <a:t>Bar Charts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DE61790-C92C-5A4F-9B50-AF25E27834F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62595"/>
            <a:ext cx="6111240" cy="429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41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B259A-529A-5144-A3AC-A68C2BD8D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4271553"/>
            <a:ext cx="7953647" cy="1905409"/>
          </a:xfrm>
        </p:spPr>
        <p:txBody>
          <a:bodyPr>
            <a:normAutofit/>
          </a:bodyPr>
          <a:lstStyle/>
          <a:p>
            <a:r>
              <a:rPr lang="en-US" sz="2600" dirty="0"/>
              <a:t>Bar Chart clarify proportions between different classes or groups, a pie chart is often more helpful than a table of numbers </a:t>
            </a:r>
          </a:p>
          <a:p>
            <a:endParaRPr lang="en-US" sz="26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D9270A9-104C-6D4A-81E1-350413AB777A}"/>
              </a:ext>
            </a:extLst>
          </p:cNvPr>
          <p:cNvGraphicFramePr>
            <a:graphicFrameLocks/>
          </p:cNvGraphicFramePr>
          <p:nvPr/>
        </p:nvGraphicFramePr>
        <p:xfrm>
          <a:off x="628649" y="681037"/>
          <a:ext cx="5576207" cy="347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22D8BE0-FE09-D544-866F-61C06DBA7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86" y="953589"/>
            <a:ext cx="5689600" cy="3200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165337-51E4-4140-823B-8995F540BA0E}"/>
              </a:ext>
            </a:extLst>
          </p:cNvPr>
          <p:cNvSpPr txBox="1"/>
          <p:nvPr/>
        </p:nvSpPr>
        <p:spPr>
          <a:xfrm>
            <a:off x="756193" y="563473"/>
            <a:ext cx="696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1</a:t>
            </a:r>
            <a:r>
              <a:rPr lang="en-US" dirty="0"/>
              <a:t>. Class A Students SBAC Math Scale</a:t>
            </a:r>
          </a:p>
        </p:txBody>
      </p:sp>
    </p:spTree>
    <p:extLst>
      <p:ext uri="{BB962C8B-B14F-4D97-AF65-F5344CB8AC3E}">
        <p14:creationId xmlns:p14="http://schemas.microsoft.com/office/powerpoint/2010/main" val="3429452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858962"/>
          </a:xfrm>
        </p:spPr>
        <p:txBody>
          <a:bodyPr>
            <a:normAutofit/>
          </a:bodyPr>
          <a:lstStyle/>
          <a:p>
            <a:r>
              <a:rPr lang="en-US" dirty="0"/>
              <a:t>Data in a Grouped Frequency Distribution</a:t>
            </a:r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635125" y="3725863"/>
          <a:ext cx="5164138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00" name="Worksheet" r:id="rId4" imgW="7820078" imgH="3476520" progId="Excel.Sheet.12">
                  <p:embed/>
                </p:oleObj>
              </mc:Choice>
              <mc:Fallback>
                <p:oleObj name="Worksheet" r:id="rId4" imgW="7820078" imgH="3476520" progId="Excel.Sheet.12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725863"/>
                        <a:ext cx="5164138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5750" y="1968500"/>
            <a:ext cx="81915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 data from a set of passing test scores:</a:t>
            </a:r>
          </a:p>
          <a:p>
            <a:pPr lvl="1">
              <a:buNone/>
            </a:pPr>
            <a:r>
              <a:rPr lang="en-US" sz="2400" b="1" dirty="0">
                <a:solidFill>
                  <a:srgbClr val="FF0000"/>
                </a:solidFill>
              </a:rPr>
              <a:t>65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70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71 72 78 79 80 </a:t>
            </a:r>
            <a:r>
              <a:rPr lang="en-US" sz="2400" dirty="0"/>
              <a:t>81 83 84 85 87 90 90 </a:t>
            </a:r>
          </a:p>
          <a:p>
            <a:pPr lvl="1">
              <a:buNone/>
            </a:pPr>
            <a:r>
              <a:rPr lang="en-US" sz="2400" dirty="0"/>
              <a:t>91 91 93 95 97 98 98 99 99 100 100 100 </a:t>
            </a:r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492375" y="6035754"/>
            <a:ext cx="1057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Total: 26</a:t>
            </a:r>
          </a:p>
        </p:txBody>
      </p:sp>
    </p:spTree>
    <p:extLst>
      <p:ext uri="{BB962C8B-B14F-4D97-AF65-F5344CB8AC3E}">
        <p14:creationId xmlns:p14="http://schemas.microsoft.com/office/powerpoint/2010/main" val="693633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635125" y="3725863"/>
          <a:ext cx="5164138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24" name="Worksheet" r:id="rId4" imgW="7820078" imgH="3476520" progId="Excel.Sheet.12">
                  <p:embed/>
                </p:oleObj>
              </mc:Choice>
              <mc:Fallback>
                <p:oleObj name="Worksheet" r:id="rId4" imgW="7820078" imgH="3476520" progId="Excel.Sheet.12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725863"/>
                        <a:ext cx="5164138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5750" y="1538366"/>
            <a:ext cx="8191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value for the red question mark (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  <a:r>
              <a:rPr lang="en-US" sz="2400" dirty="0"/>
              <a:t>)?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0.16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0.21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0.27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0.38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492375" y="6035754"/>
            <a:ext cx="1057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Total: 26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3378063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635125" y="3725863"/>
          <a:ext cx="5164138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8" name="Worksheet" r:id="rId4" imgW="7820078" imgH="3476520" progId="Excel.Sheet.12">
                  <p:embed/>
                </p:oleObj>
              </mc:Choice>
              <mc:Fallback>
                <p:oleObj name="Worksheet" r:id="rId4" imgW="7820078" imgH="3476520" progId="Excel.Sheet.12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725863"/>
                        <a:ext cx="5164138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5750" y="1538366"/>
            <a:ext cx="8191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value for the red question mark (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  <a:r>
              <a:rPr lang="en-US" sz="2400" dirty="0"/>
              <a:t>)?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0.16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0.21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b="1" u="sng" dirty="0"/>
              <a:t>0.27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0.38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492375" y="6035754"/>
            <a:ext cx="1057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Total: 26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036520-663F-4D41-8C8F-2A5343D3F224}"/>
              </a:ext>
            </a:extLst>
          </p:cNvPr>
          <p:cNvSpPr txBox="1">
            <a:spLocks/>
          </p:cNvSpPr>
          <p:nvPr/>
        </p:nvSpPr>
        <p:spPr>
          <a:xfrm>
            <a:off x="609600" y="6858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526030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703388" y="3725863"/>
          <a:ext cx="5026025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72" name="Worksheet" r:id="rId4" imgW="7820078" imgH="3571830" progId="Excel.Sheet.12">
                  <p:embed/>
                </p:oleObj>
              </mc:Choice>
              <mc:Fallback>
                <p:oleObj name="Worksheet" r:id="rId4" imgW="7820078" imgH="3571830" progId="Excel.Sheet.12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3725863"/>
                        <a:ext cx="5026025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5750" y="1538366"/>
            <a:ext cx="8191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value for the blue question mark (</a:t>
            </a:r>
            <a:r>
              <a:rPr lang="en-US" sz="2400" b="1" dirty="0">
                <a:solidFill>
                  <a:schemeClr val="accent1"/>
                </a:solidFill>
              </a:rPr>
              <a:t>?</a:t>
            </a:r>
            <a:r>
              <a:rPr lang="en-US" sz="2400" dirty="0"/>
              <a:t>)?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0.46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0.27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1.00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492375" y="6035754"/>
            <a:ext cx="1057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Total: 26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2417440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703388" y="3725863"/>
          <a:ext cx="5026025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96" name="Worksheet" r:id="rId4" imgW="7820078" imgH="3571830" progId="Excel.Sheet.12">
                  <p:embed/>
                </p:oleObj>
              </mc:Choice>
              <mc:Fallback>
                <p:oleObj name="Worksheet" r:id="rId4" imgW="7820078" imgH="3571830" progId="Excel.Sheet.12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3725863"/>
                        <a:ext cx="5026025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5750" y="1538366"/>
            <a:ext cx="8191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value for the blue question mark (</a:t>
            </a:r>
            <a:r>
              <a:rPr lang="en-US" sz="2400" dirty="0">
                <a:solidFill>
                  <a:srgbClr val="FF0000"/>
                </a:solidFill>
              </a:rPr>
              <a:t>?</a:t>
            </a:r>
            <a:r>
              <a:rPr lang="en-US" sz="2400" dirty="0"/>
              <a:t>)?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0.46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0.27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b="1" u="sng" dirty="0"/>
              <a:t>1.00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492375" y="6035754"/>
            <a:ext cx="1057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Total: 26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2118340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81B1-1933-744B-BA7A-C4DD65F10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Cross-Tabulation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E8088-063F-4543-91CE-10B0E8B2C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grouped frequency distribution can be recognized by SPSS using the “cross tabs” option under “descriptive statistics,” </a:t>
            </a:r>
          </a:p>
          <a:p>
            <a:pPr lvl="1"/>
            <a:r>
              <a:rPr lang="en-US" sz="2400" dirty="0"/>
              <a:t>Example:</a:t>
            </a:r>
          </a:p>
          <a:p>
            <a:pPr lvl="1"/>
            <a:r>
              <a:rPr lang="en-US" sz="2400" dirty="0"/>
              <a:t>Cross-Tabular Presentation of Students' Gender and Their Level of SBAC Math Score on Class A </a:t>
            </a:r>
          </a:p>
          <a:p>
            <a:pPr lvl="1"/>
            <a:r>
              <a:rPr lang="en-US" sz="2400" dirty="0"/>
              <a:t>The Cross-Tabular shows the student's performance level in the rows and the gender on columns. 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3964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1150"/>
            <a:ext cx="8229600" cy="990600"/>
          </a:xfrm>
        </p:spPr>
        <p:txBody>
          <a:bodyPr/>
          <a:lstStyle/>
          <a:p>
            <a:r>
              <a:rPr lang="en-US" dirty="0"/>
              <a:t>Cross tabular 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4B6380-354F-8645-A277-5BFDA354B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062201"/>
              </p:ext>
            </p:extLst>
          </p:nvPr>
        </p:nvGraphicFramePr>
        <p:xfrm>
          <a:off x="898223" y="2514600"/>
          <a:ext cx="7483777" cy="38912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1749">
                  <a:extLst>
                    <a:ext uri="{9D8B030D-6E8A-4147-A177-3AD203B41FA5}">
                      <a16:colId xmlns:a16="http://schemas.microsoft.com/office/drawing/2014/main" val="1830530225"/>
                    </a:ext>
                  </a:extLst>
                </a:gridCol>
                <a:gridCol w="2091749">
                  <a:extLst>
                    <a:ext uri="{9D8B030D-6E8A-4147-A177-3AD203B41FA5}">
                      <a16:colId xmlns:a16="http://schemas.microsoft.com/office/drawing/2014/main" val="3277068369"/>
                    </a:ext>
                  </a:extLst>
                </a:gridCol>
                <a:gridCol w="1100093">
                  <a:extLst>
                    <a:ext uri="{9D8B030D-6E8A-4147-A177-3AD203B41FA5}">
                      <a16:colId xmlns:a16="http://schemas.microsoft.com/office/drawing/2014/main" val="2915072376"/>
                    </a:ext>
                  </a:extLst>
                </a:gridCol>
                <a:gridCol w="1100093">
                  <a:extLst>
                    <a:ext uri="{9D8B030D-6E8A-4147-A177-3AD203B41FA5}">
                      <a16:colId xmlns:a16="http://schemas.microsoft.com/office/drawing/2014/main" val="2879163977"/>
                    </a:ext>
                  </a:extLst>
                </a:gridCol>
                <a:gridCol w="1100093">
                  <a:extLst>
                    <a:ext uri="{9D8B030D-6E8A-4147-A177-3AD203B41FA5}">
                      <a16:colId xmlns:a16="http://schemas.microsoft.com/office/drawing/2014/main" val="1671188028"/>
                    </a:ext>
                  </a:extLst>
                </a:gridCol>
              </a:tblGrid>
              <a:tr h="825388">
                <a:tc>
                  <a:txBody>
                    <a:bodyPr/>
                    <a:lstStyle/>
                    <a:p>
                      <a:r>
                        <a:rPr lang="en-US" sz="2400" dirty="0"/>
                        <a:t>Levels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Intervals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Frequency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Female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Male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511981"/>
                  </a:ext>
                </a:extLst>
              </a:tr>
              <a:tr h="566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Far Below 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Less than 2281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292418"/>
                  </a:ext>
                </a:extLst>
              </a:tr>
              <a:tr h="566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Below 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2281- 2486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506910"/>
                  </a:ext>
                </a:extLst>
              </a:tr>
              <a:tr h="566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2487 - 2566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020135"/>
                  </a:ext>
                </a:extLst>
              </a:tr>
              <a:tr h="566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Proficient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2567 - 2667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30349"/>
                  </a:ext>
                </a:extLst>
              </a:tr>
              <a:tr h="566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Advanced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2668 - 2769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2400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41DF15-EFF9-C64E-8838-827B44254B00}"/>
              </a:ext>
            </a:extLst>
          </p:cNvPr>
          <p:cNvSpPr txBox="1"/>
          <p:nvPr/>
        </p:nvSpPr>
        <p:spPr>
          <a:xfrm>
            <a:off x="990600" y="16002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Break down the Frequency Table into Groups</a:t>
            </a:r>
          </a:p>
        </p:txBody>
      </p:sp>
    </p:spTree>
    <p:extLst>
      <p:ext uri="{BB962C8B-B14F-4D97-AF65-F5344CB8AC3E}">
        <p14:creationId xmlns:p14="http://schemas.microsoft.com/office/powerpoint/2010/main" val="18119833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8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39501-ABEB-4F45-9AA0-DE5CC6C17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4495800"/>
            <a:ext cx="6629399" cy="1594145"/>
          </a:xfrm>
        </p:spPr>
        <p:txBody>
          <a:bodyPr>
            <a:normAutofit/>
          </a:bodyPr>
          <a:lstStyle/>
          <a:p>
            <a:r>
              <a:rPr lang="en-US" sz="1800" b="1" dirty="0"/>
              <a:t>Interpreting Tables and Figures </a:t>
            </a:r>
          </a:p>
          <a:p>
            <a:pPr marL="0" indent="0">
              <a:buNone/>
            </a:pPr>
            <a:r>
              <a:rPr lang="en-US" sz="1800" b="1" dirty="0"/>
              <a:t>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There are almost 12% of proficient male learners in Class A.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E35828-594B-1343-9282-90F3EA08F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057817"/>
              </p:ext>
            </p:extLst>
          </p:nvPr>
        </p:nvGraphicFramePr>
        <p:xfrm>
          <a:off x="1965959" y="981046"/>
          <a:ext cx="6873240" cy="3362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434">
                  <a:extLst>
                    <a:ext uri="{9D8B030D-6E8A-4147-A177-3AD203B41FA5}">
                      <a16:colId xmlns:a16="http://schemas.microsoft.com/office/drawing/2014/main" val="1973340984"/>
                    </a:ext>
                  </a:extLst>
                </a:gridCol>
                <a:gridCol w="862940">
                  <a:extLst>
                    <a:ext uri="{9D8B030D-6E8A-4147-A177-3AD203B41FA5}">
                      <a16:colId xmlns:a16="http://schemas.microsoft.com/office/drawing/2014/main" val="2490626005"/>
                    </a:ext>
                  </a:extLst>
                </a:gridCol>
                <a:gridCol w="492040">
                  <a:extLst>
                    <a:ext uri="{9D8B030D-6E8A-4147-A177-3AD203B41FA5}">
                      <a16:colId xmlns:a16="http://schemas.microsoft.com/office/drawing/2014/main" val="252368752"/>
                    </a:ext>
                  </a:extLst>
                </a:gridCol>
                <a:gridCol w="908878">
                  <a:extLst>
                    <a:ext uri="{9D8B030D-6E8A-4147-A177-3AD203B41FA5}">
                      <a16:colId xmlns:a16="http://schemas.microsoft.com/office/drawing/2014/main" val="1141885317"/>
                    </a:ext>
                  </a:extLst>
                </a:gridCol>
                <a:gridCol w="953114">
                  <a:extLst>
                    <a:ext uri="{9D8B030D-6E8A-4147-A177-3AD203B41FA5}">
                      <a16:colId xmlns:a16="http://schemas.microsoft.com/office/drawing/2014/main" val="3064806202"/>
                    </a:ext>
                  </a:extLst>
                </a:gridCol>
                <a:gridCol w="682594">
                  <a:extLst>
                    <a:ext uri="{9D8B030D-6E8A-4147-A177-3AD203B41FA5}">
                      <a16:colId xmlns:a16="http://schemas.microsoft.com/office/drawing/2014/main" val="1177532186"/>
                    </a:ext>
                  </a:extLst>
                </a:gridCol>
                <a:gridCol w="908878">
                  <a:extLst>
                    <a:ext uri="{9D8B030D-6E8A-4147-A177-3AD203B41FA5}">
                      <a16:colId xmlns:a16="http://schemas.microsoft.com/office/drawing/2014/main" val="1265453670"/>
                    </a:ext>
                  </a:extLst>
                </a:gridCol>
                <a:gridCol w="953114">
                  <a:extLst>
                    <a:ext uri="{9D8B030D-6E8A-4147-A177-3AD203B41FA5}">
                      <a16:colId xmlns:a16="http://schemas.microsoft.com/office/drawing/2014/main" val="34568424"/>
                    </a:ext>
                  </a:extLst>
                </a:gridCol>
                <a:gridCol w="502248">
                  <a:extLst>
                    <a:ext uri="{9D8B030D-6E8A-4147-A177-3AD203B41FA5}">
                      <a16:colId xmlns:a16="http://schemas.microsoft.com/office/drawing/2014/main" val="2993038281"/>
                    </a:ext>
                  </a:extLst>
                </a:gridCol>
              </a:tblGrid>
              <a:tr h="668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Gender * SBAC Math Levels Crosstabulation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extLst>
                  <a:ext uri="{0D108BD9-81ED-4DB2-BD59-A6C34878D82A}">
                    <a16:rowId xmlns:a16="http://schemas.microsoft.com/office/drawing/2014/main" val="3885683952"/>
                  </a:ext>
                </a:extLst>
              </a:tr>
              <a:tr h="52870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Count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Relative Frequency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Cumulative Frequency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Relative Frequency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Cumulative Frequency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72006"/>
                  </a:ext>
                </a:extLst>
              </a:tr>
              <a:tr h="528701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SBAC Math Levels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Far Below Basic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0.18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0.18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0.06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0.06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extLst>
                  <a:ext uri="{0D108BD9-81ED-4DB2-BD59-A6C34878D82A}">
                    <a16:rowId xmlns:a16="http://schemas.microsoft.com/office/drawing/2014/main" val="3676474519"/>
                  </a:ext>
                </a:extLst>
              </a:tr>
              <a:tr h="5287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Below Basic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0.41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0.59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0.13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0.19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extLst>
                  <a:ext uri="{0D108BD9-81ED-4DB2-BD59-A6C34878D82A}">
                    <a16:rowId xmlns:a16="http://schemas.microsoft.com/office/drawing/2014/main" val="2343915844"/>
                  </a:ext>
                </a:extLst>
              </a:tr>
              <a:tr h="2768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Basic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0.23</a:t>
                      </a: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0.82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0.50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0.69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extLst>
                  <a:ext uri="{0D108BD9-81ED-4DB2-BD59-A6C34878D82A}">
                    <a16:rowId xmlns:a16="http://schemas.microsoft.com/office/drawing/2014/main" val="1012363177"/>
                  </a:ext>
                </a:extLst>
              </a:tr>
              <a:tr h="2768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Proficient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0.12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0.94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0.06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0.75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extLst>
                  <a:ext uri="{0D108BD9-81ED-4DB2-BD59-A6C34878D82A}">
                    <a16:rowId xmlns:a16="http://schemas.microsoft.com/office/drawing/2014/main" val="1603719927"/>
                  </a:ext>
                </a:extLst>
              </a:tr>
              <a:tr h="2768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Advanced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0.06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1.00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0.25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extLst>
                  <a:ext uri="{0D108BD9-81ED-4DB2-BD59-A6C34878D82A}">
                    <a16:rowId xmlns:a16="http://schemas.microsoft.com/office/drawing/2014/main" val="3789081732"/>
                  </a:ext>
                </a:extLst>
              </a:tr>
              <a:tr h="2768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007" marR="8007" marT="8007" marB="0" anchor="b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1.00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1.00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33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7" marR="8007" marT="8007" marB="0" anchor="ctr"/>
                </a:tc>
                <a:extLst>
                  <a:ext uri="{0D108BD9-81ED-4DB2-BD59-A6C34878D82A}">
                    <a16:rowId xmlns:a16="http://schemas.microsoft.com/office/drawing/2014/main" val="5772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5464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2A0E8-DF08-264C-A6EA-4A5DEF82C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637313"/>
            <a:ext cx="7886700" cy="153964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Pie charts </a:t>
            </a:r>
            <a:r>
              <a:rPr lang="en-US" dirty="0"/>
              <a:t>and </a:t>
            </a:r>
            <a:r>
              <a:rPr lang="en-US" b="1" dirty="0"/>
              <a:t>bar charts </a:t>
            </a:r>
            <a:r>
              <a:rPr lang="en-US" dirty="0"/>
              <a:t>are both used to represent proportional differences in data categories, either by triangular wedges or with bars of different sizes. </a:t>
            </a:r>
          </a:p>
          <a:p>
            <a:endParaRPr lang="en-US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77A3253A-EC60-BB47-8E3E-67BA41878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34" y="1574074"/>
            <a:ext cx="3929743" cy="2357846"/>
          </a:xfrm>
          <a:prstGeom prst="rect">
            <a:avLst/>
          </a:prstGeom>
        </p:spPr>
      </p:pic>
      <p:pic>
        <p:nvPicPr>
          <p:cNvPr id="10" name="Picture 9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7DD505E9-E14B-3348-8B47-B2C73620D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607" y="1574074"/>
            <a:ext cx="3929743" cy="23578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C5B4ED-97F1-0947-A957-D37FFC7696CB}"/>
              </a:ext>
            </a:extLst>
          </p:cNvPr>
          <p:cNvSpPr txBox="1"/>
          <p:nvPr/>
        </p:nvSpPr>
        <p:spPr>
          <a:xfrm>
            <a:off x="431074" y="849086"/>
            <a:ext cx="3709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2</a:t>
            </a:r>
            <a:r>
              <a:rPr lang="en-US" dirty="0"/>
              <a:t>. Male Students SBAC Math Scale of Class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724A91-A11C-6A42-9780-1067E82BF6AD}"/>
              </a:ext>
            </a:extLst>
          </p:cNvPr>
          <p:cNvSpPr txBox="1"/>
          <p:nvPr/>
        </p:nvSpPr>
        <p:spPr>
          <a:xfrm>
            <a:off x="4585607" y="849085"/>
            <a:ext cx="3709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Figure 3</a:t>
            </a:r>
            <a:r>
              <a:rPr lang="en-US" dirty="0"/>
              <a:t>. Female Students SBAC Math Scale of Class A</a:t>
            </a:r>
          </a:p>
        </p:txBody>
      </p:sp>
    </p:spTree>
    <p:extLst>
      <p:ext uri="{BB962C8B-B14F-4D97-AF65-F5344CB8AC3E}">
        <p14:creationId xmlns:p14="http://schemas.microsoft.com/office/powerpoint/2010/main" val="6646404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9"/>
          <p:cNvSpPr txBox="1">
            <a:spLocks noChangeArrowheads="1"/>
          </p:cNvSpPr>
          <p:nvPr/>
        </p:nvSpPr>
        <p:spPr bwMode="auto">
          <a:xfrm>
            <a:off x="2909888" y="2690813"/>
            <a:ext cx="554831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29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0050" y="1269401"/>
            <a:ext cx="8153400" cy="5094643"/>
          </a:xfrm>
        </p:spPr>
        <p:txBody>
          <a:bodyPr/>
          <a:lstStyle/>
          <a:p>
            <a:pPr marL="0" indent="-381000" eaLnBrk="1" hangingPunct="1">
              <a:spcBef>
                <a:spcPct val="0"/>
              </a:spcBef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A sample of </a:t>
            </a:r>
            <a:r>
              <a:rPr lang="en-US" sz="2000" b="1" dirty="0">
                <a:latin typeface="+mj-lt"/>
                <a:ea typeface="ヒラギノ角ゴ Pro W3" charset="0"/>
                <a:cs typeface="ヒラギノ角ゴ Pro W3" charset="0"/>
              </a:rPr>
              <a:t>160 </a:t>
            </a: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workers in the downtown area classified each worker by race. A bar graph of the results is given below, but the bar for blacks in the graph below has been omitted.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2000" dirty="0"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Using the information provided, the </a:t>
            </a:r>
            <a:r>
              <a:rPr lang="en-US" sz="2000" i="1" dirty="0">
                <a:latin typeface="+mj-lt"/>
                <a:ea typeface="ヒラギノ角ゴ Pro W3" charset="0"/>
                <a:cs typeface="ヒラギノ角ゴ Pro W3" charset="0"/>
              </a:rPr>
              <a:t>proportion</a:t>
            </a: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 of black workers in the sample must be: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solidFill>
                <a:schemeClr val="bg1"/>
              </a:solidFill>
              <a:latin typeface="Lucida Sans Unicode" charset="0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solidFill>
                <a:schemeClr val="bg1"/>
              </a:solidFill>
              <a:latin typeface="Lucida Sans Unicode" charset="0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latin typeface="Lucida Sans Unicode" charset="0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latin typeface="Lucida Sans Unicode" charset="0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a. 40%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800" dirty="0"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b. 25%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800" dirty="0"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c. 20%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solidFill>
                <a:schemeClr val="bg1"/>
              </a:solidFill>
              <a:latin typeface="Lucida Sans Unicode" charset="0"/>
              <a:ea typeface="ヒラギノ角ゴ Pro W3" charset="0"/>
              <a:cs typeface="ヒラギノ角ゴ Pro W3" charset="0"/>
            </a:endParaRPr>
          </a:p>
        </p:txBody>
      </p:sp>
      <p:pic>
        <p:nvPicPr>
          <p:cNvPr id="9221" name="Picture 4" descr="ip01q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401208"/>
            <a:ext cx="5962650" cy="335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9463" name="Text Box 7"/>
          <p:cNvSpPr txBox="1">
            <a:spLocks noChangeArrowheads="1"/>
          </p:cNvSpPr>
          <p:nvPr/>
        </p:nvSpPr>
        <p:spPr bwMode="auto">
          <a:xfrm>
            <a:off x="4953000" y="45720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b="1">
                <a:solidFill>
                  <a:srgbClr val="FF3300"/>
                </a:solidFill>
              </a:rPr>
              <a:t>?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3514725" y="3399584"/>
            <a:ext cx="381000" cy="24717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dirty="0"/>
              <a:t>80</a:t>
            </a:r>
          </a:p>
          <a:p>
            <a:pPr eaLnBrk="1" hangingPunct="1">
              <a:spcBef>
                <a:spcPct val="50000"/>
              </a:spcBef>
            </a:pPr>
            <a:endParaRPr lang="en-US" sz="1200" dirty="0"/>
          </a:p>
          <a:p>
            <a:pPr eaLnBrk="1" hangingPunct="1">
              <a:spcBef>
                <a:spcPct val="50000"/>
              </a:spcBef>
            </a:pPr>
            <a:r>
              <a:rPr lang="en-US" sz="1200" dirty="0"/>
              <a:t>60</a:t>
            </a:r>
          </a:p>
          <a:p>
            <a:pPr eaLnBrk="1" hangingPunct="1">
              <a:spcBef>
                <a:spcPct val="50000"/>
              </a:spcBef>
            </a:pPr>
            <a:endParaRPr lang="en-US" sz="1200" dirty="0"/>
          </a:p>
          <a:p>
            <a:pPr eaLnBrk="1" hangingPunct="1">
              <a:spcBef>
                <a:spcPct val="50000"/>
              </a:spcBef>
            </a:pPr>
            <a:r>
              <a:rPr lang="en-US" sz="1200" dirty="0"/>
              <a:t>40</a:t>
            </a:r>
          </a:p>
          <a:p>
            <a:pPr eaLnBrk="1" hangingPunct="1">
              <a:spcBef>
                <a:spcPct val="50000"/>
              </a:spcBef>
            </a:pPr>
            <a:endParaRPr lang="en-US" sz="1200" dirty="0"/>
          </a:p>
          <a:p>
            <a:pPr eaLnBrk="1" hangingPunct="1">
              <a:spcBef>
                <a:spcPct val="50000"/>
              </a:spcBef>
            </a:pPr>
            <a:r>
              <a:rPr lang="en-US" sz="1200" dirty="0"/>
              <a:t>20</a:t>
            </a:r>
          </a:p>
          <a:p>
            <a:pPr eaLnBrk="1" hangingPunct="1">
              <a:spcBef>
                <a:spcPct val="50000"/>
              </a:spcBef>
            </a:pPr>
            <a:endParaRPr lang="en-US" sz="1200" dirty="0"/>
          </a:p>
          <a:p>
            <a:pPr eaLnBrk="1" hangingPunct="1">
              <a:spcBef>
                <a:spcPct val="50000"/>
              </a:spcBef>
            </a:pPr>
            <a:r>
              <a:rPr lang="en-US" sz="1200" dirty="0"/>
              <a:t>0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80999" y="-12700"/>
            <a:ext cx="2416461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/>
            <a:r>
              <a:rPr lang="en-US" sz="2000" b="1" i="1" dirty="0">
                <a:solidFill>
                  <a:schemeClr val="bg1"/>
                </a:solidFill>
                <a:latin typeface="Garamond" charset="0"/>
              </a:rPr>
              <a:t>I-clicker question</a:t>
            </a:r>
            <a:endParaRPr lang="en-US" sz="5400" b="1" i="1" dirty="0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00050" y="384648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10496566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9"/>
          <p:cNvSpPr txBox="1">
            <a:spLocks noChangeArrowheads="1"/>
          </p:cNvSpPr>
          <p:nvPr/>
        </p:nvSpPr>
        <p:spPr bwMode="auto">
          <a:xfrm>
            <a:off x="2909888" y="2690813"/>
            <a:ext cx="554831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29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0050" y="1269401"/>
            <a:ext cx="8153400" cy="5094643"/>
          </a:xfrm>
        </p:spPr>
        <p:txBody>
          <a:bodyPr/>
          <a:lstStyle/>
          <a:p>
            <a:pPr marL="0" indent="-381000" eaLnBrk="1" hangingPunct="1">
              <a:spcBef>
                <a:spcPct val="0"/>
              </a:spcBef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A sample of </a:t>
            </a:r>
            <a:r>
              <a:rPr lang="en-US" sz="2000" b="1" dirty="0">
                <a:latin typeface="+mj-lt"/>
                <a:ea typeface="ヒラギノ角ゴ Pro W3" charset="0"/>
                <a:cs typeface="ヒラギノ角ゴ Pro W3" charset="0"/>
              </a:rPr>
              <a:t>160 </a:t>
            </a: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workers in the downtown area classified each worker by race. A bar graph of the results is given below, but the bar for blacks in the graph below has been omitted.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2000" dirty="0"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Using the information provided, the </a:t>
            </a:r>
            <a:r>
              <a:rPr lang="en-US" sz="2000" i="1" dirty="0">
                <a:latin typeface="+mj-lt"/>
                <a:ea typeface="ヒラギノ角ゴ Pro W3" charset="0"/>
                <a:cs typeface="ヒラギノ角ゴ Pro W3" charset="0"/>
              </a:rPr>
              <a:t>proportion</a:t>
            </a: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 of black workers in the sample must be: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solidFill>
                <a:schemeClr val="bg1"/>
              </a:solidFill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solidFill>
                <a:schemeClr val="bg1"/>
              </a:solidFill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a. 40%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800" dirty="0"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r>
              <a:rPr lang="en-US" sz="2000" b="1" u="sng" dirty="0">
                <a:latin typeface="+mj-lt"/>
                <a:ea typeface="ヒラギノ角ゴ Pro W3" charset="0"/>
                <a:cs typeface="ヒラギノ角ゴ Pro W3" charset="0"/>
              </a:rPr>
              <a:t>b. 25%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800" dirty="0">
              <a:latin typeface="+mj-lt"/>
              <a:ea typeface="ヒラギノ角ゴ Pro W3" charset="0"/>
              <a:cs typeface="ヒラギノ角ゴ Pro W3" charset="0"/>
            </a:endParaRPr>
          </a:p>
          <a:p>
            <a:pPr marL="0" indent="-381000" eaLnBrk="1" hangingPunct="1">
              <a:buFont typeface="Wingdings" charset="0"/>
              <a:buNone/>
            </a:pPr>
            <a:r>
              <a:rPr lang="en-US" sz="2000" dirty="0">
                <a:latin typeface="+mj-lt"/>
                <a:ea typeface="ヒラギノ角ゴ Pro W3" charset="0"/>
                <a:cs typeface="ヒラギノ角ゴ Pro W3" charset="0"/>
              </a:rPr>
              <a:t>c. 20%</a:t>
            </a:r>
          </a:p>
          <a:p>
            <a:pPr marL="0" indent="-381000" eaLnBrk="1" hangingPunct="1">
              <a:buFont typeface="Wingdings" charset="0"/>
              <a:buNone/>
            </a:pPr>
            <a:endParaRPr lang="en-US" sz="1800" dirty="0">
              <a:solidFill>
                <a:schemeClr val="bg1"/>
              </a:solidFill>
              <a:latin typeface="Lucida Sans Unicode" charset="0"/>
              <a:ea typeface="ヒラギノ角ゴ Pro W3" charset="0"/>
              <a:cs typeface="ヒラギノ角ゴ Pro W3" charset="0"/>
            </a:endParaRPr>
          </a:p>
        </p:txBody>
      </p:sp>
      <p:pic>
        <p:nvPicPr>
          <p:cNvPr id="9221" name="Picture 4" descr="ip01q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401208"/>
            <a:ext cx="5962650" cy="335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9463" name="Text Box 7"/>
          <p:cNvSpPr txBox="1">
            <a:spLocks noChangeArrowheads="1"/>
          </p:cNvSpPr>
          <p:nvPr/>
        </p:nvSpPr>
        <p:spPr bwMode="auto">
          <a:xfrm>
            <a:off x="4953000" y="45720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b="1" dirty="0">
                <a:solidFill>
                  <a:srgbClr val="FF3300"/>
                </a:solidFill>
              </a:rPr>
              <a:t>?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3514725" y="3399584"/>
            <a:ext cx="381000" cy="24717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dirty="0"/>
              <a:t>80</a:t>
            </a:r>
          </a:p>
          <a:p>
            <a:pPr eaLnBrk="1" hangingPunct="1">
              <a:spcBef>
                <a:spcPct val="50000"/>
              </a:spcBef>
            </a:pPr>
            <a:endParaRPr lang="en-US" sz="1200" dirty="0"/>
          </a:p>
          <a:p>
            <a:pPr eaLnBrk="1" hangingPunct="1">
              <a:spcBef>
                <a:spcPct val="50000"/>
              </a:spcBef>
            </a:pPr>
            <a:r>
              <a:rPr lang="en-US" sz="1200" dirty="0"/>
              <a:t>60</a:t>
            </a:r>
          </a:p>
          <a:p>
            <a:pPr eaLnBrk="1" hangingPunct="1">
              <a:spcBef>
                <a:spcPct val="50000"/>
              </a:spcBef>
            </a:pPr>
            <a:endParaRPr lang="en-US" sz="1200" dirty="0"/>
          </a:p>
          <a:p>
            <a:pPr eaLnBrk="1" hangingPunct="1">
              <a:spcBef>
                <a:spcPct val="50000"/>
              </a:spcBef>
            </a:pPr>
            <a:r>
              <a:rPr lang="en-US" sz="1200" dirty="0"/>
              <a:t>40</a:t>
            </a:r>
          </a:p>
          <a:p>
            <a:pPr eaLnBrk="1" hangingPunct="1">
              <a:spcBef>
                <a:spcPct val="50000"/>
              </a:spcBef>
            </a:pPr>
            <a:endParaRPr lang="en-US" sz="1200" dirty="0"/>
          </a:p>
          <a:p>
            <a:pPr eaLnBrk="1" hangingPunct="1">
              <a:spcBef>
                <a:spcPct val="50000"/>
              </a:spcBef>
            </a:pPr>
            <a:r>
              <a:rPr lang="en-US" sz="1200" dirty="0"/>
              <a:t>20</a:t>
            </a:r>
          </a:p>
          <a:p>
            <a:pPr eaLnBrk="1" hangingPunct="1">
              <a:spcBef>
                <a:spcPct val="50000"/>
              </a:spcBef>
            </a:pPr>
            <a:endParaRPr lang="en-US" sz="1200" dirty="0"/>
          </a:p>
          <a:p>
            <a:pPr eaLnBrk="1" hangingPunct="1">
              <a:spcBef>
                <a:spcPct val="50000"/>
              </a:spcBef>
            </a:pPr>
            <a:r>
              <a:rPr lang="en-US" sz="1200" dirty="0"/>
              <a:t>0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80999" y="-12700"/>
            <a:ext cx="2416461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eaLnBrk="1" hangingPunct="1"/>
            <a:r>
              <a:rPr lang="en-US" sz="2000" b="1" i="1" dirty="0">
                <a:solidFill>
                  <a:schemeClr val="bg1"/>
                </a:solidFill>
                <a:latin typeface="Garamond" charset="0"/>
              </a:rPr>
              <a:t>I-clicker question</a:t>
            </a:r>
            <a:endParaRPr lang="en-US" sz="5400" b="1" i="1" dirty="0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00050" y="384648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In-class Practice</a:t>
            </a:r>
          </a:p>
        </p:txBody>
      </p:sp>
    </p:spTree>
    <p:extLst>
      <p:ext uri="{BB962C8B-B14F-4D97-AF65-F5344CB8AC3E}">
        <p14:creationId xmlns:p14="http://schemas.microsoft.com/office/powerpoint/2010/main" val="169446664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2432</Words>
  <Application>Microsoft Macintosh PowerPoint</Application>
  <PresentationFormat>On-screen Show (4:3)</PresentationFormat>
  <Paragraphs>517</Paragraphs>
  <Slides>46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Calibri</vt:lpstr>
      <vt:lpstr>Garamond</vt:lpstr>
      <vt:lpstr>Lucida Sans Unicode</vt:lpstr>
      <vt:lpstr>Times New Roman</vt:lpstr>
      <vt:lpstr>Wingdings</vt:lpstr>
      <vt:lpstr>Default Design</vt:lpstr>
      <vt:lpstr>Equation</vt:lpstr>
      <vt:lpstr>Worksheet</vt:lpstr>
      <vt:lpstr>EDUC 15: Statistics for Education Research </vt:lpstr>
      <vt:lpstr>Measure of Central Tendency</vt:lpstr>
      <vt:lpstr>PowerPoint Presentation</vt:lpstr>
      <vt:lpstr>Mean</vt:lpstr>
      <vt:lpstr>Median</vt:lpstr>
      <vt:lpstr>Mode</vt:lpstr>
      <vt:lpstr>The Effect of Outliers</vt:lpstr>
      <vt:lpstr>PowerPoint Presentation</vt:lpstr>
      <vt:lpstr>Measures of Variability</vt:lpstr>
      <vt:lpstr>PowerPoint Presentation</vt:lpstr>
      <vt:lpstr>PowerPoint Presentation</vt:lpstr>
      <vt:lpstr>Variance</vt:lpstr>
      <vt:lpstr>PowerPoint Presentation</vt:lpstr>
      <vt:lpstr>Calculating the Variance</vt:lpstr>
      <vt:lpstr>Degrees of Freedom </vt:lpstr>
      <vt:lpstr>Standard Deviation (SD):  Test score Example</vt:lpstr>
      <vt:lpstr>Standard Deviation (SD):  Test score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Range = R</vt:lpstr>
      <vt:lpstr>PowerPoint Presentation</vt:lpstr>
      <vt:lpstr>PowerPoint Presentation</vt:lpstr>
      <vt:lpstr>Distribution of a Variable</vt:lpstr>
      <vt:lpstr>The Frequency Distribution</vt:lpstr>
      <vt:lpstr>Frequency distribution table:  Education Among Young Adults (age: 24-34) </vt:lpstr>
      <vt:lpstr>Guidelines</vt:lpstr>
      <vt:lpstr>Example</vt:lpstr>
      <vt:lpstr>PowerPoint Presentation</vt:lpstr>
      <vt:lpstr>More SPSS output Bar Charts</vt:lpstr>
      <vt:lpstr>PowerPoint Presentation</vt:lpstr>
      <vt:lpstr>Data in a Grouped Frequency Distribution</vt:lpstr>
      <vt:lpstr>PowerPoint Presentation</vt:lpstr>
      <vt:lpstr>PowerPoint Presentation</vt:lpstr>
      <vt:lpstr>PowerPoint Presentation</vt:lpstr>
      <vt:lpstr>PowerPoint Presentation</vt:lpstr>
      <vt:lpstr>Cross-Tabulation</vt:lpstr>
      <vt:lpstr>Cross tabular Data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 15: Statistics for Education Research </dc:title>
  <dc:creator>Yu Zhang</dc:creator>
  <cp:lastModifiedBy>Yu Zhang</cp:lastModifiedBy>
  <cp:revision>7</cp:revision>
  <dcterms:created xsi:type="dcterms:W3CDTF">2019-10-09T21:20:33Z</dcterms:created>
  <dcterms:modified xsi:type="dcterms:W3CDTF">2022-06-25T21:59:15Z</dcterms:modified>
</cp:coreProperties>
</file>