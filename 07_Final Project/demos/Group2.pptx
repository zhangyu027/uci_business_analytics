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Raleway"/>
      <p:regular r:id="rId21"/>
      <p:bold r:id="rId22"/>
      <p:italic r:id="rId23"/>
      <p:boldItalic r:id="rId24"/>
    </p:embeddedFont>
    <p:embeddedFont>
      <p:font typeface="La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aleway-bold.fntdata"/><Relationship Id="rId21" Type="http://schemas.openxmlformats.org/officeDocument/2006/relationships/font" Target="fonts/Raleway-regular.fntdata"/><Relationship Id="rId24" Type="http://schemas.openxmlformats.org/officeDocument/2006/relationships/font" Target="fonts/Raleway-boldItalic.fntdata"/><Relationship Id="rId23" Type="http://schemas.openxmlformats.org/officeDocument/2006/relationships/font" Target="fonts/Raleway-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2efe27b169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2efe27b169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2efe27b169_6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2efe27b169_6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TW">
                <a:solidFill>
                  <a:srgbClr val="595959"/>
                </a:solidFill>
              </a:rPr>
              <a:t>1.By analyzing the customer data and their spending scores, businesses can identify the target audience with the highest potential for response to marketing campaigns. </a:t>
            </a:r>
            <a:endParaRPr>
              <a:solidFill>
                <a:srgbClr val="595959"/>
              </a:solidFill>
            </a:endParaRPr>
          </a:p>
          <a:p>
            <a:pPr indent="0" lvl="0" marL="0" rtl="0" algn="l">
              <a:spcBef>
                <a:spcPts val="0"/>
              </a:spcBef>
              <a:spcAft>
                <a:spcPts val="0"/>
              </a:spcAft>
              <a:buNone/>
            </a:pPr>
            <a:r>
              <a:rPr lang="zh-TW">
                <a:solidFill>
                  <a:srgbClr val="595959"/>
                </a:solidFill>
              </a:rPr>
              <a:t>This can help optimize marketing efforts and allocate resources effectively.</a:t>
            </a:r>
            <a:br>
              <a:rPr lang="zh-TW">
                <a:solidFill>
                  <a:srgbClr val="595959"/>
                </a:solidFill>
              </a:rPr>
            </a:br>
            <a:br>
              <a:rPr lang="zh-TW">
                <a:solidFill>
                  <a:srgbClr val="595959"/>
                </a:solidFill>
              </a:rPr>
            </a:br>
            <a:r>
              <a:rPr lang="zh-TW">
                <a:solidFill>
                  <a:srgbClr val="595959"/>
                </a:solidFill>
              </a:rPr>
              <a:t>2.The data on annual income and spending score can provide insights into customer preferences and price sensitivity. </a:t>
            </a:r>
            <a:endParaRPr>
              <a:solidFill>
                <a:srgbClr val="595959"/>
              </a:solidFill>
            </a:endParaRPr>
          </a:p>
          <a:p>
            <a:pPr indent="0" lvl="0" marL="0" rtl="0" algn="l">
              <a:spcBef>
                <a:spcPts val="0"/>
              </a:spcBef>
              <a:spcAft>
                <a:spcPts val="0"/>
              </a:spcAft>
              <a:buClr>
                <a:schemeClr val="dk1"/>
              </a:buClr>
              <a:buSzPts val="1100"/>
              <a:buFont typeface="Arial"/>
              <a:buNone/>
            </a:pPr>
            <a:r>
              <a:rPr lang="zh-TW">
                <a:solidFill>
                  <a:srgbClr val="595959"/>
                </a:solidFill>
              </a:rPr>
              <a:t>This information can be used to determine optimal pricing strategies and position products to attract target customers.</a:t>
            </a:r>
            <a:endParaRPr>
              <a:solidFill>
                <a:srgbClr val="595959"/>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2efe27b169_6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2efe27b169_6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2efe27b169_6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2efe27b169_6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2efe27b169_6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2efe27b169_6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2efe27b169_6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2efe27b169_6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2efe27b169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2efe27b169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2efe27b169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2efe27b169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2efe27b169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2efe27b169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2efe27b169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2efe27b169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2efe27b169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2efe27b169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582be9136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582be9136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2efe27b169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2efe27b169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TW" sz="1200">
                <a:solidFill>
                  <a:srgbClr val="595959"/>
                </a:solidFill>
                <a:latin typeface="Lato"/>
                <a:ea typeface="Lato"/>
                <a:cs typeface="Lato"/>
                <a:sym typeface="Lato"/>
              </a:rPr>
              <a:t>For high spending score  groups, we will offer annual special service to maintain customer spending with same price.</a:t>
            </a:r>
            <a:br>
              <a:rPr lang="zh-TW" sz="1200">
                <a:solidFill>
                  <a:srgbClr val="595959"/>
                </a:solidFill>
                <a:latin typeface="Lato"/>
                <a:ea typeface="Lato"/>
                <a:cs typeface="Lato"/>
                <a:sym typeface="Lato"/>
              </a:rPr>
            </a:br>
            <a:r>
              <a:rPr lang="zh-TW" sz="1200">
                <a:solidFill>
                  <a:srgbClr val="595959"/>
                </a:solidFill>
                <a:latin typeface="Lato"/>
                <a:ea typeface="Lato"/>
                <a:cs typeface="Lato"/>
                <a:sym typeface="Lato"/>
              </a:rPr>
              <a:t>For middle spending score, we can sales as pack for them.</a:t>
            </a:r>
            <a:br>
              <a:rPr lang="zh-TW" sz="1200">
                <a:solidFill>
                  <a:srgbClr val="595959"/>
                </a:solidFill>
                <a:latin typeface="Lato"/>
                <a:ea typeface="Lato"/>
                <a:cs typeface="Lato"/>
                <a:sym typeface="Lato"/>
              </a:rPr>
            </a:br>
            <a:r>
              <a:rPr lang="zh-TW" sz="1200">
                <a:solidFill>
                  <a:srgbClr val="595959"/>
                </a:solidFill>
                <a:latin typeface="Lato"/>
                <a:ea typeface="Lato"/>
                <a:cs typeface="Lato"/>
                <a:sym typeface="Lato"/>
              </a:rPr>
              <a:t>For low spending score,  we can offer some discount for them to increase the spending score.</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2efe27b169_6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2efe27b169_6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rPr>
              <a:t>give each clustering </a:t>
            </a:r>
            <a:r>
              <a:rPr lang="zh-TW"/>
              <a:t>a specific label and title</a:t>
            </a:r>
            <a:endParaRPr/>
          </a:p>
          <a:p>
            <a:pPr indent="0" lvl="0" marL="0" rtl="0" algn="l">
              <a:spcBef>
                <a:spcPts val="0"/>
              </a:spcBef>
              <a:spcAft>
                <a:spcPts val="0"/>
              </a:spcAft>
              <a:buNone/>
            </a:pPr>
            <a:r>
              <a:rPr lang="zh-TW"/>
              <a:t>conclusion need some action</a:t>
            </a:r>
            <a:endParaRPr/>
          </a:p>
          <a:p>
            <a:pPr indent="0" lvl="0" marL="0" rtl="0" algn="l">
              <a:spcBef>
                <a:spcPts val="0"/>
              </a:spcBef>
              <a:spcAft>
                <a:spcPts val="0"/>
              </a:spcAft>
              <a:buNone/>
            </a:pPr>
            <a:r>
              <a:rPr lang="zh-TW"/>
              <a:t>what we need to do? what I going to use this to do anything?</a:t>
            </a:r>
            <a:endParaRPr/>
          </a:p>
          <a:p>
            <a:pPr indent="0" lvl="0" marL="0" rtl="0" algn="l">
              <a:spcBef>
                <a:spcPts val="0"/>
              </a:spcBef>
              <a:spcAft>
                <a:spcPts val="0"/>
              </a:spcAft>
              <a:buNone/>
            </a:pPr>
            <a:r>
              <a:rPr lang="zh-TW"/>
              <a:t>three different plan like index</a:t>
            </a:r>
            <a:endParaRPr/>
          </a:p>
          <a:p>
            <a:pPr indent="0" lvl="0" marL="0" rtl="0" algn="l">
              <a:spcBef>
                <a:spcPts val="0"/>
              </a:spcBef>
              <a:spcAft>
                <a:spcPts val="0"/>
              </a:spcAft>
              <a:buNone/>
            </a:pPr>
            <a:r>
              <a:rPr lang="zh-TW"/>
              <a:t>plan A will have how much profit?</a:t>
            </a:r>
            <a:endParaRPr/>
          </a:p>
          <a:p>
            <a:pPr indent="0" lvl="0" marL="0" rtl="0" algn="l">
              <a:spcBef>
                <a:spcPts val="0"/>
              </a:spcBef>
              <a:spcAft>
                <a:spcPts val="0"/>
              </a:spcAft>
              <a:buNone/>
            </a:pPr>
            <a:r>
              <a:rPr lang="zh-TW"/>
              <a:t>plan B</a:t>
            </a:r>
            <a:endParaRPr/>
          </a:p>
          <a:p>
            <a:pPr indent="0" lvl="0" marL="0" rtl="0" algn="l">
              <a:spcBef>
                <a:spcPts val="0"/>
              </a:spcBef>
              <a:spcAft>
                <a:spcPts val="0"/>
              </a:spcAft>
              <a:buNone/>
            </a:pPr>
            <a:r>
              <a:rPr lang="zh-TW"/>
              <a:t>plan C</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481050" y="1352550"/>
            <a:ext cx="8462700" cy="2438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Increase the mall's profitability through appropriate marketing strategies and pricing</a:t>
            </a:r>
            <a:endParaRPr/>
          </a:p>
          <a:p>
            <a:pPr indent="0" lvl="0" marL="0" rtl="0" algn="l">
              <a:spcBef>
                <a:spcPts val="0"/>
              </a:spcBef>
              <a:spcAft>
                <a:spcPts val="0"/>
              </a:spcAft>
              <a:buNone/>
            </a:pPr>
            <a:r>
              <a:t/>
            </a:r>
            <a:endParaRPr/>
          </a:p>
        </p:txBody>
      </p:sp>
      <p:pic>
        <p:nvPicPr>
          <p:cNvPr id="87" name="Google Shape;87;p13"/>
          <p:cNvPicPr preferRelativeResize="0"/>
          <p:nvPr/>
        </p:nvPicPr>
        <p:blipFill>
          <a:blip r:embed="rId3">
            <a:alphaModFix/>
          </a:blip>
          <a:stretch>
            <a:fillRect/>
          </a:stretch>
        </p:blipFill>
        <p:spPr>
          <a:xfrm>
            <a:off x="6600650" y="2828350"/>
            <a:ext cx="2137475" cy="21374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ctrTitle"/>
          </p:nvPr>
        </p:nvSpPr>
        <p:spPr>
          <a:xfrm>
            <a:off x="170575" y="132300"/>
            <a:ext cx="7688100" cy="782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Abstract—</a:t>
            </a:r>
            <a:r>
              <a:rPr lang="zh-TW"/>
              <a:t>Statement of problem</a:t>
            </a:r>
            <a:r>
              <a:rPr lang="zh-TW"/>
              <a:t> </a:t>
            </a:r>
            <a:endParaRPr/>
          </a:p>
        </p:txBody>
      </p:sp>
      <p:sp>
        <p:nvSpPr>
          <p:cNvPr id="93" name="Google Shape;93;p14"/>
          <p:cNvSpPr txBox="1"/>
          <p:nvPr>
            <p:ph idx="1" type="subTitle"/>
          </p:nvPr>
        </p:nvSpPr>
        <p:spPr>
          <a:xfrm>
            <a:off x="253575" y="1330775"/>
            <a:ext cx="8483100" cy="347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1800">
                <a:latin typeface="Arial"/>
                <a:ea typeface="Arial"/>
                <a:cs typeface="Arial"/>
                <a:sym typeface="Arial"/>
              </a:rPr>
              <a:t>1. The mall lacks effective marketing strategies that align with its target market and overall business goals. There is a need to assess the current marketing efforts and identify areas of improvement.</a:t>
            </a:r>
            <a:endParaRPr sz="1800">
              <a:latin typeface="Arial"/>
              <a:ea typeface="Arial"/>
              <a:cs typeface="Arial"/>
              <a:sym typeface="Arial"/>
            </a:endParaRPr>
          </a:p>
          <a:p>
            <a:pPr indent="0" lvl="0" marL="0" rtl="0" algn="l">
              <a:spcBef>
                <a:spcPts val="0"/>
              </a:spcBef>
              <a:spcAft>
                <a:spcPts val="0"/>
              </a:spcAft>
              <a:buNone/>
            </a:pPr>
            <a:r>
              <a:t/>
            </a:r>
            <a:endParaRPr sz="1800">
              <a:latin typeface="Arial"/>
              <a:ea typeface="Arial"/>
              <a:cs typeface="Arial"/>
              <a:sym typeface="Arial"/>
            </a:endParaRPr>
          </a:p>
          <a:p>
            <a:pPr indent="0" lvl="0" marL="0" rtl="0" algn="l">
              <a:spcBef>
                <a:spcPts val="0"/>
              </a:spcBef>
              <a:spcAft>
                <a:spcPts val="0"/>
              </a:spcAft>
              <a:buNone/>
            </a:pPr>
            <a:r>
              <a:t/>
            </a:r>
            <a:endParaRPr sz="1800">
              <a:latin typeface="Arial"/>
              <a:ea typeface="Arial"/>
              <a:cs typeface="Arial"/>
              <a:sym typeface="Arial"/>
            </a:endParaRPr>
          </a:p>
          <a:p>
            <a:pPr indent="0" lvl="0" marL="0" rtl="0" algn="l">
              <a:spcBef>
                <a:spcPts val="0"/>
              </a:spcBef>
              <a:spcAft>
                <a:spcPts val="0"/>
              </a:spcAft>
              <a:buNone/>
            </a:pPr>
            <a:r>
              <a:rPr lang="zh-TW" sz="1800">
                <a:latin typeface="Arial"/>
                <a:ea typeface="Arial"/>
                <a:cs typeface="Arial"/>
                <a:sym typeface="Arial"/>
              </a:rPr>
              <a:t>2. There might be a mismatch between the perceived value of the products or services and their pricing. Additionally, the pricing strategies need to consider market dynamics, competitive landscape, and customer preferences. It is essential to evaluate and refine the pricing approach to ensure optimal profitability without compromising customer satisfaction.</a:t>
            </a:r>
            <a:endParaRPr sz="1800">
              <a:latin typeface="Arial"/>
              <a:ea typeface="Arial"/>
              <a:cs typeface="Arial"/>
              <a:sym typeface="Arial"/>
            </a:endParaRPr>
          </a:p>
        </p:txBody>
      </p:sp>
      <p:pic>
        <p:nvPicPr>
          <p:cNvPr id="94" name="Google Shape;94;p14"/>
          <p:cNvPicPr preferRelativeResize="0"/>
          <p:nvPr/>
        </p:nvPicPr>
        <p:blipFill>
          <a:blip r:embed="rId3">
            <a:alphaModFix/>
          </a:blip>
          <a:stretch>
            <a:fillRect/>
          </a:stretch>
        </p:blipFill>
        <p:spPr>
          <a:xfrm>
            <a:off x="7954275" y="173700"/>
            <a:ext cx="782400" cy="782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ctrTitle"/>
          </p:nvPr>
        </p:nvSpPr>
        <p:spPr>
          <a:xfrm>
            <a:off x="170575" y="132300"/>
            <a:ext cx="7688100" cy="782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Abstract—Business questions </a:t>
            </a:r>
            <a:endParaRPr/>
          </a:p>
        </p:txBody>
      </p:sp>
      <p:sp>
        <p:nvSpPr>
          <p:cNvPr id="100" name="Google Shape;100;p15"/>
          <p:cNvSpPr txBox="1"/>
          <p:nvPr>
            <p:ph idx="1" type="subTitle"/>
          </p:nvPr>
        </p:nvSpPr>
        <p:spPr>
          <a:xfrm>
            <a:off x="253575" y="1330775"/>
            <a:ext cx="8483100" cy="347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Arial"/>
              <a:buAutoNum type="arabicPeriod"/>
            </a:pPr>
            <a:r>
              <a:rPr lang="zh-TW" sz="1800">
                <a:latin typeface="Arial"/>
                <a:ea typeface="Arial"/>
                <a:cs typeface="Arial"/>
                <a:sym typeface="Arial"/>
              </a:rPr>
              <a:t>Optimal marketing campaign targeting</a:t>
            </a:r>
            <a:endParaRPr sz="1800">
              <a:latin typeface="Arial"/>
              <a:ea typeface="Arial"/>
              <a:cs typeface="Arial"/>
              <a:sym typeface="Arial"/>
            </a:endParaRPr>
          </a:p>
          <a:p>
            <a:pPr indent="0" lvl="0" marL="0" rtl="0" algn="l">
              <a:spcBef>
                <a:spcPts val="0"/>
              </a:spcBef>
              <a:spcAft>
                <a:spcPts val="0"/>
              </a:spcAft>
              <a:buNone/>
            </a:pPr>
            <a:r>
              <a:t/>
            </a:r>
            <a:endParaRPr sz="1800">
              <a:latin typeface="Arial"/>
              <a:ea typeface="Arial"/>
              <a:cs typeface="Arial"/>
              <a:sym typeface="Arial"/>
            </a:endParaRPr>
          </a:p>
          <a:p>
            <a:pPr indent="0" lvl="0" marL="0" rtl="0" algn="l">
              <a:spcBef>
                <a:spcPts val="0"/>
              </a:spcBef>
              <a:spcAft>
                <a:spcPts val="0"/>
              </a:spcAft>
              <a:buNone/>
            </a:pPr>
            <a:r>
              <a:t/>
            </a:r>
            <a:endParaRPr sz="1800">
              <a:latin typeface="Arial"/>
              <a:ea typeface="Arial"/>
              <a:cs typeface="Arial"/>
              <a:sym typeface="Arial"/>
            </a:endParaRPr>
          </a:p>
          <a:p>
            <a:pPr indent="0" lvl="0" marL="0" rtl="0" algn="l">
              <a:spcBef>
                <a:spcPts val="0"/>
              </a:spcBef>
              <a:spcAft>
                <a:spcPts val="0"/>
              </a:spcAft>
              <a:buNone/>
            </a:pPr>
            <a:r>
              <a:t/>
            </a:r>
            <a:endParaRPr sz="1800">
              <a:latin typeface="Arial"/>
              <a:ea typeface="Arial"/>
              <a:cs typeface="Arial"/>
              <a:sym typeface="Arial"/>
            </a:endParaRPr>
          </a:p>
          <a:p>
            <a:pPr indent="0" lvl="0" marL="0" rtl="0" algn="l">
              <a:spcBef>
                <a:spcPts val="0"/>
              </a:spcBef>
              <a:spcAft>
                <a:spcPts val="0"/>
              </a:spcAft>
              <a:buNone/>
            </a:pPr>
            <a:r>
              <a:rPr lang="zh-TW" sz="1800">
                <a:latin typeface="Arial"/>
                <a:ea typeface="Arial"/>
                <a:cs typeface="Arial"/>
                <a:sym typeface="Arial"/>
              </a:rPr>
              <a:t>2.     Product pricing and positioning</a:t>
            </a:r>
            <a:endParaRPr sz="1800">
              <a:latin typeface="Arial"/>
              <a:ea typeface="Arial"/>
              <a:cs typeface="Arial"/>
              <a:sym typeface="Arial"/>
            </a:endParaRPr>
          </a:p>
          <a:p>
            <a:pPr indent="0" lvl="0" marL="0" rtl="0" algn="l">
              <a:spcBef>
                <a:spcPts val="0"/>
              </a:spcBef>
              <a:spcAft>
                <a:spcPts val="0"/>
              </a:spcAft>
              <a:buNone/>
            </a:pPr>
            <a:r>
              <a:t/>
            </a:r>
            <a:endParaRPr sz="1800">
              <a:latin typeface="Arial"/>
              <a:ea typeface="Arial"/>
              <a:cs typeface="Arial"/>
              <a:sym typeface="Arial"/>
            </a:endParaRPr>
          </a:p>
          <a:p>
            <a:pPr indent="0" lvl="0" marL="0" rtl="0" algn="l">
              <a:spcBef>
                <a:spcPts val="0"/>
              </a:spcBef>
              <a:spcAft>
                <a:spcPts val="0"/>
              </a:spcAft>
              <a:buNone/>
            </a:pPr>
            <a:r>
              <a:t/>
            </a:r>
            <a:endParaRPr sz="1800">
              <a:latin typeface="Arial"/>
              <a:ea typeface="Arial"/>
              <a:cs typeface="Arial"/>
              <a:sym typeface="Arial"/>
            </a:endParaRPr>
          </a:p>
          <a:p>
            <a:pPr indent="0" lvl="0" marL="0" rtl="0" algn="l">
              <a:spcBef>
                <a:spcPts val="0"/>
              </a:spcBef>
              <a:spcAft>
                <a:spcPts val="0"/>
              </a:spcAft>
              <a:buNone/>
            </a:pPr>
            <a:r>
              <a:t/>
            </a:r>
            <a:endParaRPr sz="180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ctrTitle"/>
          </p:nvPr>
        </p:nvSpPr>
        <p:spPr>
          <a:xfrm>
            <a:off x="170575" y="132300"/>
            <a:ext cx="7688100" cy="782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Introduction </a:t>
            </a:r>
            <a:endParaRPr/>
          </a:p>
        </p:txBody>
      </p:sp>
      <p:sp>
        <p:nvSpPr>
          <p:cNvPr id="106" name="Google Shape;106;p16"/>
          <p:cNvSpPr txBox="1"/>
          <p:nvPr>
            <p:ph idx="1" type="subTitle"/>
          </p:nvPr>
        </p:nvSpPr>
        <p:spPr>
          <a:xfrm>
            <a:off x="665500" y="1359625"/>
            <a:ext cx="7688100" cy="3565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1800"/>
              <a:t>In the ever-evolving retail industry, malls are constantly seeking ways to increase profitability and stay ahead of the competition.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zh-TW" sz="1800"/>
              <a:t>Two critical factors that play a significant role in achieving this goal are implementing appropriate marketing strategies and optimizing pricing tactics. By leveraging these strategies effectively, malls can attract more footfall, increase sales, and ultimately enhance profitability. </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type="ctrTitle"/>
          </p:nvPr>
        </p:nvSpPr>
        <p:spPr>
          <a:xfrm>
            <a:off x="170575" y="132300"/>
            <a:ext cx="7688100" cy="782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Methodology</a:t>
            </a:r>
            <a:endParaRPr/>
          </a:p>
        </p:txBody>
      </p:sp>
      <p:sp>
        <p:nvSpPr>
          <p:cNvPr id="112" name="Google Shape;112;p17"/>
          <p:cNvSpPr txBox="1"/>
          <p:nvPr>
            <p:ph idx="1" type="subTitle"/>
          </p:nvPr>
        </p:nvSpPr>
        <p:spPr>
          <a:xfrm>
            <a:off x="636325" y="1411450"/>
            <a:ext cx="7688100" cy="2209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113" name="Google Shape;113;p17"/>
          <p:cNvPicPr preferRelativeResize="0"/>
          <p:nvPr/>
        </p:nvPicPr>
        <p:blipFill>
          <a:blip r:embed="rId3">
            <a:alphaModFix/>
          </a:blip>
          <a:stretch>
            <a:fillRect/>
          </a:stretch>
        </p:blipFill>
        <p:spPr>
          <a:xfrm>
            <a:off x="1786875" y="1480875"/>
            <a:ext cx="1689850" cy="1689850"/>
          </a:xfrm>
          <a:prstGeom prst="rect">
            <a:avLst/>
          </a:prstGeom>
          <a:noFill/>
          <a:ln>
            <a:noFill/>
          </a:ln>
        </p:spPr>
      </p:pic>
      <p:pic>
        <p:nvPicPr>
          <p:cNvPr id="114" name="Google Shape;114;p17"/>
          <p:cNvPicPr preferRelativeResize="0"/>
          <p:nvPr/>
        </p:nvPicPr>
        <p:blipFill>
          <a:blip r:embed="rId4">
            <a:alphaModFix/>
          </a:blip>
          <a:stretch>
            <a:fillRect/>
          </a:stretch>
        </p:blipFill>
        <p:spPr>
          <a:xfrm>
            <a:off x="5218475" y="1480890"/>
            <a:ext cx="1689850" cy="1689820"/>
          </a:xfrm>
          <a:prstGeom prst="rect">
            <a:avLst/>
          </a:prstGeom>
          <a:noFill/>
          <a:ln>
            <a:noFill/>
          </a:ln>
        </p:spPr>
      </p:pic>
      <p:sp>
        <p:nvSpPr>
          <p:cNvPr id="115" name="Google Shape;115;p17"/>
          <p:cNvSpPr txBox="1"/>
          <p:nvPr/>
        </p:nvSpPr>
        <p:spPr>
          <a:xfrm>
            <a:off x="725525" y="3515300"/>
            <a:ext cx="7977600" cy="13296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1200"/>
              </a:spcBef>
              <a:spcAft>
                <a:spcPts val="0"/>
              </a:spcAft>
              <a:buSzPts val="1800"/>
              <a:buAutoNum type="arabicPeriod"/>
            </a:pPr>
            <a:r>
              <a:rPr lang="zh-TW" sz="1800"/>
              <a:t>Using Excel and Python to analyze which range of age and annual  income is mall main target for the next season.  </a:t>
            </a:r>
            <a:endParaRPr sz="1800"/>
          </a:p>
          <a:p>
            <a:pPr indent="-317500" lvl="0" marL="457200" marR="0" rtl="0" algn="l">
              <a:lnSpc>
                <a:spcPct val="115000"/>
              </a:lnSpc>
              <a:spcBef>
                <a:spcPts val="0"/>
              </a:spcBef>
              <a:spcAft>
                <a:spcPts val="0"/>
              </a:spcAft>
              <a:buSzPts val="1400"/>
              <a:buAutoNum type="arabicPeriod"/>
            </a:pPr>
            <a:r>
              <a:rPr lang="zh-TW" sz="1800"/>
              <a:t>Focus on using histogram plots, box plots, clustering by k-means to describe data.</a:t>
            </a:r>
            <a:br>
              <a:rPr lang="zh-TW" sz="2000">
                <a:solidFill>
                  <a:schemeClr val="accent1"/>
                </a:solidFill>
              </a:rPr>
            </a:br>
            <a:endParaRPr sz="2000">
              <a:solidFill>
                <a:schemeClr val="accen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8"/>
          <p:cNvSpPr txBox="1"/>
          <p:nvPr>
            <p:ph type="ctrTitle"/>
          </p:nvPr>
        </p:nvSpPr>
        <p:spPr>
          <a:xfrm>
            <a:off x="170575" y="132300"/>
            <a:ext cx="7688100" cy="782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Methodology</a:t>
            </a:r>
            <a:endParaRPr/>
          </a:p>
        </p:txBody>
      </p:sp>
      <p:sp>
        <p:nvSpPr>
          <p:cNvPr id="121" name="Google Shape;121;p18"/>
          <p:cNvSpPr txBox="1"/>
          <p:nvPr>
            <p:ph idx="1" type="subTitle"/>
          </p:nvPr>
        </p:nvSpPr>
        <p:spPr>
          <a:xfrm>
            <a:off x="729625" y="1504750"/>
            <a:ext cx="7688100" cy="2209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122" name="Google Shape;122;p18"/>
          <p:cNvPicPr preferRelativeResize="0"/>
          <p:nvPr/>
        </p:nvPicPr>
        <p:blipFill>
          <a:blip r:embed="rId3">
            <a:alphaModFix/>
          </a:blip>
          <a:stretch>
            <a:fillRect/>
          </a:stretch>
        </p:blipFill>
        <p:spPr>
          <a:xfrm>
            <a:off x="729625" y="1646925"/>
            <a:ext cx="1685075" cy="1685075"/>
          </a:xfrm>
          <a:prstGeom prst="rect">
            <a:avLst/>
          </a:prstGeom>
          <a:noFill/>
          <a:ln>
            <a:noFill/>
          </a:ln>
        </p:spPr>
      </p:pic>
      <p:pic>
        <p:nvPicPr>
          <p:cNvPr id="123" name="Google Shape;123;p18"/>
          <p:cNvPicPr preferRelativeResize="0"/>
          <p:nvPr/>
        </p:nvPicPr>
        <p:blipFill>
          <a:blip r:embed="rId4">
            <a:alphaModFix/>
          </a:blip>
          <a:stretch>
            <a:fillRect/>
          </a:stretch>
        </p:blipFill>
        <p:spPr>
          <a:xfrm>
            <a:off x="3470225" y="1532763"/>
            <a:ext cx="1799250" cy="1799250"/>
          </a:xfrm>
          <a:prstGeom prst="rect">
            <a:avLst/>
          </a:prstGeom>
          <a:noFill/>
          <a:ln>
            <a:noFill/>
          </a:ln>
        </p:spPr>
      </p:pic>
      <p:pic>
        <p:nvPicPr>
          <p:cNvPr id="124" name="Google Shape;124;p18"/>
          <p:cNvPicPr preferRelativeResize="0"/>
          <p:nvPr/>
        </p:nvPicPr>
        <p:blipFill>
          <a:blip r:embed="rId5">
            <a:alphaModFix/>
          </a:blip>
          <a:stretch>
            <a:fillRect/>
          </a:stretch>
        </p:blipFill>
        <p:spPr>
          <a:xfrm>
            <a:off x="6682275" y="1532763"/>
            <a:ext cx="1799250" cy="1799250"/>
          </a:xfrm>
          <a:prstGeom prst="rect">
            <a:avLst/>
          </a:prstGeom>
          <a:noFill/>
          <a:ln>
            <a:noFill/>
          </a:ln>
        </p:spPr>
      </p:pic>
      <p:sp>
        <p:nvSpPr>
          <p:cNvPr id="125" name="Google Shape;125;p18"/>
          <p:cNvSpPr txBox="1"/>
          <p:nvPr/>
        </p:nvSpPr>
        <p:spPr>
          <a:xfrm>
            <a:off x="1019675" y="3713950"/>
            <a:ext cx="6976200" cy="1200600"/>
          </a:xfrm>
          <a:prstGeom prst="rect">
            <a:avLst/>
          </a:prstGeom>
          <a:noFill/>
          <a:ln>
            <a:noFill/>
          </a:ln>
        </p:spPr>
        <p:txBody>
          <a:bodyPr anchorCtr="0" anchor="t" bIns="91425" lIns="91425" spcFirstLastPara="1" rIns="91425" wrap="square" tIns="91425">
            <a:spAutoFit/>
          </a:bodyPr>
          <a:lstStyle/>
          <a:p>
            <a:pPr indent="0" lvl="0" marL="450000" rtl="0" algn="l">
              <a:lnSpc>
                <a:spcPct val="115000"/>
              </a:lnSpc>
              <a:spcBef>
                <a:spcPts val="1200"/>
              </a:spcBef>
              <a:spcAft>
                <a:spcPts val="1200"/>
              </a:spcAft>
              <a:buNone/>
            </a:pPr>
            <a:r>
              <a:rPr lang="zh-TW" sz="2000"/>
              <a:t>After checking for missing values and converting gender to numerical values, analysis using histogram plots, box plots, clustering by k-means. </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9"/>
          <p:cNvSpPr txBox="1"/>
          <p:nvPr>
            <p:ph type="ctrTitle"/>
          </p:nvPr>
        </p:nvSpPr>
        <p:spPr>
          <a:xfrm>
            <a:off x="170575" y="132300"/>
            <a:ext cx="8371200" cy="782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Techniques of Descriptive Analytics</a:t>
            </a:r>
            <a:endParaRPr/>
          </a:p>
        </p:txBody>
      </p:sp>
      <p:pic>
        <p:nvPicPr>
          <p:cNvPr id="131" name="Google Shape;131;p19"/>
          <p:cNvPicPr preferRelativeResize="0"/>
          <p:nvPr/>
        </p:nvPicPr>
        <p:blipFill>
          <a:blip r:embed="rId3">
            <a:alphaModFix/>
          </a:blip>
          <a:stretch>
            <a:fillRect/>
          </a:stretch>
        </p:blipFill>
        <p:spPr>
          <a:xfrm>
            <a:off x="554188" y="862963"/>
            <a:ext cx="7339175" cy="3417575"/>
          </a:xfrm>
          <a:prstGeom prst="rect">
            <a:avLst/>
          </a:prstGeom>
          <a:noFill/>
          <a:ln>
            <a:noFill/>
          </a:ln>
        </p:spPr>
      </p:pic>
      <p:sp>
        <p:nvSpPr>
          <p:cNvPr id="132" name="Google Shape;132;p19"/>
          <p:cNvSpPr txBox="1"/>
          <p:nvPr>
            <p:ph idx="1" type="subTitle"/>
          </p:nvPr>
        </p:nvSpPr>
        <p:spPr>
          <a:xfrm>
            <a:off x="250325" y="4414425"/>
            <a:ext cx="8371200" cy="54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688"/>
              <a:buNone/>
            </a:pPr>
            <a:r>
              <a:rPr lang="zh-TW" sz="1700"/>
              <a:t>In order to overview into our data and analyze the insights we looked at the following descriptive statistics about customers.</a:t>
            </a:r>
            <a:endParaRPr sz="1700"/>
          </a:p>
          <a:p>
            <a:pPr indent="0" lvl="0" marL="0" rtl="0" algn="l">
              <a:spcBef>
                <a:spcPts val="0"/>
              </a:spcBef>
              <a:spcAft>
                <a:spcPts val="0"/>
              </a:spcAft>
              <a:buSzPts val="688"/>
              <a:buNone/>
            </a:pPr>
            <a:r>
              <a:rPr lang="zh-TW" sz="1500"/>
              <a:t>​</a:t>
            </a:r>
            <a:endParaRPr sz="15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0"/>
          <p:cNvSpPr txBox="1"/>
          <p:nvPr>
            <p:ph type="ctrTitle"/>
          </p:nvPr>
        </p:nvSpPr>
        <p:spPr>
          <a:xfrm>
            <a:off x="170575" y="132300"/>
            <a:ext cx="7688100" cy="782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EDA: visualization</a:t>
            </a:r>
            <a:endParaRPr/>
          </a:p>
          <a:p>
            <a:pPr indent="0" lvl="0" marL="0" rtl="0" algn="l">
              <a:spcBef>
                <a:spcPts val="0"/>
              </a:spcBef>
              <a:spcAft>
                <a:spcPts val="0"/>
              </a:spcAft>
              <a:buNone/>
            </a:pPr>
            <a:r>
              <a:t/>
            </a:r>
            <a:endParaRPr/>
          </a:p>
        </p:txBody>
      </p:sp>
      <p:sp>
        <p:nvSpPr>
          <p:cNvPr id="138" name="Google Shape;138;p20"/>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139" name="Google Shape;139;p20"/>
          <p:cNvPicPr preferRelativeResize="0"/>
          <p:nvPr/>
        </p:nvPicPr>
        <p:blipFill>
          <a:blip r:embed="rId3">
            <a:alphaModFix/>
          </a:blip>
          <a:stretch>
            <a:fillRect/>
          </a:stretch>
        </p:blipFill>
        <p:spPr>
          <a:xfrm>
            <a:off x="1675" y="1290100"/>
            <a:ext cx="9144000" cy="3625823"/>
          </a:xfrm>
          <a:prstGeom prst="rect">
            <a:avLst/>
          </a:prstGeom>
          <a:noFill/>
          <a:ln>
            <a:noFill/>
          </a:ln>
        </p:spPr>
      </p:pic>
      <p:sp>
        <p:nvSpPr>
          <p:cNvPr id="140" name="Google Shape;140;p20"/>
          <p:cNvSpPr txBox="1"/>
          <p:nvPr>
            <p:ph idx="1" type="subTitle"/>
          </p:nvPr>
        </p:nvSpPr>
        <p:spPr>
          <a:xfrm>
            <a:off x="359750" y="872675"/>
            <a:ext cx="8371200" cy="541200"/>
          </a:xfrm>
          <a:prstGeom prst="rect">
            <a:avLst/>
          </a:prstGeom>
        </p:spPr>
        <p:txBody>
          <a:bodyPr anchorCtr="0" anchor="t" bIns="91425" lIns="91425" spcFirstLastPara="1" rIns="91425" wrap="square" tIns="91425">
            <a:normAutofit fontScale="77500"/>
          </a:bodyPr>
          <a:lstStyle/>
          <a:p>
            <a:pPr indent="0" lvl="0" marL="0" rtl="0" algn="l">
              <a:spcBef>
                <a:spcPts val="0"/>
              </a:spcBef>
              <a:spcAft>
                <a:spcPts val="0"/>
              </a:spcAft>
              <a:buNone/>
            </a:pPr>
            <a:r>
              <a:rPr lang="zh-TW" sz="1920"/>
              <a:t>Main  customers groups: Female/ 30-35 Age/ Annual income around 60k/ Spending score: 50 </a:t>
            </a:r>
            <a:r>
              <a:rPr lang="zh-TW"/>
              <a: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1"/>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Correlation</a:t>
            </a:r>
            <a:endParaRPr/>
          </a:p>
          <a:p>
            <a:pPr indent="0" lvl="0" marL="0" rtl="0" algn="l">
              <a:spcBef>
                <a:spcPts val="0"/>
              </a:spcBef>
              <a:spcAft>
                <a:spcPts val="0"/>
              </a:spcAft>
              <a:buNone/>
            </a:pPr>
            <a:r>
              <a:rPr b="0" lang="zh-TW" sz="1600">
                <a:solidFill>
                  <a:schemeClr val="accent1"/>
                </a:solidFill>
                <a:latin typeface="Lato"/>
                <a:ea typeface="Lato"/>
                <a:cs typeface="Lato"/>
                <a:sym typeface="Lato"/>
              </a:rPr>
              <a:t> with </a:t>
            </a:r>
            <a:r>
              <a:rPr b="0" lang="zh-TW" sz="1600">
                <a:solidFill>
                  <a:schemeClr val="accent1"/>
                </a:solidFill>
                <a:latin typeface="Lato"/>
                <a:ea typeface="Lato"/>
                <a:cs typeface="Lato"/>
                <a:sym typeface="Lato"/>
              </a:rPr>
              <a:t>Spending Score</a:t>
            </a:r>
            <a:endParaRPr/>
          </a:p>
        </p:txBody>
      </p:sp>
      <p:sp>
        <p:nvSpPr>
          <p:cNvPr id="146" name="Google Shape;146;p21"/>
          <p:cNvSpPr txBox="1"/>
          <p:nvPr>
            <p:ph idx="1" type="subTitle"/>
          </p:nvPr>
        </p:nvSpPr>
        <p:spPr>
          <a:xfrm>
            <a:off x="724950" y="3161525"/>
            <a:ext cx="3300900" cy="130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Most related: </a:t>
            </a:r>
            <a:br>
              <a:rPr lang="zh-TW"/>
            </a:br>
            <a:r>
              <a:rPr lang="zh-TW"/>
              <a:t>1. Gender</a:t>
            </a:r>
            <a:endParaRPr/>
          </a:p>
          <a:p>
            <a:pPr indent="0" lvl="0" marL="0" rtl="0" algn="l">
              <a:spcBef>
                <a:spcPts val="0"/>
              </a:spcBef>
              <a:spcAft>
                <a:spcPts val="0"/>
              </a:spcAft>
              <a:buNone/>
            </a:pPr>
            <a:r>
              <a:rPr lang="zh-TW"/>
              <a:t>2. </a:t>
            </a:r>
            <a:r>
              <a:rPr lang="zh-TW"/>
              <a:t>Income</a:t>
            </a:r>
            <a:endParaRPr/>
          </a:p>
        </p:txBody>
      </p:sp>
      <p:pic>
        <p:nvPicPr>
          <p:cNvPr id="147" name="Google Shape;147;p21"/>
          <p:cNvPicPr preferRelativeResize="0"/>
          <p:nvPr/>
        </p:nvPicPr>
        <p:blipFill>
          <a:blip r:embed="rId3">
            <a:alphaModFix/>
          </a:blip>
          <a:stretch>
            <a:fillRect/>
          </a:stretch>
        </p:blipFill>
        <p:spPr>
          <a:xfrm>
            <a:off x="3936388" y="623400"/>
            <a:ext cx="5027574" cy="40764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2"/>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Ratio</a:t>
            </a:r>
            <a:endParaRPr/>
          </a:p>
          <a:p>
            <a:pPr indent="0" lvl="0" marL="0" rtl="0" algn="l">
              <a:spcBef>
                <a:spcPts val="0"/>
              </a:spcBef>
              <a:spcAft>
                <a:spcPts val="0"/>
              </a:spcAft>
              <a:buNone/>
            </a:pPr>
            <a:r>
              <a:rPr b="0" lang="zh-TW" sz="1600">
                <a:solidFill>
                  <a:schemeClr val="accent1"/>
                </a:solidFill>
                <a:latin typeface="Lato"/>
                <a:ea typeface="Lato"/>
                <a:cs typeface="Lato"/>
                <a:sym typeface="Lato"/>
              </a:rPr>
              <a:t>–Spending Score &amp; Gender</a:t>
            </a:r>
            <a:endParaRPr/>
          </a:p>
        </p:txBody>
      </p:sp>
      <p:sp>
        <p:nvSpPr>
          <p:cNvPr id="153" name="Google Shape;153;p22"/>
          <p:cNvSpPr txBox="1"/>
          <p:nvPr>
            <p:ph idx="1" type="subTitle"/>
          </p:nvPr>
        </p:nvSpPr>
        <p:spPr>
          <a:xfrm>
            <a:off x="730000" y="2670325"/>
            <a:ext cx="2737500" cy="168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S</a:t>
            </a:r>
            <a:r>
              <a:rPr lang="zh-TW"/>
              <a:t>ex ratio: 88:112 (M:F)</a:t>
            </a:r>
            <a:endParaRPr/>
          </a:p>
          <a:p>
            <a:pPr indent="0" lvl="0" marL="0" rtl="0" algn="l">
              <a:spcBef>
                <a:spcPts val="0"/>
              </a:spcBef>
              <a:spcAft>
                <a:spcPts val="0"/>
              </a:spcAft>
              <a:buNone/>
            </a:pPr>
            <a:br>
              <a:rPr lang="zh-TW"/>
            </a:br>
            <a:r>
              <a:rPr lang="zh-TW"/>
              <a:t>Highest spending score: Male </a:t>
            </a:r>
            <a:br>
              <a:rPr lang="zh-TW"/>
            </a:br>
            <a:endParaRPr/>
          </a:p>
        </p:txBody>
      </p:sp>
      <p:pic>
        <p:nvPicPr>
          <p:cNvPr id="154" name="Google Shape;154;p22"/>
          <p:cNvPicPr preferRelativeResize="0"/>
          <p:nvPr/>
        </p:nvPicPr>
        <p:blipFill>
          <a:blip r:embed="rId3">
            <a:alphaModFix/>
          </a:blip>
          <a:stretch>
            <a:fillRect/>
          </a:stretch>
        </p:blipFill>
        <p:spPr>
          <a:xfrm>
            <a:off x="3541675" y="1318651"/>
            <a:ext cx="5380625" cy="32699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23"/>
          <p:cNvPicPr preferRelativeResize="0"/>
          <p:nvPr/>
        </p:nvPicPr>
        <p:blipFill>
          <a:blip r:embed="rId3">
            <a:alphaModFix/>
          </a:blip>
          <a:stretch>
            <a:fillRect/>
          </a:stretch>
        </p:blipFill>
        <p:spPr>
          <a:xfrm>
            <a:off x="4030900" y="1007300"/>
            <a:ext cx="4736149" cy="3548525"/>
          </a:xfrm>
          <a:prstGeom prst="rect">
            <a:avLst/>
          </a:prstGeom>
          <a:noFill/>
          <a:ln>
            <a:noFill/>
          </a:ln>
          <a:effectLst>
            <a:outerShdw blurRad="57150" rotWithShape="0" algn="bl" dir="5400000" dist="19050">
              <a:srgbClr val="000000">
                <a:alpha val="50000"/>
              </a:srgbClr>
            </a:outerShdw>
          </a:effectLst>
        </p:spPr>
      </p:pic>
      <p:sp>
        <p:nvSpPr>
          <p:cNvPr id="160" name="Google Shape;160;p23"/>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Clustering</a:t>
            </a:r>
            <a:endParaRPr/>
          </a:p>
          <a:p>
            <a:pPr indent="0" lvl="0" marL="0" rtl="0" algn="l">
              <a:spcBef>
                <a:spcPts val="0"/>
              </a:spcBef>
              <a:spcAft>
                <a:spcPts val="0"/>
              </a:spcAft>
              <a:buNone/>
            </a:pPr>
            <a:r>
              <a:rPr b="0" lang="zh-TW" sz="1600">
                <a:solidFill>
                  <a:schemeClr val="accent1"/>
                </a:solidFill>
                <a:latin typeface="Lato"/>
                <a:ea typeface="Lato"/>
                <a:cs typeface="Lato"/>
                <a:sym typeface="Lato"/>
              </a:rPr>
              <a:t>–Spending Score &amp; income</a:t>
            </a:r>
            <a:endParaRPr/>
          </a:p>
        </p:txBody>
      </p:sp>
      <p:sp>
        <p:nvSpPr>
          <p:cNvPr id="161" name="Google Shape;161;p23"/>
          <p:cNvSpPr txBox="1"/>
          <p:nvPr>
            <p:ph idx="1" type="subTitle"/>
          </p:nvPr>
        </p:nvSpPr>
        <p:spPr>
          <a:xfrm>
            <a:off x="730000" y="3149950"/>
            <a:ext cx="3300900" cy="7590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zh-TW"/>
              <a:t>High spending score: </a:t>
            </a:r>
            <a:endParaRPr/>
          </a:p>
          <a:p>
            <a:pPr indent="0" lvl="0" marL="0" rtl="0" algn="l">
              <a:spcBef>
                <a:spcPts val="0"/>
              </a:spcBef>
              <a:spcAft>
                <a:spcPts val="0"/>
              </a:spcAft>
              <a:buNone/>
            </a:pPr>
            <a:r>
              <a:rPr lang="zh-TW"/>
              <a:t>between 20 to 40 k and 70 to 100 k</a:t>
            </a:r>
            <a:br>
              <a:rPr lang="zh-TW"/>
            </a:br>
            <a:r>
              <a:rPr lang="zh-TW"/>
              <a:t>annual income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4"/>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Clustering</a:t>
            </a:r>
            <a:endParaRPr/>
          </a:p>
          <a:p>
            <a:pPr indent="0" lvl="0" marL="0" rtl="0" algn="l">
              <a:spcBef>
                <a:spcPts val="0"/>
              </a:spcBef>
              <a:spcAft>
                <a:spcPts val="0"/>
              </a:spcAft>
              <a:buNone/>
            </a:pPr>
            <a:r>
              <a:rPr b="0" lang="zh-TW" sz="1600">
                <a:solidFill>
                  <a:schemeClr val="accent1"/>
                </a:solidFill>
                <a:latin typeface="Lato"/>
                <a:ea typeface="Lato"/>
                <a:cs typeface="Lato"/>
                <a:sym typeface="Lato"/>
              </a:rPr>
              <a:t>–Spending Score &amp; Age</a:t>
            </a:r>
            <a:endParaRPr/>
          </a:p>
        </p:txBody>
      </p:sp>
      <p:sp>
        <p:nvSpPr>
          <p:cNvPr id="167" name="Google Shape;167;p24"/>
          <p:cNvSpPr txBox="1"/>
          <p:nvPr>
            <p:ph idx="1" type="subTitle"/>
          </p:nvPr>
        </p:nvSpPr>
        <p:spPr>
          <a:xfrm>
            <a:off x="724950" y="3161525"/>
            <a:ext cx="3300900" cy="168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High spending score: under age 40</a:t>
            </a:r>
            <a:endParaRPr/>
          </a:p>
        </p:txBody>
      </p:sp>
      <p:pic>
        <p:nvPicPr>
          <p:cNvPr id="168" name="Google Shape;168;p24"/>
          <p:cNvPicPr preferRelativeResize="0"/>
          <p:nvPr/>
        </p:nvPicPr>
        <p:blipFill>
          <a:blip r:embed="rId3">
            <a:alphaModFix/>
          </a:blip>
          <a:stretch>
            <a:fillRect/>
          </a:stretch>
        </p:blipFill>
        <p:spPr>
          <a:xfrm>
            <a:off x="3906750" y="890000"/>
            <a:ext cx="4898000" cy="3763275"/>
          </a:xfrm>
          <a:prstGeom prst="rect">
            <a:avLst/>
          </a:prstGeom>
          <a:noFill/>
          <a:ln>
            <a:noFill/>
          </a:ln>
          <a:effectLst>
            <a:outerShdw blurRad="57150" rotWithShape="0" algn="bl" dir="5400000" dist="19050">
              <a:srgbClr val="000000">
                <a:alpha val="50000"/>
              </a:srgbClr>
            </a:outerShdw>
          </a:effectLst>
        </p:spPr>
      </p:pic>
      <p:cxnSp>
        <p:nvCxnSpPr>
          <p:cNvPr id="169" name="Google Shape;169;p24"/>
          <p:cNvCxnSpPr/>
          <p:nvPr/>
        </p:nvCxnSpPr>
        <p:spPr>
          <a:xfrm>
            <a:off x="6253100" y="543250"/>
            <a:ext cx="0" cy="4323000"/>
          </a:xfrm>
          <a:prstGeom prst="straightConnector1">
            <a:avLst/>
          </a:prstGeom>
          <a:noFill/>
          <a:ln cap="flat" cmpd="sng" w="28575">
            <a:solidFill>
              <a:srgbClr val="CC0000"/>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5"/>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Result</a:t>
            </a:r>
            <a:endParaRPr/>
          </a:p>
          <a:p>
            <a:pPr indent="0" lvl="0" marL="0" rtl="0" algn="l">
              <a:spcBef>
                <a:spcPts val="0"/>
              </a:spcBef>
              <a:spcAft>
                <a:spcPts val="0"/>
              </a:spcAft>
              <a:buNone/>
            </a:pPr>
            <a:r>
              <a:rPr b="0" lang="zh-TW" sz="1600">
                <a:solidFill>
                  <a:schemeClr val="accent1"/>
                </a:solidFill>
                <a:latin typeface="Lato"/>
                <a:ea typeface="Lato"/>
                <a:cs typeface="Lato"/>
                <a:sym typeface="Lato"/>
              </a:rPr>
              <a:t>Optimal marketing campaign targeting</a:t>
            </a:r>
            <a:endParaRPr/>
          </a:p>
        </p:txBody>
      </p:sp>
      <p:sp>
        <p:nvSpPr>
          <p:cNvPr id="175" name="Google Shape;175;p25"/>
          <p:cNvSpPr txBox="1"/>
          <p:nvPr>
            <p:ph idx="1" type="subTitle"/>
          </p:nvPr>
        </p:nvSpPr>
        <p:spPr>
          <a:xfrm>
            <a:off x="724950" y="2571750"/>
            <a:ext cx="2811900" cy="168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1400"/>
              <a:t>Cluster 3 and Cluster 4 in the following graph have high Spending scores, so when conducting marketing campaigns, priority is given to these two cluster layers.　</a:t>
            </a:r>
            <a:endParaRPr sz="1400"/>
          </a:p>
        </p:txBody>
      </p:sp>
      <p:pic>
        <p:nvPicPr>
          <p:cNvPr id="176" name="Google Shape;176;p25"/>
          <p:cNvPicPr preferRelativeResize="0"/>
          <p:nvPr/>
        </p:nvPicPr>
        <p:blipFill>
          <a:blip r:embed="rId3">
            <a:alphaModFix/>
          </a:blip>
          <a:stretch>
            <a:fillRect/>
          </a:stretch>
        </p:blipFill>
        <p:spPr>
          <a:xfrm>
            <a:off x="4025850" y="984200"/>
            <a:ext cx="4736149" cy="3548525"/>
          </a:xfrm>
          <a:prstGeom prst="rect">
            <a:avLst/>
          </a:prstGeom>
          <a:noFill/>
          <a:ln>
            <a:noFill/>
          </a:ln>
          <a:effectLst>
            <a:outerShdw blurRad="57150" rotWithShape="0" algn="bl" dir="5400000" dist="19050">
              <a:srgbClr val="000000">
                <a:alpha val="50000"/>
              </a:srgbClr>
            </a:outerShdw>
          </a:effectLst>
        </p:spPr>
      </p:pic>
      <p:sp>
        <p:nvSpPr>
          <p:cNvPr id="177" name="Google Shape;177;p25"/>
          <p:cNvSpPr/>
          <p:nvPr/>
        </p:nvSpPr>
        <p:spPr>
          <a:xfrm>
            <a:off x="4572000" y="1318650"/>
            <a:ext cx="4045500" cy="1201200"/>
          </a:xfrm>
          <a:prstGeom prst="rect">
            <a:avLst/>
          </a:prstGeom>
          <a:noFill/>
          <a:ln cap="flat" cmpd="sng" w="38100">
            <a:solidFill>
              <a:srgbClr val="99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26"/>
          <p:cNvPicPr preferRelativeResize="0"/>
          <p:nvPr/>
        </p:nvPicPr>
        <p:blipFill>
          <a:blip r:embed="rId3">
            <a:alphaModFix/>
          </a:blip>
          <a:stretch>
            <a:fillRect/>
          </a:stretch>
        </p:blipFill>
        <p:spPr>
          <a:xfrm>
            <a:off x="4025850" y="984200"/>
            <a:ext cx="4736149" cy="3548525"/>
          </a:xfrm>
          <a:prstGeom prst="rect">
            <a:avLst/>
          </a:prstGeom>
          <a:noFill/>
          <a:ln>
            <a:noFill/>
          </a:ln>
          <a:effectLst>
            <a:outerShdw blurRad="57150" rotWithShape="0" algn="bl" dir="5400000" dist="19050">
              <a:srgbClr val="000000">
                <a:alpha val="50000"/>
              </a:srgbClr>
            </a:outerShdw>
          </a:effectLst>
        </p:spPr>
      </p:pic>
      <p:sp>
        <p:nvSpPr>
          <p:cNvPr id="183" name="Google Shape;183;p26"/>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Result</a:t>
            </a:r>
            <a:endParaRPr/>
          </a:p>
          <a:p>
            <a:pPr indent="0" lvl="0" marL="0" rtl="0" algn="l">
              <a:spcBef>
                <a:spcPts val="0"/>
              </a:spcBef>
              <a:spcAft>
                <a:spcPts val="0"/>
              </a:spcAft>
              <a:buNone/>
            </a:pPr>
            <a:r>
              <a:rPr b="0" lang="zh-TW" sz="1600">
                <a:solidFill>
                  <a:schemeClr val="accent1"/>
                </a:solidFill>
                <a:latin typeface="Lato"/>
                <a:ea typeface="Lato"/>
                <a:cs typeface="Lato"/>
                <a:sym typeface="Lato"/>
              </a:rPr>
              <a:t>Product pricing and positioning</a:t>
            </a:r>
            <a:endParaRPr/>
          </a:p>
        </p:txBody>
      </p:sp>
      <p:sp>
        <p:nvSpPr>
          <p:cNvPr id="184" name="Google Shape;184;p26"/>
          <p:cNvSpPr txBox="1"/>
          <p:nvPr>
            <p:ph idx="1" type="subTitle"/>
          </p:nvPr>
        </p:nvSpPr>
        <p:spPr>
          <a:xfrm>
            <a:off x="730000" y="2213450"/>
            <a:ext cx="3300900" cy="251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1400"/>
              <a:t>Divide customers into three: high spending score 60-100, middle spending score 40-60 and low spending score 0-40.</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zh-TW" sz="1400"/>
              <a:t>Making  different marketing strategies according to different </a:t>
            </a:r>
            <a:r>
              <a:rPr lang="zh-TW" sz="1400"/>
              <a:t>spending score.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p:txBody>
      </p:sp>
      <p:cxnSp>
        <p:nvCxnSpPr>
          <p:cNvPr id="185" name="Google Shape;185;p26"/>
          <p:cNvCxnSpPr/>
          <p:nvPr/>
        </p:nvCxnSpPr>
        <p:spPr>
          <a:xfrm flipH="1">
            <a:off x="4571900" y="2461950"/>
            <a:ext cx="4351200" cy="7500"/>
          </a:xfrm>
          <a:prstGeom prst="straightConnector1">
            <a:avLst/>
          </a:prstGeom>
          <a:noFill/>
          <a:ln cap="flat" cmpd="sng" w="38100">
            <a:solidFill>
              <a:srgbClr val="CC0000"/>
            </a:solidFill>
            <a:prstDash val="solid"/>
            <a:round/>
            <a:headEnd len="med" w="med" type="none"/>
            <a:tailEnd len="med" w="med" type="none"/>
          </a:ln>
        </p:spPr>
      </p:cxnSp>
      <p:cxnSp>
        <p:nvCxnSpPr>
          <p:cNvPr id="186" name="Google Shape;186;p26"/>
          <p:cNvCxnSpPr/>
          <p:nvPr/>
        </p:nvCxnSpPr>
        <p:spPr>
          <a:xfrm rot="10800000">
            <a:off x="4600325" y="3005838"/>
            <a:ext cx="4359600" cy="0"/>
          </a:xfrm>
          <a:prstGeom prst="straightConnector1">
            <a:avLst/>
          </a:prstGeom>
          <a:noFill/>
          <a:ln cap="flat" cmpd="sng" w="38100">
            <a:solidFill>
              <a:srgbClr val="CC0000"/>
            </a:solidFill>
            <a:prstDash val="solid"/>
            <a:round/>
            <a:headEnd len="med" w="med" type="non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7"/>
          <p:cNvSpPr txBox="1"/>
          <p:nvPr>
            <p:ph type="ctrTitle"/>
          </p:nvPr>
        </p:nvSpPr>
        <p:spPr>
          <a:xfrm>
            <a:off x="170575" y="132300"/>
            <a:ext cx="7688100" cy="782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Conclusion</a:t>
            </a:r>
            <a:endParaRPr/>
          </a:p>
        </p:txBody>
      </p:sp>
      <p:sp>
        <p:nvSpPr>
          <p:cNvPr id="192" name="Google Shape;192;p27"/>
          <p:cNvSpPr txBox="1"/>
          <p:nvPr>
            <p:ph idx="1" type="subTitle"/>
          </p:nvPr>
        </p:nvSpPr>
        <p:spPr>
          <a:xfrm>
            <a:off x="729625" y="1426250"/>
            <a:ext cx="7688100" cy="31893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zh-TW" sz="1800"/>
              <a:t>H</a:t>
            </a:r>
            <a:r>
              <a:rPr lang="zh-TW" sz="1800"/>
              <a:t>igh spending score 60-100: Offer amenities like VIP rooms to provide excellent customer service so they will keep repeat visits</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zh-TW" sz="1800"/>
              <a:t>Middle spending score 40-60: Provide some entertainment like live music or children activity and engage with shoppers to understand their needs and also use the activity to attract them to buy more</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zh-TW" sz="1800"/>
              <a:t>Low spending score 0-40: Offer exclusive discounts, promotions, or rewards to encourage more shopping</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