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Maven Pro" pitchFamily="2" charset="77"/>
      <p:regular r:id="rId18"/>
      <p:bold r:id="rId19"/>
    </p:embeddedFont>
    <p:embeddedFont>
      <p:font typeface="Nunito" pitchFamily="2" charset="77"/>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62"/>
    <p:restoredTop sz="75688"/>
  </p:normalViewPr>
  <p:slideViewPr>
    <p:cSldViewPr snapToGrid="0">
      <p:cViewPr varScale="1">
        <p:scale>
          <a:sx n="112" d="100"/>
          <a:sy n="112" d="100"/>
        </p:scale>
        <p:origin x="2280"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57d3df8143_0_3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57d3df8143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57e3d9040f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57e3d9040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sz="1000" b="1">
                <a:solidFill>
                  <a:schemeClr val="dk1"/>
                </a:solidFill>
              </a:rPr>
              <a:t>ㅇThe WHO use the food death analysis to  sponsor the food bank projects in  developing and developed countries</a:t>
            </a:r>
            <a:endParaRPr sz="1000" b="1">
              <a:solidFill>
                <a:schemeClr val="dk1"/>
              </a:solidFill>
            </a:endParaRPr>
          </a:p>
          <a:p>
            <a:pPr marL="0" lvl="0" indent="0" algn="l" rtl="0">
              <a:spcBef>
                <a:spcPts val="0"/>
              </a:spcBef>
              <a:spcAft>
                <a:spcPts val="0"/>
              </a:spcAft>
              <a:buNone/>
            </a:pPr>
            <a:endParaRPr sz="1000" b="1">
              <a:solidFill>
                <a:schemeClr val="dk1"/>
              </a:solidFill>
              <a:highlight>
                <a:schemeClr val="lt1"/>
              </a:highlight>
            </a:endParaRPr>
          </a:p>
          <a:p>
            <a:pPr marL="0" lvl="0" indent="0" algn="l" rtl="0">
              <a:spcBef>
                <a:spcPts val="0"/>
              </a:spcBef>
              <a:spcAft>
                <a:spcPts val="0"/>
              </a:spcAft>
              <a:buNone/>
            </a:pPr>
            <a:r>
              <a:rPr lang="zh-CN" sz="1000" b="1">
                <a:solidFill>
                  <a:schemeClr val="dk1"/>
                </a:solidFill>
                <a:highlight>
                  <a:schemeClr val="lt1"/>
                </a:highlight>
              </a:rPr>
              <a:t>ㅇ Food health and prediction of death rate for  data analysis help the WHO to optimize the sponsor and better classify food supplies </a:t>
            </a:r>
            <a:endParaRPr sz="1000" b="1">
              <a:solidFill>
                <a:schemeClr val="dk1"/>
              </a:solidFill>
              <a:highlight>
                <a:schemeClr val="lt1"/>
              </a:highlight>
            </a:endParaRPr>
          </a:p>
          <a:p>
            <a:pPr marL="0" lvl="0" indent="0" algn="l" rtl="0">
              <a:spcBef>
                <a:spcPts val="0"/>
              </a:spcBef>
              <a:spcAft>
                <a:spcPts val="0"/>
              </a:spcAft>
              <a:buNone/>
            </a:pPr>
            <a:r>
              <a:rPr lang="zh-CN" sz="1000" b="1">
                <a:solidFill>
                  <a:schemeClr val="dk1"/>
                </a:solidFill>
                <a:highlight>
                  <a:schemeClr val="lt1"/>
                </a:highlight>
              </a:rPr>
              <a:t>     and nutrition system of each country </a:t>
            </a:r>
            <a:endParaRPr sz="1000" b="1">
              <a:solidFill>
                <a:schemeClr val="dk1"/>
              </a:solidFill>
              <a:highlight>
                <a:schemeClr val="lt1"/>
              </a:highlight>
            </a:endParaRPr>
          </a:p>
          <a:p>
            <a:pPr marL="0" lvl="0" indent="0" algn="l" rtl="0">
              <a:spcBef>
                <a:spcPts val="0"/>
              </a:spcBef>
              <a:spcAft>
                <a:spcPts val="0"/>
              </a:spcAft>
              <a:buClr>
                <a:schemeClr val="dk1"/>
              </a:buClr>
              <a:buSzPts val="1100"/>
              <a:buFont typeface="Arial"/>
              <a:buNone/>
            </a:pPr>
            <a:endParaRPr sz="1000" b="1">
              <a:solidFill>
                <a:schemeClr val="dk1"/>
              </a:solidFill>
              <a:highlight>
                <a:schemeClr val="lt1"/>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57d3df8143_0_3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57d3df8143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57d3df8143_0_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257d3df8143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First, We have to set up Business goals by business understanding. There are following question.  ~~</a:t>
            </a:r>
            <a:endParaRPr/>
          </a:p>
          <a:p>
            <a:pPr marL="0" lvl="0" indent="0" algn="l" rtl="0">
              <a:spcBef>
                <a:spcPts val="0"/>
              </a:spcBef>
              <a:spcAft>
                <a:spcPts val="0"/>
              </a:spcAft>
              <a:buNone/>
            </a:pPr>
            <a:endParaRPr/>
          </a:p>
          <a:p>
            <a:pPr marL="0" lvl="0" indent="0" algn="l" rtl="0">
              <a:spcBef>
                <a:spcPts val="0"/>
              </a:spcBef>
              <a:spcAft>
                <a:spcPts val="0"/>
              </a:spcAft>
              <a:buNone/>
            </a:pPr>
            <a:r>
              <a:rPr lang="zh-CN"/>
              <a:t>And next, We will figure out the Food diet features. What we are finding are~~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57d3df8143_0_3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257d3df8143_0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CN" sz="1200">
                <a:solidFill>
                  <a:schemeClr val="dk1"/>
                </a:solidFill>
              </a:rPr>
              <a:t>The following is the data consideration. We have obtained 31 data columns from a large nutritional dataset, and we have selected the columns shown on the next page to analyze the relationship between Food Supply and Death. Below are the identified NULL values during data analysis, and we have considered how to handle them during the data consideration process.</a:t>
            </a:r>
            <a:endParaRPr sz="1200">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57e3d9040f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57e3d9040f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We replaced the null data to mean value. The null data in obesity, deaths is replaced to mean value.</a:t>
            </a:r>
            <a:endParaRPr/>
          </a:p>
          <a:p>
            <a:pPr marL="0" lvl="0" indent="0" algn="l" rtl="0">
              <a:spcBef>
                <a:spcPts val="0"/>
              </a:spcBef>
              <a:spcAft>
                <a:spcPts val="0"/>
              </a:spcAft>
              <a:buNone/>
            </a:pPr>
            <a:endParaRPr/>
          </a:p>
          <a:p>
            <a:pPr marL="0" lvl="0" indent="0" algn="l" rtl="0">
              <a:spcBef>
                <a:spcPts val="0"/>
              </a:spcBef>
              <a:spcAft>
                <a:spcPts val="0"/>
              </a:spcAft>
              <a:buNone/>
            </a:pPr>
            <a:r>
              <a:rPr lang="zh-CN"/>
              <a:t>And, Among the 31columns, We dropped unnecessary columns.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57d3df8143_0_3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257d3df8143_0_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So, the columns we selected are Alcoholic Baverages, Animal fats, Fish/Seafood, Fruits(including wines), meat, vegetables, Vegetal Products, Obesity, And Deaths.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257e3d9040f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257e3d9040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The picture is heatmap about correlation </a:t>
            </a:r>
            <a:endParaRPr/>
          </a:p>
          <a:p>
            <a:pPr marL="0" lvl="0" indent="0" algn="l" rtl="0">
              <a:spcBef>
                <a:spcPts val="0"/>
              </a:spcBef>
              <a:spcAft>
                <a:spcPts val="0"/>
              </a:spcAft>
              <a:buNone/>
            </a:pPr>
            <a:r>
              <a:rPr lang="zh-CN"/>
              <a:t>coefficient 1.0 is the highest positive correlation -1.0 is the lowest negative correlation</a:t>
            </a:r>
            <a:endParaRPr/>
          </a:p>
          <a:p>
            <a:pPr marL="0" lvl="0" indent="0" algn="l" rtl="0">
              <a:spcBef>
                <a:spcPts val="0"/>
              </a:spcBef>
              <a:spcAft>
                <a:spcPts val="0"/>
              </a:spcAft>
              <a:buNone/>
            </a:pPr>
            <a:r>
              <a:rPr lang="zh-CN"/>
              <a:t>Deaths has positive correlation with animal fats, obesity, alcoholic beverages </a:t>
            </a:r>
            <a:endParaRPr/>
          </a:p>
          <a:p>
            <a:pPr marL="0" lvl="0" indent="0" algn="l" rtl="0">
              <a:spcBef>
                <a:spcPts val="0"/>
              </a:spcBef>
              <a:spcAft>
                <a:spcPts val="0"/>
              </a:spcAft>
              <a:buNone/>
            </a:pPr>
            <a:r>
              <a:rPr lang="zh-CN"/>
              <a:t>They are top 3 positive correlation</a:t>
            </a:r>
            <a:endParaRPr/>
          </a:p>
          <a:p>
            <a:pPr marL="0" lvl="0" indent="0" algn="l" rtl="0">
              <a:spcBef>
                <a:spcPts val="0"/>
              </a:spcBef>
              <a:spcAft>
                <a:spcPts val="0"/>
              </a:spcAft>
              <a:buNone/>
            </a:pPr>
            <a:r>
              <a:rPr lang="zh-CN"/>
              <a:t>About negative correlation between deaths and vegetable products is lowest</a:t>
            </a:r>
            <a:endParaRPr/>
          </a:p>
          <a:p>
            <a:pPr marL="0" lvl="0" indent="0" algn="l" rtl="0">
              <a:spcBef>
                <a:spcPts val="0"/>
              </a:spcBef>
              <a:spcAft>
                <a:spcPts val="0"/>
              </a:spcAft>
              <a:buNone/>
            </a:pPr>
            <a:r>
              <a:rPr lang="zh-CN"/>
              <a:t>And between obesity and meat correlation seems meaningful</a:t>
            </a:r>
            <a:endParaRPr/>
          </a:p>
          <a:p>
            <a:pPr marL="0" lvl="0" indent="0" algn="l" rtl="0">
              <a:spcBef>
                <a:spcPts val="0"/>
              </a:spcBef>
              <a:spcAft>
                <a:spcPts val="0"/>
              </a:spcAft>
              <a:buNone/>
            </a:pPr>
            <a:r>
              <a:rPr lang="zh-CN"/>
              <a:t>what columns I use?</a:t>
            </a:r>
            <a:endParaRPr/>
          </a:p>
          <a:p>
            <a:pPr marL="0" lvl="0" indent="0" algn="l" rtl="0">
              <a:spcBef>
                <a:spcPts val="0"/>
              </a:spcBef>
              <a:spcAft>
                <a:spcPts val="0"/>
              </a:spcAft>
              <a:buNone/>
            </a:pPr>
            <a:r>
              <a:rPr lang="zh-CN"/>
              <a:t>obesity, animal fats, alcoholic beverages, meat, vegetable products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57e3d9040f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57e3d9040f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This’s the scatter plot </a:t>
            </a:r>
            <a:endParaRPr/>
          </a:p>
          <a:p>
            <a:pPr marL="0" lvl="0" indent="0" algn="l" rtl="0">
              <a:spcBef>
                <a:spcPts val="0"/>
              </a:spcBef>
              <a:spcAft>
                <a:spcPts val="0"/>
              </a:spcAft>
              <a:buNone/>
            </a:pPr>
            <a:r>
              <a:rPr lang="zh-CN"/>
              <a:t>x is Death, y is each columns</a:t>
            </a:r>
            <a:endParaRPr/>
          </a:p>
          <a:p>
            <a:pPr marL="0" lvl="0" indent="0" algn="l" rtl="0">
              <a:spcBef>
                <a:spcPts val="0"/>
              </a:spcBef>
              <a:spcAft>
                <a:spcPts val="0"/>
              </a:spcAft>
              <a:buNone/>
            </a:pPr>
            <a:r>
              <a:rPr lang="zh-CN"/>
              <a:t>let’s see correlation by scatter plot</a:t>
            </a:r>
            <a:endParaRPr/>
          </a:p>
          <a:p>
            <a:pPr marL="0" lvl="0" indent="0" algn="l" rtl="0">
              <a:spcBef>
                <a:spcPts val="0"/>
              </a:spcBef>
              <a:spcAft>
                <a:spcPts val="0"/>
              </a:spcAft>
              <a:buNone/>
            </a:pPr>
            <a:r>
              <a:rPr lang="zh-CN"/>
              <a:t>right side upper plot is analyzed alcoholic beverages, animal fats, meat, obesity</a:t>
            </a:r>
            <a:endParaRPr/>
          </a:p>
          <a:p>
            <a:pPr marL="0" lvl="0" indent="0" algn="l" rtl="0">
              <a:spcBef>
                <a:spcPts val="0"/>
              </a:spcBef>
              <a:spcAft>
                <a:spcPts val="0"/>
              </a:spcAft>
              <a:buNone/>
            </a:pPr>
            <a:r>
              <a:rPr lang="zh-CN"/>
              <a:t>obesity R square is 0.2169 the highest</a:t>
            </a:r>
            <a:endParaRPr/>
          </a:p>
          <a:p>
            <a:pPr marL="0" lvl="0" indent="0" algn="l" rtl="0">
              <a:spcBef>
                <a:spcPts val="0"/>
              </a:spcBef>
              <a:spcAft>
                <a:spcPts val="0"/>
              </a:spcAft>
              <a:buNone/>
            </a:pPr>
            <a:r>
              <a:rPr lang="zh-CN"/>
              <a:t>the bottom of the right side picture</a:t>
            </a:r>
            <a:endParaRPr/>
          </a:p>
          <a:p>
            <a:pPr marL="0" lvl="0" indent="0" algn="l" rtl="0">
              <a:spcBef>
                <a:spcPts val="0"/>
              </a:spcBef>
              <a:spcAft>
                <a:spcPts val="0"/>
              </a:spcAft>
              <a:buNone/>
            </a:pPr>
            <a:r>
              <a:rPr lang="zh-CN"/>
              <a:t>vegetable products R square is 0.2849</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57e3d9040f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57e3d9040f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solidFill>
                  <a:schemeClr val="dk1"/>
                </a:solidFill>
              </a:rPr>
              <a:t>before modeling check linerity, normality, independency, homoskedasticity</a:t>
            </a:r>
            <a:endParaRPr>
              <a:solidFill>
                <a:schemeClr val="dk1"/>
              </a:solidFill>
            </a:endParaRPr>
          </a:p>
          <a:p>
            <a:pPr marL="0" lvl="0" indent="0" algn="l" rtl="0">
              <a:spcBef>
                <a:spcPts val="0"/>
              </a:spcBef>
              <a:spcAft>
                <a:spcPts val="0"/>
              </a:spcAft>
              <a:buClr>
                <a:schemeClr val="dk1"/>
              </a:buClr>
              <a:buSzPts val="1100"/>
              <a:buFont typeface="Arial"/>
              <a:buNone/>
            </a:pPr>
            <a:r>
              <a:rPr lang="zh-CN">
                <a:solidFill>
                  <a:schemeClr val="dk1"/>
                </a:solidFill>
              </a:rPr>
              <a:t>for checking normality use shapro result and QQ plot h1 is normality h2 is no normality p-value is over 0.05</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57e3d9040f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257e3d9040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t>use ANOVA and linear regression p-value is under 0.05 so It has significant difference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22eff2cda79_3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22eff2cda79_3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257d3df8143_0_3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257d3df8143_0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57d3df8143_0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257d3df8143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431100" y="334025"/>
            <a:ext cx="8483700" cy="1797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t>Can healthy diet predict death rates?</a:t>
            </a:r>
            <a:endParaRPr/>
          </a:p>
        </p:txBody>
      </p:sp>
      <p:sp>
        <p:nvSpPr>
          <p:cNvPr id="278" name="Google Shape;278;p13"/>
          <p:cNvSpPr txBox="1">
            <a:spLocks noGrp="1"/>
          </p:cNvSpPr>
          <p:nvPr>
            <p:ph type="subTitle" idx="1"/>
          </p:nvPr>
        </p:nvSpPr>
        <p:spPr>
          <a:xfrm>
            <a:off x="874800" y="2435875"/>
            <a:ext cx="7468500" cy="1220700"/>
          </a:xfrm>
          <a:prstGeom prst="rect">
            <a:avLst/>
          </a:prstGeom>
        </p:spPr>
        <p:txBody>
          <a:bodyPr spcFirstLastPara="1" wrap="square" lIns="91425" tIns="91425" rIns="91425" bIns="91425" anchor="t" anchorCtr="0">
            <a:normAutofit fontScale="92500" lnSpcReduction="20000"/>
          </a:bodyPr>
          <a:lstStyle/>
          <a:p>
            <a:pPr marL="0" lvl="0" indent="0" algn="l" rtl="0">
              <a:lnSpc>
                <a:spcPct val="200000"/>
              </a:lnSpc>
              <a:spcBef>
                <a:spcPts val="0"/>
              </a:spcBef>
              <a:spcAft>
                <a:spcPts val="0"/>
              </a:spcAft>
              <a:buNone/>
            </a:pPr>
            <a:r>
              <a:rPr lang="zh-CN" b="1"/>
              <a:t>According to WHO. “A healthy diet helps to protect against malnutrition in all its forms, as well as noncommunicable diseases (NCDs), including diabetes, heart disease, stroke and cancer.” </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ctrTitle"/>
          </p:nvPr>
        </p:nvSpPr>
        <p:spPr>
          <a:xfrm>
            <a:off x="145925" y="0"/>
            <a:ext cx="4623600" cy="825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t>Contents</a:t>
            </a:r>
            <a:endParaRPr/>
          </a:p>
        </p:txBody>
      </p:sp>
      <p:sp>
        <p:nvSpPr>
          <p:cNvPr id="284" name="Google Shape;284;p14"/>
          <p:cNvSpPr txBox="1">
            <a:spLocks noGrp="1"/>
          </p:cNvSpPr>
          <p:nvPr>
            <p:ph type="ctrTitle"/>
          </p:nvPr>
        </p:nvSpPr>
        <p:spPr>
          <a:xfrm>
            <a:off x="145925" y="685900"/>
            <a:ext cx="8334000" cy="4282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latin typeface="Arial"/>
                <a:ea typeface="Arial"/>
                <a:cs typeface="Arial"/>
                <a:sym typeface="Arial"/>
              </a:rPr>
              <a:t>1. Introduction</a:t>
            </a:r>
            <a:r>
              <a:rPr lang="zh-CN" sz="3377">
                <a:latin typeface="Arial"/>
                <a:ea typeface="Arial"/>
                <a:cs typeface="Arial"/>
                <a:sym typeface="Arial"/>
              </a:rPr>
              <a:t>(Statement of problem)</a:t>
            </a:r>
            <a:endParaRPr sz="3377">
              <a:latin typeface="Arial"/>
              <a:ea typeface="Arial"/>
              <a:cs typeface="Arial"/>
              <a:sym typeface="Arial"/>
            </a:endParaRPr>
          </a:p>
          <a:p>
            <a:pPr marL="0" lvl="0" indent="0" algn="l" rtl="0">
              <a:spcBef>
                <a:spcPts val="0"/>
              </a:spcBef>
              <a:spcAft>
                <a:spcPts val="0"/>
              </a:spcAft>
              <a:buNone/>
            </a:pPr>
            <a:r>
              <a:rPr lang="zh-CN">
                <a:latin typeface="Arial"/>
                <a:ea typeface="Arial"/>
                <a:cs typeface="Arial"/>
                <a:sym typeface="Arial"/>
              </a:rPr>
              <a:t>2. Business question</a:t>
            </a:r>
            <a:endParaRPr>
              <a:latin typeface="Arial"/>
              <a:ea typeface="Arial"/>
              <a:cs typeface="Arial"/>
              <a:sym typeface="Arial"/>
            </a:endParaRPr>
          </a:p>
          <a:p>
            <a:pPr marL="0" lvl="0" indent="0" algn="l" rtl="0">
              <a:spcBef>
                <a:spcPts val="0"/>
              </a:spcBef>
              <a:spcAft>
                <a:spcPts val="0"/>
              </a:spcAft>
              <a:buNone/>
            </a:pPr>
            <a:r>
              <a:rPr lang="zh-CN">
                <a:latin typeface="Arial"/>
                <a:ea typeface="Arial"/>
                <a:cs typeface="Arial"/>
                <a:sym typeface="Arial"/>
              </a:rPr>
              <a:t>3. Structure of analysis</a:t>
            </a:r>
            <a:endParaRPr>
              <a:latin typeface="Arial"/>
              <a:ea typeface="Arial"/>
              <a:cs typeface="Arial"/>
              <a:sym typeface="Arial"/>
            </a:endParaRPr>
          </a:p>
          <a:p>
            <a:pPr marL="0" lvl="0" indent="0" algn="l" rtl="0">
              <a:spcBef>
                <a:spcPts val="0"/>
              </a:spcBef>
              <a:spcAft>
                <a:spcPts val="0"/>
              </a:spcAft>
              <a:buNone/>
            </a:pPr>
            <a:r>
              <a:rPr lang="zh-CN">
                <a:latin typeface="Arial"/>
                <a:ea typeface="Arial"/>
                <a:cs typeface="Arial"/>
                <a:sym typeface="Arial"/>
              </a:rPr>
              <a:t>4. Descriptive analytics</a:t>
            </a:r>
            <a:endParaRPr>
              <a:latin typeface="Arial"/>
              <a:ea typeface="Arial"/>
              <a:cs typeface="Arial"/>
              <a:sym typeface="Arial"/>
            </a:endParaRPr>
          </a:p>
          <a:p>
            <a:pPr marL="0" lvl="0" indent="0" algn="l" rtl="0">
              <a:spcBef>
                <a:spcPts val="0"/>
              </a:spcBef>
              <a:spcAft>
                <a:spcPts val="0"/>
              </a:spcAft>
              <a:buNone/>
            </a:pPr>
            <a:r>
              <a:rPr lang="zh-CN">
                <a:latin typeface="Arial"/>
                <a:ea typeface="Arial"/>
                <a:cs typeface="Arial"/>
                <a:sym typeface="Arial"/>
              </a:rPr>
              <a:t>5. Visualization</a:t>
            </a:r>
            <a:endParaRPr>
              <a:latin typeface="Arial"/>
              <a:ea typeface="Arial"/>
              <a:cs typeface="Arial"/>
              <a:sym typeface="Arial"/>
            </a:endParaRPr>
          </a:p>
          <a:p>
            <a:pPr marL="0" lvl="0" indent="0" algn="l" rtl="0">
              <a:spcBef>
                <a:spcPts val="0"/>
              </a:spcBef>
              <a:spcAft>
                <a:spcPts val="0"/>
              </a:spcAft>
              <a:buNone/>
            </a:pPr>
            <a:r>
              <a:rPr lang="zh-CN">
                <a:latin typeface="Arial"/>
                <a:ea typeface="Arial"/>
                <a:cs typeface="Arial"/>
                <a:sym typeface="Arial"/>
              </a:rPr>
              <a:t>6. Conclusion </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5"/>
          <p:cNvSpPr txBox="1">
            <a:spLocks noGrp="1"/>
          </p:cNvSpPr>
          <p:nvPr>
            <p:ph type="ctrTitle"/>
          </p:nvPr>
        </p:nvSpPr>
        <p:spPr>
          <a:xfrm>
            <a:off x="182375" y="0"/>
            <a:ext cx="8560200" cy="9573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t>Introduction</a:t>
            </a:r>
            <a:r>
              <a:rPr lang="zh-CN" sz="3400"/>
              <a:t>(Statement of problem)</a:t>
            </a:r>
            <a:endParaRPr sz="3400"/>
          </a:p>
        </p:txBody>
      </p:sp>
      <p:sp>
        <p:nvSpPr>
          <p:cNvPr id="290" name="Google Shape;290;p15"/>
          <p:cNvSpPr txBox="1">
            <a:spLocks noGrp="1"/>
          </p:cNvSpPr>
          <p:nvPr>
            <p:ph type="ctrTitle"/>
          </p:nvPr>
        </p:nvSpPr>
        <p:spPr>
          <a:xfrm>
            <a:off x="144750" y="957300"/>
            <a:ext cx="8854500" cy="3927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sz="3000">
                <a:latin typeface="Arial"/>
                <a:ea typeface="Arial"/>
                <a:cs typeface="Arial"/>
                <a:sym typeface="Arial"/>
              </a:rPr>
              <a:t>ㅇThe WHO use the </a:t>
            </a:r>
            <a:r>
              <a:rPr lang="zh-CN" sz="3000">
                <a:solidFill>
                  <a:srgbClr val="FFD966"/>
                </a:solidFill>
                <a:latin typeface="Arial"/>
                <a:ea typeface="Arial"/>
                <a:cs typeface="Arial"/>
                <a:sym typeface="Arial"/>
              </a:rPr>
              <a:t>food death analysis</a:t>
            </a:r>
            <a:r>
              <a:rPr lang="zh-CN" sz="3000">
                <a:latin typeface="Arial"/>
                <a:ea typeface="Arial"/>
                <a:cs typeface="Arial"/>
                <a:sym typeface="Arial"/>
              </a:rPr>
              <a:t> to </a:t>
            </a:r>
            <a:endParaRPr sz="3000">
              <a:latin typeface="Arial"/>
              <a:ea typeface="Arial"/>
              <a:cs typeface="Arial"/>
              <a:sym typeface="Arial"/>
            </a:endParaRPr>
          </a:p>
          <a:p>
            <a:pPr marL="0" lvl="0" indent="0" algn="l" rtl="0">
              <a:spcBef>
                <a:spcPts val="0"/>
              </a:spcBef>
              <a:spcAft>
                <a:spcPts val="0"/>
              </a:spcAft>
              <a:buNone/>
            </a:pPr>
            <a:r>
              <a:rPr lang="zh-CN" sz="3000">
                <a:latin typeface="Arial"/>
                <a:ea typeface="Arial"/>
                <a:cs typeface="Arial"/>
                <a:sym typeface="Arial"/>
              </a:rPr>
              <a:t>    sponsor the food bank projects in</a:t>
            </a:r>
            <a:endParaRPr sz="3000">
              <a:latin typeface="Arial"/>
              <a:ea typeface="Arial"/>
              <a:cs typeface="Arial"/>
              <a:sym typeface="Arial"/>
            </a:endParaRPr>
          </a:p>
          <a:p>
            <a:pPr marL="0" lvl="0" indent="0" algn="l" rtl="0">
              <a:spcBef>
                <a:spcPts val="0"/>
              </a:spcBef>
              <a:spcAft>
                <a:spcPts val="0"/>
              </a:spcAft>
              <a:buNone/>
            </a:pPr>
            <a:r>
              <a:rPr lang="zh-CN" sz="3000">
                <a:latin typeface="Arial"/>
                <a:ea typeface="Arial"/>
                <a:cs typeface="Arial"/>
                <a:sym typeface="Arial"/>
              </a:rPr>
              <a:t>    developing and developed countries</a:t>
            </a:r>
            <a:endParaRPr sz="3000">
              <a:latin typeface="Arial"/>
              <a:ea typeface="Arial"/>
              <a:cs typeface="Arial"/>
              <a:sym typeface="Arial"/>
            </a:endParaRPr>
          </a:p>
          <a:p>
            <a:pPr marL="0" lvl="0" indent="0" algn="l" rtl="0">
              <a:spcBef>
                <a:spcPts val="0"/>
              </a:spcBef>
              <a:spcAft>
                <a:spcPts val="0"/>
              </a:spcAft>
              <a:buNone/>
            </a:pPr>
            <a:endParaRPr sz="3000">
              <a:latin typeface="Arial"/>
              <a:ea typeface="Arial"/>
              <a:cs typeface="Arial"/>
              <a:sym typeface="Arial"/>
            </a:endParaRPr>
          </a:p>
          <a:p>
            <a:pPr marL="0" lvl="0" indent="0" algn="l" rtl="0">
              <a:spcBef>
                <a:spcPts val="0"/>
              </a:spcBef>
              <a:spcAft>
                <a:spcPts val="0"/>
              </a:spcAft>
              <a:buNone/>
            </a:pPr>
            <a:r>
              <a:rPr lang="zh-CN" sz="3000">
                <a:latin typeface="Arial"/>
                <a:ea typeface="Arial"/>
                <a:cs typeface="Arial"/>
                <a:sym typeface="Arial"/>
              </a:rPr>
              <a:t>ㅇ Food health and </a:t>
            </a:r>
            <a:r>
              <a:rPr lang="zh-CN" sz="3000">
                <a:solidFill>
                  <a:srgbClr val="FFD966"/>
                </a:solidFill>
                <a:latin typeface="Arial"/>
                <a:ea typeface="Arial"/>
                <a:cs typeface="Arial"/>
                <a:sym typeface="Arial"/>
              </a:rPr>
              <a:t>prediction of death rate for </a:t>
            </a:r>
            <a:endParaRPr sz="3000">
              <a:solidFill>
                <a:srgbClr val="FFD966"/>
              </a:solidFill>
              <a:latin typeface="Arial"/>
              <a:ea typeface="Arial"/>
              <a:cs typeface="Arial"/>
              <a:sym typeface="Arial"/>
            </a:endParaRPr>
          </a:p>
          <a:p>
            <a:pPr marL="0" lvl="0" indent="0" algn="l" rtl="0">
              <a:spcBef>
                <a:spcPts val="0"/>
              </a:spcBef>
              <a:spcAft>
                <a:spcPts val="0"/>
              </a:spcAft>
              <a:buNone/>
            </a:pPr>
            <a:r>
              <a:rPr lang="zh-CN" sz="3000">
                <a:solidFill>
                  <a:srgbClr val="FFD966"/>
                </a:solidFill>
                <a:latin typeface="Arial"/>
                <a:ea typeface="Arial"/>
                <a:cs typeface="Arial"/>
                <a:sym typeface="Arial"/>
              </a:rPr>
              <a:t>    data analysis</a:t>
            </a:r>
            <a:r>
              <a:rPr lang="zh-CN" sz="3000">
                <a:latin typeface="Arial"/>
                <a:ea typeface="Arial"/>
                <a:cs typeface="Arial"/>
                <a:sym typeface="Arial"/>
              </a:rPr>
              <a:t> help the WHO to optimize the </a:t>
            </a:r>
            <a:endParaRPr sz="3000">
              <a:latin typeface="Arial"/>
              <a:ea typeface="Arial"/>
              <a:cs typeface="Arial"/>
              <a:sym typeface="Arial"/>
            </a:endParaRPr>
          </a:p>
          <a:p>
            <a:pPr marL="0" lvl="0" indent="0" algn="l" rtl="0">
              <a:spcBef>
                <a:spcPts val="0"/>
              </a:spcBef>
              <a:spcAft>
                <a:spcPts val="0"/>
              </a:spcAft>
              <a:buNone/>
            </a:pPr>
            <a:r>
              <a:rPr lang="zh-CN" sz="3000">
                <a:latin typeface="Arial"/>
                <a:ea typeface="Arial"/>
                <a:cs typeface="Arial"/>
                <a:sym typeface="Arial"/>
              </a:rPr>
              <a:t>    sponsor and better classify food supplies </a:t>
            </a:r>
            <a:endParaRPr sz="3000">
              <a:latin typeface="Arial"/>
              <a:ea typeface="Arial"/>
              <a:cs typeface="Arial"/>
              <a:sym typeface="Arial"/>
            </a:endParaRPr>
          </a:p>
          <a:p>
            <a:pPr marL="0" lvl="0" indent="0" algn="l" rtl="0">
              <a:spcBef>
                <a:spcPts val="0"/>
              </a:spcBef>
              <a:spcAft>
                <a:spcPts val="0"/>
              </a:spcAft>
              <a:buNone/>
            </a:pPr>
            <a:r>
              <a:rPr lang="zh-CN" sz="3000">
                <a:latin typeface="Arial"/>
                <a:ea typeface="Arial"/>
                <a:cs typeface="Arial"/>
                <a:sym typeface="Arial"/>
              </a:rPr>
              <a:t>    and nutrition system of each country </a:t>
            </a:r>
            <a:endParaRPr sz="30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6"/>
          <p:cNvSpPr txBox="1">
            <a:spLocks noGrp="1"/>
          </p:cNvSpPr>
          <p:nvPr>
            <p:ph type="ctrTitle"/>
          </p:nvPr>
        </p:nvSpPr>
        <p:spPr>
          <a:xfrm>
            <a:off x="0" y="0"/>
            <a:ext cx="4755600" cy="1596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t>6 CRISP-DM Phases</a:t>
            </a:r>
            <a:endParaRPr/>
          </a:p>
        </p:txBody>
      </p:sp>
      <p:sp>
        <p:nvSpPr>
          <p:cNvPr id="296" name="Google Shape;296;p16"/>
          <p:cNvSpPr txBox="1">
            <a:spLocks noGrp="1"/>
          </p:cNvSpPr>
          <p:nvPr>
            <p:ph type="subTitle" idx="1"/>
          </p:nvPr>
        </p:nvSpPr>
        <p:spPr>
          <a:xfrm>
            <a:off x="69225" y="1254775"/>
            <a:ext cx="4686300" cy="3132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zh-CN" sz="1800" b="1"/>
              <a:t>Business Understanding</a:t>
            </a:r>
            <a:endParaRPr sz="1800" b="1"/>
          </a:p>
          <a:p>
            <a:pPr marL="457200" lvl="0" indent="0" algn="l" rtl="0">
              <a:spcBef>
                <a:spcPts val="0"/>
              </a:spcBef>
              <a:spcAft>
                <a:spcPts val="0"/>
              </a:spcAft>
              <a:buNone/>
            </a:pPr>
            <a:endParaRPr sz="1800" b="1"/>
          </a:p>
          <a:p>
            <a:pPr marL="457200" lvl="0" indent="-342900" algn="l" rtl="0">
              <a:spcBef>
                <a:spcPts val="0"/>
              </a:spcBef>
              <a:spcAft>
                <a:spcPts val="0"/>
              </a:spcAft>
              <a:buSzPts val="1800"/>
              <a:buChar char="●"/>
            </a:pPr>
            <a:r>
              <a:rPr lang="zh-CN" sz="1800" b="1"/>
              <a:t>Data Understanding</a:t>
            </a:r>
            <a:endParaRPr sz="1800" b="1"/>
          </a:p>
          <a:p>
            <a:pPr marL="457200" lvl="0" indent="0" algn="l" rtl="0">
              <a:spcBef>
                <a:spcPts val="0"/>
              </a:spcBef>
              <a:spcAft>
                <a:spcPts val="0"/>
              </a:spcAft>
              <a:buNone/>
            </a:pPr>
            <a:endParaRPr sz="1800" b="1"/>
          </a:p>
          <a:p>
            <a:pPr marL="457200" lvl="0" indent="-342900" algn="l" rtl="0">
              <a:spcBef>
                <a:spcPts val="0"/>
              </a:spcBef>
              <a:spcAft>
                <a:spcPts val="0"/>
              </a:spcAft>
              <a:buSzPts val="1800"/>
              <a:buChar char="●"/>
            </a:pPr>
            <a:r>
              <a:rPr lang="zh-CN" sz="1800" b="1"/>
              <a:t>Data Preparation</a:t>
            </a:r>
            <a:endParaRPr sz="1800" b="1"/>
          </a:p>
          <a:p>
            <a:pPr marL="457200" lvl="0" indent="0" algn="l" rtl="0">
              <a:spcBef>
                <a:spcPts val="0"/>
              </a:spcBef>
              <a:spcAft>
                <a:spcPts val="0"/>
              </a:spcAft>
              <a:buNone/>
            </a:pPr>
            <a:endParaRPr sz="1800" b="1"/>
          </a:p>
          <a:p>
            <a:pPr marL="457200" lvl="0" indent="-342900" algn="l" rtl="0">
              <a:spcBef>
                <a:spcPts val="0"/>
              </a:spcBef>
              <a:spcAft>
                <a:spcPts val="0"/>
              </a:spcAft>
              <a:buSzPts val="1800"/>
              <a:buChar char="●"/>
            </a:pPr>
            <a:r>
              <a:rPr lang="zh-CN" sz="1800" b="1"/>
              <a:t>Modeling</a:t>
            </a:r>
            <a:endParaRPr sz="1800" b="1"/>
          </a:p>
          <a:p>
            <a:pPr marL="457200" lvl="0" indent="0" algn="l" rtl="0">
              <a:spcBef>
                <a:spcPts val="0"/>
              </a:spcBef>
              <a:spcAft>
                <a:spcPts val="0"/>
              </a:spcAft>
              <a:buNone/>
            </a:pPr>
            <a:endParaRPr sz="1800" b="1"/>
          </a:p>
          <a:p>
            <a:pPr marL="457200" lvl="0" indent="-342900" algn="l" rtl="0">
              <a:spcBef>
                <a:spcPts val="0"/>
              </a:spcBef>
              <a:spcAft>
                <a:spcPts val="0"/>
              </a:spcAft>
              <a:buSzPts val="1800"/>
              <a:buChar char="●"/>
            </a:pPr>
            <a:r>
              <a:rPr lang="zh-CN" sz="1800" b="1"/>
              <a:t>Evaluation</a:t>
            </a:r>
            <a:endParaRPr sz="1800" b="1"/>
          </a:p>
          <a:p>
            <a:pPr marL="457200" lvl="0" indent="0" algn="l" rtl="0">
              <a:spcBef>
                <a:spcPts val="0"/>
              </a:spcBef>
              <a:spcAft>
                <a:spcPts val="0"/>
              </a:spcAft>
              <a:buNone/>
            </a:pPr>
            <a:endParaRPr sz="1800" b="1"/>
          </a:p>
          <a:p>
            <a:pPr marL="457200" lvl="0" indent="-342900" algn="l" rtl="0">
              <a:spcBef>
                <a:spcPts val="0"/>
              </a:spcBef>
              <a:spcAft>
                <a:spcPts val="0"/>
              </a:spcAft>
              <a:buSzPts val="1800"/>
              <a:buChar char="●"/>
            </a:pPr>
            <a:r>
              <a:rPr lang="zh-CN" sz="1800" b="1"/>
              <a:t>Deployment</a:t>
            </a:r>
            <a:endParaRPr sz="1800" b="1"/>
          </a:p>
        </p:txBody>
      </p:sp>
      <p:pic>
        <p:nvPicPr>
          <p:cNvPr id="297" name="Google Shape;297;p16"/>
          <p:cNvPicPr preferRelativeResize="0"/>
          <p:nvPr/>
        </p:nvPicPr>
        <p:blipFill>
          <a:blip r:embed="rId3">
            <a:alphaModFix/>
          </a:blip>
          <a:stretch>
            <a:fillRect/>
          </a:stretch>
        </p:blipFill>
        <p:spPr>
          <a:xfrm>
            <a:off x="3980950" y="1337323"/>
            <a:ext cx="4812150" cy="3341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7"/>
          <p:cNvSpPr txBox="1">
            <a:spLocks noGrp="1"/>
          </p:cNvSpPr>
          <p:nvPr>
            <p:ph type="ctrTitle"/>
          </p:nvPr>
        </p:nvSpPr>
        <p:spPr>
          <a:xfrm>
            <a:off x="144750" y="990375"/>
            <a:ext cx="8854500" cy="35808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zh-CN" sz="3000">
                <a:solidFill>
                  <a:srgbClr val="FFD966"/>
                </a:solidFill>
                <a:latin typeface="Arial"/>
                <a:ea typeface="Arial"/>
                <a:cs typeface="Arial"/>
                <a:sym typeface="Arial"/>
              </a:rPr>
              <a:t>ㅇ Business Question</a:t>
            </a:r>
            <a:endParaRPr sz="3000">
              <a:solidFill>
                <a:srgbClr val="FFD966"/>
              </a:solidFill>
              <a:latin typeface="Arial"/>
              <a:ea typeface="Arial"/>
              <a:cs typeface="Arial"/>
              <a:sym typeface="Arial"/>
            </a:endParaRPr>
          </a:p>
          <a:p>
            <a:pPr marL="457200" lvl="0" indent="0" algn="l" rtl="0">
              <a:spcBef>
                <a:spcPts val="0"/>
              </a:spcBef>
              <a:spcAft>
                <a:spcPts val="0"/>
              </a:spcAft>
              <a:buNone/>
            </a:pPr>
            <a:r>
              <a:rPr lang="zh-CN" sz="3000">
                <a:latin typeface="Arial"/>
                <a:ea typeface="Arial"/>
                <a:cs typeface="Arial"/>
                <a:sym typeface="Arial"/>
              </a:rPr>
              <a:t>- How accurately the food diet can predict the</a:t>
            </a:r>
            <a:endParaRPr sz="3000">
              <a:latin typeface="Arial"/>
              <a:ea typeface="Arial"/>
              <a:cs typeface="Arial"/>
              <a:sym typeface="Arial"/>
            </a:endParaRPr>
          </a:p>
          <a:p>
            <a:pPr marL="457200" lvl="0" indent="0" algn="l" rtl="0">
              <a:spcBef>
                <a:spcPts val="0"/>
              </a:spcBef>
              <a:spcAft>
                <a:spcPts val="0"/>
              </a:spcAft>
              <a:buNone/>
            </a:pPr>
            <a:r>
              <a:rPr lang="zh-CN" sz="3000">
                <a:latin typeface="Arial"/>
                <a:ea typeface="Arial"/>
                <a:cs typeface="Arial"/>
                <a:sym typeface="Arial"/>
              </a:rPr>
              <a:t>  countries' death rate?</a:t>
            </a:r>
            <a:endParaRPr sz="3000">
              <a:latin typeface="Arial"/>
              <a:ea typeface="Arial"/>
              <a:cs typeface="Arial"/>
              <a:sym typeface="Arial"/>
            </a:endParaRPr>
          </a:p>
          <a:p>
            <a:pPr marL="457200" lvl="0" indent="0" algn="l" rtl="0">
              <a:spcBef>
                <a:spcPts val="0"/>
              </a:spcBef>
              <a:spcAft>
                <a:spcPts val="0"/>
              </a:spcAft>
              <a:buNone/>
            </a:pPr>
            <a:r>
              <a:rPr lang="zh-CN" sz="3000">
                <a:latin typeface="Arial"/>
                <a:ea typeface="Arial"/>
                <a:cs typeface="Arial"/>
                <a:sym typeface="Arial"/>
              </a:rPr>
              <a:t>- Can healthy diet predict the countries death </a:t>
            </a:r>
            <a:endParaRPr sz="3000">
              <a:latin typeface="Arial"/>
              <a:ea typeface="Arial"/>
              <a:cs typeface="Arial"/>
              <a:sym typeface="Arial"/>
            </a:endParaRPr>
          </a:p>
          <a:p>
            <a:pPr marL="457200" lvl="0" indent="0" algn="l" rtl="0">
              <a:spcBef>
                <a:spcPts val="0"/>
              </a:spcBef>
              <a:spcAft>
                <a:spcPts val="0"/>
              </a:spcAft>
              <a:buNone/>
            </a:pPr>
            <a:r>
              <a:rPr lang="zh-CN" sz="3000">
                <a:latin typeface="Arial"/>
                <a:ea typeface="Arial"/>
                <a:cs typeface="Arial"/>
                <a:sym typeface="Arial"/>
              </a:rPr>
              <a:t>  rate?</a:t>
            </a:r>
            <a:endParaRPr sz="3000">
              <a:latin typeface="Arial"/>
              <a:ea typeface="Arial"/>
              <a:cs typeface="Arial"/>
              <a:sym typeface="Arial"/>
            </a:endParaRPr>
          </a:p>
          <a:p>
            <a:pPr marL="457200" lvl="0" indent="0" algn="l" rtl="0">
              <a:spcBef>
                <a:spcPts val="0"/>
              </a:spcBef>
              <a:spcAft>
                <a:spcPts val="0"/>
              </a:spcAft>
              <a:buNone/>
            </a:pPr>
            <a:endParaRPr sz="3000">
              <a:latin typeface="Arial"/>
              <a:ea typeface="Arial"/>
              <a:cs typeface="Arial"/>
              <a:sym typeface="Arial"/>
            </a:endParaRPr>
          </a:p>
          <a:p>
            <a:pPr marL="0" lvl="0" indent="0" algn="l" rtl="0">
              <a:spcBef>
                <a:spcPts val="0"/>
              </a:spcBef>
              <a:spcAft>
                <a:spcPts val="0"/>
              </a:spcAft>
              <a:buNone/>
            </a:pPr>
            <a:r>
              <a:rPr lang="zh-CN" sz="3000">
                <a:solidFill>
                  <a:srgbClr val="FFD966"/>
                </a:solidFill>
                <a:latin typeface="Arial"/>
                <a:ea typeface="Arial"/>
                <a:cs typeface="Arial"/>
                <a:sym typeface="Arial"/>
              </a:rPr>
              <a:t>ㅇ Food diet features</a:t>
            </a:r>
            <a:endParaRPr sz="3000">
              <a:solidFill>
                <a:srgbClr val="FFD966"/>
              </a:solidFill>
              <a:latin typeface="Arial"/>
              <a:ea typeface="Arial"/>
              <a:cs typeface="Arial"/>
              <a:sym typeface="Arial"/>
            </a:endParaRPr>
          </a:p>
          <a:p>
            <a:pPr marL="457200" lvl="0" indent="0" algn="l" rtl="0">
              <a:spcBef>
                <a:spcPts val="0"/>
              </a:spcBef>
              <a:spcAft>
                <a:spcPts val="0"/>
              </a:spcAft>
              <a:buNone/>
            </a:pPr>
            <a:r>
              <a:rPr lang="zh-CN" sz="3000">
                <a:latin typeface="Arial"/>
                <a:ea typeface="Arial"/>
                <a:cs typeface="Arial"/>
                <a:sym typeface="Arial"/>
              </a:rPr>
              <a:t>- Ranking 3 most relevant food diet features</a:t>
            </a:r>
            <a:endParaRPr sz="3000">
              <a:latin typeface="Arial"/>
              <a:ea typeface="Arial"/>
              <a:cs typeface="Arial"/>
              <a:sym typeface="Arial"/>
            </a:endParaRPr>
          </a:p>
          <a:p>
            <a:pPr marL="457200" lvl="0" indent="0" algn="l" rtl="0">
              <a:spcBef>
                <a:spcPts val="0"/>
              </a:spcBef>
              <a:spcAft>
                <a:spcPts val="0"/>
              </a:spcAft>
              <a:buNone/>
            </a:pPr>
            <a:r>
              <a:rPr lang="zh-CN" sz="3000">
                <a:latin typeface="Arial"/>
                <a:ea typeface="Arial"/>
                <a:cs typeface="Arial"/>
                <a:sym typeface="Arial"/>
              </a:rPr>
              <a:t>- Why features relevant to specific coutries</a:t>
            </a:r>
            <a:endParaRPr sz="3000">
              <a:latin typeface="Arial"/>
              <a:ea typeface="Arial"/>
              <a:cs typeface="Arial"/>
              <a:sym typeface="Arial"/>
            </a:endParaRPr>
          </a:p>
        </p:txBody>
      </p:sp>
      <p:sp>
        <p:nvSpPr>
          <p:cNvPr id="303" name="Google Shape;303;p17"/>
          <p:cNvSpPr txBox="1">
            <a:spLocks noGrp="1"/>
          </p:cNvSpPr>
          <p:nvPr>
            <p:ph type="ctrTitle"/>
          </p:nvPr>
        </p:nvSpPr>
        <p:spPr>
          <a:xfrm>
            <a:off x="158075" y="0"/>
            <a:ext cx="5144400" cy="8964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t>Business Goals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8"/>
          <p:cNvSpPr txBox="1">
            <a:spLocks noGrp="1"/>
          </p:cNvSpPr>
          <p:nvPr>
            <p:ph type="ctrTitle"/>
          </p:nvPr>
        </p:nvSpPr>
        <p:spPr>
          <a:xfrm>
            <a:off x="182125" y="115475"/>
            <a:ext cx="4854300" cy="825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t>Data consideration</a:t>
            </a:r>
            <a:endParaRPr/>
          </a:p>
        </p:txBody>
      </p:sp>
      <p:sp>
        <p:nvSpPr>
          <p:cNvPr id="309" name="Google Shape;309;p18"/>
          <p:cNvSpPr txBox="1">
            <a:spLocks noGrp="1"/>
          </p:cNvSpPr>
          <p:nvPr>
            <p:ph type="subTitle" idx="1"/>
          </p:nvPr>
        </p:nvSpPr>
        <p:spPr>
          <a:xfrm>
            <a:off x="328025" y="4162100"/>
            <a:ext cx="9036900" cy="9132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zh-CN"/>
              <a:t>Columns : 31(count : 170)</a:t>
            </a:r>
            <a:endParaRPr/>
          </a:p>
          <a:p>
            <a:pPr marL="0" lvl="0" indent="0" algn="l" rtl="0">
              <a:spcBef>
                <a:spcPts val="0"/>
              </a:spcBef>
              <a:spcAft>
                <a:spcPts val="0"/>
              </a:spcAft>
              <a:buNone/>
            </a:pPr>
            <a:r>
              <a:rPr lang="zh-CN"/>
              <a:t>(Include null : obesity(3), Undernourished(7), Confirmed(6), Deaths(6), Recovered(6), Active(8))</a:t>
            </a:r>
            <a:endParaRPr/>
          </a:p>
          <a:p>
            <a:pPr marL="0" lvl="0" indent="0" algn="l" rtl="0">
              <a:spcBef>
                <a:spcPts val="0"/>
              </a:spcBef>
              <a:spcAft>
                <a:spcPts val="0"/>
              </a:spcAft>
              <a:buNone/>
            </a:pPr>
            <a:r>
              <a:rPr lang="zh-CN"/>
              <a:t>Dtypes : Float(29), Object(2)</a:t>
            </a:r>
            <a:endParaRPr/>
          </a:p>
        </p:txBody>
      </p:sp>
      <p:pic>
        <p:nvPicPr>
          <p:cNvPr id="310" name="Google Shape;310;p18"/>
          <p:cNvPicPr preferRelativeResize="0"/>
          <p:nvPr/>
        </p:nvPicPr>
        <p:blipFill>
          <a:blip r:embed="rId3">
            <a:alphaModFix/>
          </a:blip>
          <a:stretch>
            <a:fillRect/>
          </a:stretch>
        </p:blipFill>
        <p:spPr>
          <a:xfrm>
            <a:off x="328025" y="878950"/>
            <a:ext cx="3614100" cy="3283150"/>
          </a:xfrm>
          <a:prstGeom prst="rect">
            <a:avLst/>
          </a:prstGeom>
          <a:noFill/>
          <a:ln>
            <a:noFill/>
          </a:ln>
        </p:spPr>
      </p:pic>
      <p:pic>
        <p:nvPicPr>
          <p:cNvPr id="311" name="Google Shape;311;p18"/>
          <p:cNvPicPr preferRelativeResize="0"/>
          <p:nvPr/>
        </p:nvPicPr>
        <p:blipFill>
          <a:blip r:embed="rId4">
            <a:alphaModFix/>
          </a:blip>
          <a:stretch>
            <a:fillRect/>
          </a:stretch>
        </p:blipFill>
        <p:spPr>
          <a:xfrm>
            <a:off x="4654725" y="878950"/>
            <a:ext cx="4041825" cy="32831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9"/>
          <p:cNvSpPr txBox="1">
            <a:spLocks noGrp="1"/>
          </p:cNvSpPr>
          <p:nvPr>
            <p:ph type="ctrTitle"/>
          </p:nvPr>
        </p:nvSpPr>
        <p:spPr>
          <a:xfrm>
            <a:off x="182125" y="115475"/>
            <a:ext cx="4854300" cy="825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t>Data consideration</a:t>
            </a:r>
            <a:endParaRPr/>
          </a:p>
        </p:txBody>
      </p:sp>
      <p:sp>
        <p:nvSpPr>
          <p:cNvPr id="317" name="Google Shape;317;p19"/>
          <p:cNvSpPr txBox="1">
            <a:spLocks noGrp="1"/>
          </p:cNvSpPr>
          <p:nvPr>
            <p:ph type="ctrTitle"/>
          </p:nvPr>
        </p:nvSpPr>
        <p:spPr>
          <a:xfrm>
            <a:off x="182125" y="941075"/>
            <a:ext cx="8781900" cy="39033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t>ㅇ Missing values in obesity, deaths</a:t>
            </a:r>
            <a:endParaRPr/>
          </a:p>
          <a:p>
            <a:pPr marL="0" lvl="0" indent="0" algn="l" rtl="0">
              <a:spcBef>
                <a:spcPts val="0"/>
              </a:spcBef>
              <a:spcAft>
                <a:spcPts val="0"/>
              </a:spcAft>
              <a:buNone/>
            </a:pPr>
            <a:r>
              <a:rPr lang="zh-CN"/>
              <a:t>     replaced to mean value</a:t>
            </a:r>
            <a:endParaRPr/>
          </a:p>
          <a:p>
            <a:pPr marL="0" lvl="0" indent="0" algn="l" rtl="0">
              <a:spcBef>
                <a:spcPts val="0"/>
              </a:spcBef>
              <a:spcAft>
                <a:spcPts val="0"/>
              </a:spcAft>
              <a:buNone/>
            </a:pPr>
            <a:endParaRPr/>
          </a:p>
          <a:p>
            <a:pPr marL="0" lvl="0" indent="0" algn="l" rtl="0">
              <a:spcBef>
                <a:spcPts val="0"/>
              </a:spcBef>
              <a:spcAft>
                <a:spcPts val="0"/>
              </a:spcAft>
              <a:buNone/>
            </a:pPr>
            <a:r>
              <a:rPr lang="zh-CN"/>
              <a:t>ㅇ Unnecessary columns are dropped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20"/>
          <p:cNvSpPr txBox="1">
            <a:spLocks noGrp="1"/>
          </p:cNvSpPr>
          <p:nvPr>
            <p:ph type="ctrTitle"/>
          </p:nvPr>
        </p:nvSpPr>
        <p:spPr>
          <a:xfrm>
            <a:off x="198025" y="54700"/>
            <a:ext cx="8141400" cy="825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t>Descriptive analysis</a:t>
            </a:r>
            <a:endParaRPr/>
          </a:p>
        </p:txBody>
      </p:sp>
      <p:sp>
        <p:nvSpPr>
          <p:cNvPr id="323" name="Google Shape;323;p20"/>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324" name="Google Shape;324;p20"/>
          <p:cNvPicPr preferRelativeResize="0"/>
          <p:nvPr/>
        </p:nvPicPr>
        <p:blipFill>
          <a:blip r:embed="rId3">
            <a:alphaModFix/>
          </a:blip>
          <a:stretch>
            <a:fillRect/>
          </a:stretch>
        </p:blipFill>
        <p:spPr>
          <a:xfrm>
            <a:off x="6043875" y="330975"/>
            <a:ext cx="3004824" cy="4720550"/>
          </a:xfrm>
          <a:prstGeom prst="rect">
            <a:avLst/>
          </a:prstGeom>
          <a:noFill/>
          <a:ln>
            <a:noFill/>
          </a:ln>
        </p:spPr>
      </p:pic>
      <p:pic>
        <p:nvPicPr>
          <p:cNvPr id="325" name="Google Shape;325;p20"/>
          <p:cNvPicPr preferRelativeResize="0"/>
          <p:nvPr/>
        </p:nvPicPr>
        <p:blipFill>
          <a:blip r:embed="rId4">
            <a:alphaModFix/>
          </a:blip>
          <a:stretch>
            <a:fillRect/>
          </a:stretch>
        </p:blipFill>
        <p:spPr>
          <a:xfrm>
            <a:off x="240800" y="928625"/>
            <a:ext cx="5642674" cy="412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1"/>
          <p:cNvSpPr txBox="1">
            <a:spLocks noGrp="1"/>
          </p:cNvSpPr>
          <p:nvPr>
            <p:ph type="ctrTitle"/>
          </p:nvPr>
        </p:nvSpPr>
        <p:spPr>
          <a:xfrm>
            <a:off x="194300" y="50925"/>
            <a:ext cx="7614000" cy="8256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zh-CN"/>
              <a:t>Visualization(correlation coefficient)</a:t>
            </a:r>
            <a:endParaRPr/>
          </a:p>
        </p:txBody>
      </p:sp>
      <p:pic>
        <p:nvPicPr>
          <p:cNvPr id="331" name="Google Shape;331;p21"/>
          <p:cNvPicPr preferRelativeResize="0"/>
          <p:nvPr/>
        </p:nvPicPr>
        <p:blipFill>
          <a:blip r:embed="rId3">
            <a:alphaModFix/>
          </a:blip>
          <a:stretch>
            <a:fillRect/>
          </a:stretch>
        </p:blipFill>
        <p:spPr>
          <a:xfrm>
            <a:off x="280725" y="954075"/>
            <a:ext cx="8511350" cy="40546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2"/>
          <p:cNvSpPr txBox="1">
            <a:spLocks noGrp="1"/>
          </p:cNvSpPr>
          <p:nvPr>
            <p:ph type="ctrTitle"/>
          </p:nvPr>
        </p:nvSpPr>
        <p:spPr>
          <a:xfrm>
            <a:off x="194300" y="0"/>
            <a:ext cx="7731600" cy="825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t>Visualization(scatter plot)</a:t>
            </a:r>
            <a:endParaRPr/>
          </a:p>
        </p:txBody>
      </p:sp>
      <p:pic>
        <p:nvPicPr>
          <p:cNvPr id="337" name="Google Shape;337;p22"/>
          <p:cNvPicPr preferRelativeResize="0"/>
          <p:nvPr/>
        </p:nvPicPr>
        <p:blipFill>
          <a:blip r:embed="rId3">
            <a:alphaModFix/>
          </a:blip>
          <a:stretch>
            <a:fillRect/>
          </a:stretch>
        </p:blipFill>
        <p:spPr>
          <a:xfrm>
            <a:off x="45675" y="665527"/>
            <a:ext cx="4404125" cy="4354200"/>
          </a:xfrm>
          <a:prstGeom prst="rect">
            <a:avLst/>
          </a:prstGeom>
          <a:noFill/>
          <a:ln>
            <a:noFill/>
          </a:ln>
        </p:spPr>
      </p:pic>
      <p:pic>
        <p:nvPicPr>
          <p:cNvPr id="338" name="Google Shape;338;p22"/>
          <p:cNvPicPr preferRelativeResize="0"/>
          <p:nvPr/>
        </p:nvPicPr>
        <p:blipFill>
          <a:blip r:embed="rId4">
            <a:alphaModFix/>
          </a:blip>
          <a:stretch>
            <a:fillRect/>
          </a:stretch>
        </p:blipFill>
        <p:spPr>
          <a:xfrm>
            <a:off x="4572000" y="665525"/>
            <a:ext cx="4389401" cy="2224560"/>
          </a:xfrm>
          <a:prstGeom prst="rect">
            <a:avLst/>
          </a:prstGeom>
          <a:noFill/>
          <a:ln>
            <a:noFill/>
          </a:ln>
        </p:spPr>
      </p:pic>
      <p:pic>
        <p:nvPicPr>
          <p:cNvPr id="339" name="Google Shape;339;p22"/>
          <p:cNvPicPr preferRelativeResize="0"/>
          <p:nvPr/>
        </p:nvPicPr>
        <p:blipFill>
          <a:blip r:embed="rId5">
            <a:alphaModFix/>
          </a:blip>
          <a:stretch>
            <a:fillRect/>
          </a:stretch>
        </p:blipFill>
        <p:spPr>
          <a:xfrm>
            <a:off x="4572000" y="2999800"/>
            <a:ext cx="4389401" cy="2019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3"/>
          <p:cNvSpPr txBox="1">
            <a:spLocks noGrp="1"/>
          </p:cNvSpPr>
          <p:nvPr>
            <p:ph type="ctrTitle"/>
          </p:nvPr>
        </p:nvSpPr>
        <p:spPr>
          <a:xfrm>
            <a:off x="198025" y="54700"/>
            <a:ext cx="8141400" cy="825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t>Normality(Shapiro and QQplot) </a:t>
            </a:r>
            <a:endParaRPr/>
          </a:p>
        </p:txBody>
      </p:sp>
      <p:sp>
        <p:nvSpPr>
          <p:cNvPr id="345" name="Google Shape;345;p23"/>
          <p:cNvSpPr txBox="1">
            <a:spLocks noGrp="1"/>
          </p:cNvSpPr>
          <p:nvPr>
            <p:ph type="ctrTitle"/>
          </p:nvPr>
        </p:nvSpPr>
        <p:spPr>
          <a:xfrm>
            <a:off x="4144225" y="1032700"/>
            <a:ext cx="4819800" cy="36723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zh-CN"/>
              <a:t>Shapiro result</a:t>
            </a:r>
            <a:endParaRPr/>
          </a:p>
          <a:p>
            <a:pPr marL="0" lvl="0" indent="0" algn="l" rtl="0">
              <a:spcBef>
                <a:spcPts val="0"/>
              </a:spcBef>
              <a:spcAft>
                <a:spcPts val="0"/>
              </a:spcAft>
              <a:buNone/>
            </a:pPr>
            <a:r>
              <a:rPr lang="zh-CN"/>
              <a:t>H1 = Normality</a:t>
            </a:r>
            <a:endParaRPr/>
          </a:p>
          <a:p>
            <a:pPr marL="0" lvl="0" indent="0" algn="l" rtl="0">
              <a:spcBef>
                <a:spcPts val="0"/>
              </a:spcBef>
              <a:spcAft>
                <a:spcPts val="0"/>
              </a:spcAft>
              <a:buNone/>
            </a:pPr>
            <a:r>
              <a:rPr lang="zh-CN"/>
              <a:t>H2 = No normality</a:t>
            </a:r>
            <a:endParaRPr/>
          </a:p>
          <a:p>
            <a:pPr marL="0" lvl="0" indent="0" algn="l" rtl="0">
              <a:spcBef>
                <a:spcPts val="0"/>
              </a:spcBef>
              <a:spcAft>
                <a:spcPts val="0"/>
              </a:spcAft>
              <a:buNone/>
            </a:pPr>
            <a:r>
              <a:rPr lang="zh-CN"/>
              <a:t>p-value &gt; 0.05</a:t>
            </a:r>
            <a:endParaRPr/>
          </a:p>
          <a:p>
            <a:pPr marL="0" lvl="0" indent="0" algn="l" rtl="0">
              <a:spcBef>
                <a:spcPts val="0"/>
              </a:spcBef>
              <a:spcAft>
                <a:spcPts val="0"/>
              </a:spcAft>
              <a:buNone/>
            </a:pPr>
            <a:r>
              <a:rPr lang="zh-CN"/>
              <a:t>statistic = 0.685718</a:t>
            </a:r>
            <a:endParaRPr/>
          </a:p>
          <a:p>
            <a:pPr marL="0" lvl="0" indent="0" algn="l" rtl="0">
              <a:spcBef>
                <a:spcPts val="0"/>
              </a:spcBef>
              <a:spcAft>
                <a:spcPts val="0"/>
              </a:spcAft>
              <a:buNone/>
            </a:pPr>
            <a:endParaRPr/>
          </a:p>
          <a:p>
            <a:pPr marL="0" lvl="0" indent="0" algn="l" rtl="0">
              <a:spcBef>
                <a:spcPts val="0"/>
              </a:spcBef>
              <a:spcAft>
                <a:spcPts val="0"/>
              </a:spcAft>
              <a:buNone/>
            </a:pPr>
            <a:r>
              <a:rPr lang="zh-CN">
                <a:solidFill>
                  <a:srgbClr val="FFD966"/>
                </a:solidFill>
              </a:rPr>
              <a:t>Linear regression is possible</a:t>
            </a:r>
            <a:endParaRPr>
              <a:solidFill>
                <a:srgbClr val="FFD966"/>
              </a:solidFill>
            </a:endParaRPr>
          </a:p>
        </p:txBody>
      </p:sp>
      <p:pic>
        <p:nvPicPr>
          <p:cNvPr id="346" name="Google Shape;346;p23"/>
          <p:cNvPicPr preferRelativeResize="0"/>
          <p:nvPr/>
        </p:nvPicPr>
        <p:blipFill>
          <a:blip r:embed="rId3">
            <a:alphaModFix/>
          </a:blip>
          <a:stretch>
            <a:fillRect/>
          </a:stretch>
        </p:blipFill>
        <p:spPr>
          <a:xfrm>
            <a:off x="152400" y="880300"/>
            <a:ext cx="3839426" cy="3935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4"/>
          <p:cNvSpPr txBox="1">
            <a:spLocks noGrp="1"/>
          </p:cNvSpPr>
          <p:nvPr>
            <p:ph type="ctrTitle"/>
          </p:nvPr>
        </p:nvSpPr>
        <p:spPr>
          <a:xfrm>
            <a:off x="176650" y="-53500"/>
            <a:ext cx="8141400" cy="825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zh-CN"/>
              <a:t>MODELING</a:t>
            </a:r>
            <a:endParaRPr/>
          </a:p>
        </p:txBody>
      </p:sp>
      <p:sp>
        <p:nvSpPr>
          <p:cNvPr id="352" name="Google Shape;352;p24"/>
          <p:cNvSpPr txBox="1">
            <a:spLocks noGrp="1"/>
          </p:cNvSpPr>
          <p:nvPr>
            <p:ph type="ctrTitle"/>
          </p:nvPr>
        </p:nvSpPr>
        <p:spPr>
          <a:xfrm>
            <a:off x="181950" y="870050"/>
            <a:ext cx="8962200" cy="58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zh-CN" sz="3040"/>
              <a:t>Death rates and obestiy, alcoholic, animal fats</a:t>
            </a:r>
            <a:endParaRPr sz="3040"/>
          </a:p>
        </p:txBody>
      </p:sp>
      <p:sp>
        <p:nvSpPr>
          <p:cNvPr id="353" name="Google Shape;353;p24"/>
          <p:cNvSpPr txBox="1">
            <a:spLocks noGrp="1"/>
          </p:cNvSpPr>
          <p:nvPr>
            <p:ph type="ctrTitle"/>
          </p:nvPr>
        </p:nvSpPr>
        <p:spPr>
          <a:xfrm>
            <a:off x="236575" y="3404750"/>
            <a:ext cx="8141400" cy="653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zh-CN" sz="3040"/>
              <a:t>Linear Regression Y : Obesity,  X : meats</a:t>
            </a:r>
            <a:endParaRPr sz="3040"/>
          </a:p>
        </p:txBody>
      </p:sp>
      <p:pic>
        <p:nvPicPr>
          <p:cNvPr id="354" name="Google Shape;354;p24"/>
          <p:cNvPicPr preferRelativeResize="0"/>
          <p:nvPr/>
        </p:nvPicPr>
        <p:blipFill>
          <a:blip r:embed="rId3">
            <a:alphaModFix/>
          </a:blip>
          <a:stretch>
            <a:fillRect/>
          </a:stretch>
        </p:blipFill>
        <p:spPr>
          <a:xfrm>
            <a:off x="236575" y="4165045"/>
            <a:ext cx="5132250" cy="886480"/>
          </a:xfrm>
          <a:prstGeom prst="rect">
            <a:avLst/>
          </a:prstGeom>
          <a:noFill/>
          <a:ln>
            <a:noFill/>
          </a:ln>
        </p:spPr>
      </p:pic>
      <p:pic>
        <p:nvPicPr>
          <p:cNvPr id="355" name="Google Shape;355;p24"/>
          <p:cNvPicPr preferRelativeResize="0"/>
          <p:nvPr/>
        </p:nvPicPr>
        <p:blipFill>
          <a:blip r:embed="rId4">
            <a:alphaModFix/>
          </a:blip>
          <a:stretch>
            <a:fillRect/>
          </a:stretch>
        </p:blipFill>
        <p:spPr>
          <a:xfrm>
            <a:off x="236563" y="1554175"/>
            <a:ext cx="7115175" cy="1828800"/>
          </a:xfrm>
          <a:prstGeom prst="rect">
            <a:avLst/>
          </a:prstGeom>
          <a:noFill/>
          <a:ln>
            <a:noFill/>
          </a:ln>
        </p:spPr>
      </p:pic>
      <p:sp>
        <p:nvSpPr>
          <p:cNvPr id="356" name="Google Shape;356;p24"/>
          <p:cNvSpPr/>
          <p:nvPr/>
        </p:nvSpPr>
        <p:spPr>
          <a:xfrm>
            <a:off x="5701700" y="1854225"/>
            <a:ext cx="801900" cy="5016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4"/>
          <p:cNvSpPr/>
          <p:nvPr/>
        </p:nvSpPr>
        <p:spPr>
          <a:xfrm>
            <a:off x="3220825" y="4165050"/>
            <a:ext cx="684600" cy="8865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25"/>
          <p:cNvSpPr txBox="1">
            <a:spLocks noGrp="1"/>
          </p:cNvSpPr>
          <p:nvPr>
            <p:ph type="ctrTitle"/>
          </p:nvPr>
        </p:nvSpPr>
        <p:spPr>
          <a:xfrm>
            <a:off x="284250" y="905625"/>
            <a:ext cx="7920000" cy="46248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zh-CN" sz="1550"/>
              <a:t>How accurately the food diet can predict the</a:t>
            </a:r>
            <a:endParaRPr sz="1550"/>
          </a:p>
          <a:p>
            <a:pPr marL="0" lvl="0" indent="0" algn="l" rtl="0">
              <a:spcBef>
                <a:spcPts val="0"/>
              </a:spcBef>
              <a:spcAft>
                <a:spcPts val="0"/>
              </a:spcAft>
              <a:buNone/>
            </a:pPr>
            <a:r>
              <a:rPr lang="zh-CN" sz="1550"/>
              <a:t>countries' death rate?</a:t>
            </a:r>
            <a:endParaRPr sz="1550"/>
          </a:p>
          <a:p>
            <a:pPr marL="0" lvl="0" indent="0" algn="l" rtl="0">
              <a:spcBef>
                <a:spcPts val="0"/>
              </a:spcBef>
              <a:spcAft>
                <a:spcPts val="0"/>
              </a:spcAft>
              <a:buNone/>
            </a:pPr>
            <a:r>
              <a:rPr lang="zh-CN" sz="1550"/>
              <a:t>    </a:t>
            </a:r>
            <a:r>
              <a:rPr lang="zh-CN" sz="1550" b="0"/>
              <a:t>We can tell from our previous data, the regression coefficient is a  </a:t>
            </a:r>
            <a:r>
              <a:rPr lang="zh-CN" sz="1550" u="sng"/>
              <a:t>perfectly positive correlation</a:t>
            </a:r>
            <a:r>
              <a:rPr lang="zh-CN" sz="1550"/>
              <a:t>. </a:t>
            </a:r>
            <a:r>
              <a:rPr lang="zh-CN" sz="1550" b="0"/>
              <a:t>It means the food diet has directly relationship with death rate, and it can be used to predict the countries’s death rate as well. </a:t>
            </a:r>
            <a:endParaRPr sz="1550" b="0"/>
          </a:p>
          <a:p>
            <a:pPr marL="0" lvl="0" indent="0" algn="l" rtl="0">
              <a:spcBef>
                <a:spcPts val="0"/>
              </a:spcBef>
              <a:spcAft>
                <a:spcPts val="0"/>
              </a:spcAft>
              <a:buNone/>
            </a:pPr>
            <a:r>
              <a:rPr lang="zh-CN" sz="1550" b="0"/>
              <a:t>    </a:t>
            </a:r>
            <a:endParaRPr sz="1550" b="0"/>
          </a:p>
          <a:p>
            <a:pPr marL="0" lvl="0" indent="0" algn="l" rtl="0">
              <a:spcBef>
                <a:spcPts val="0"/>
              </a:spcBef>
              <a:spcAft>
                <a:spcPts val="0"/>
              </a:spcAft>
              <a:buNone/>
            </a:pPr>
            <a:endParaRPr sz="1550"/>
          </a:p>
          <a:p>
            <a:pPr marL="0" lvl="0" indent="0" algn="l" rtl="0">
              <a:spcBef>
                <a:spcPts val="0"/>
              </a:spcBef>
              <a:spcAft>
                <a:spcPts val="0"/>
              </a:spcAft>
              <a:buNone/>
            </a:pPr>
            <a:r>
              <a:rPr lang="zh-CN" sz="1550"/>
              <a:t>What are the important food diet features that are</a:t>
            </a:r>
            <a:endParaRPr sz="1550"/>
          </a:p>
          <a:p>
            <a:pPr marL="0" lvl="0" indent="0" algn="l" rtl="0">
              <a:spcBef>
                <a:spcPts val="0"/>
              </a:spcBef>
              <a:spcAft>
                <a:spcPts val="0"/>
              </a:spcAft>
              <a:buNone/>
            </a:pPr>
            <a:r>
              <a:rPr lang="zh-CN" sz="1550"/>
              <a:t>used to predict the deaths of specific countries/regions?</a:t>
            </a:r>
            <a:endParaRPr sz="1550"/>
          </a:p>
          <a:p>
            <a:pPr marL="0" lvl="0" indent="0" algn="l" rtl="0">
              <a:spcBef>
                <a:spcPts val="0"/>
              </a:spcBef>
              <a:spcAft>
                <a:spcPts val="0"/>
              </a:spcAft>
              <a:buNone/>
            </a:pPr>
            <a:endParaRPr sz="1550"/>
          </a:p>
          <a:p>
            <a:pPr marL="0" lvl="0" indent="0" algn="l" rtl="0">
              <a:spcBef>
                <a:spcPts val="0"/>
              </a:spcBef>
              <a:spcAft>
                <a:spcPts val="0"/>
              </a:spcAft>
              <a:buNone/>
            </a:pPr>
            <a:r>
              <a:rPr lang="zh-CN" sz="1550"/>
              <a:t>     </a:t>
            </a:r>
            <a:r>
              <a:rPr lang="zh-CN" sz="1550" b="0"/>
              <a:t>Ranking 3 most relevant food diet features</a:t>
            </a:r>
            <a:endParaRPr sz="1550" b="0"/>
          </a:p>
          <a:p>
            <a:pPr marL="0" lvl="0" indent="0" algn="l" rtl="0">
              <a:spcBef>
                <a:spcPts val="0"/>
              </a:spcBef>
              <a:spcAft>
                <a:spcPts val="0"/>
              </a:spcAft>
              <a:buNone/>
            </a:pPr>
            <a:endParaRPr sz="1550"/>
          </a:p>
          <a:p>
            <a:pPr marL="0" lvl="0" indent="0" algn="l" rtl="0">
              <a:spcBef>
                <a:spcPts val="0"/>
              </a:spcBef>
              <a:spcAft>
                <a:spcPts val="0"/>
              </a:spcAft>
              <a:buNone/>
            </a:pPr>
            <a:r>
              <a:rPr lang="zh-CN" sz="1550"/>
              <a:t>Research on why those food diet features are</a:t>
            </a:r>
            <a:endParaRPr sz="1550"/>
          </a:p>
          <a:p>
            <a:pPr marL="0" lvl="0" indent="0" algn="l" rtl="0">
              <a:spcBef>
                <a:spcPts val="0"/>
              </a:spcBef>
              <a:spcAft>
                <a:spcPts val="0"/>
              </a:spcAft>
              <a:buNone/>
            </a:pPr>
            <a:r>
              <a:rPr lang="zh-CN" sz="1550"/>
              <a:t>relevant to specific countries/regions but not others?</a:t>
            </a:r>
            <a:endParaRPr sz="1550"/>
          </a:p>
          <a:p>
            <a:pPr marL="0" lvl="0" indent="0" algn="l" rtl="0">
              <a:spcBef>
                <a:spcPts val="0"/>
              </a:spcBef>
              <a:spcAft>
                <a:spcPts val="0"/>
              </a:spcAft>
              <a:buNone/>
            </a:pPr>
            <a:endParaRPr sz="1550"/>
          </a:p>
          <a:p>
            <a:pPr marL="0" lvl="0" indent="0" algn="l" rtl="0">
              <a:spcBef>
                <a:spcPts val="0"/>
              </a:spcBef>
              <a:spcAft>
                <a:spcPts val="0"/>
              </a:spcAft>
              <a:buNone/>
            </a:pPr>
            <a:r>
              <a:rPr lang="zh-CN" sz="1550"/>
              <a:t>     The reason why those places have more Alchol consuming probably is their eating habit. </a:t>
            </a:r>
            <a:endParaRPr sz="1550"/>
          </a:p>
          <a:p>
            <a:pPr marL="0" lvl="0" indent="0" algn="l" rtl="0">
              <a:spcBef>
                <a:spcPts val="0"/>
              </a:spcBef>
              <a:spcAft>
                <a:spcPts val="0"/>
              </a:spcAft>
              <a:buNone/>
            </a:pPr>
            <a:r>
              <a:rPr lang="zh-CN" sz="1550"/>
              <a:t>     The reason why those places have more animal fat cosuming is about the cold weather.</a:t>
            </a:r>
            <a:endParaRPr sz="1550"/>
          </a:p>
          <a:p>
            <a:pPr marL="0" lvl="0" indent="0" algn="l" rtl="0">
              <a:spcBef>
                <a:spcPts val="0"/>
              </a:spcBef>
              <a:spcAft>
                <a:spcPts val="0"/>
              </a:spcAft>
              <a:buNone/>
            </a:pPr>
            <a:r>
              <a:rPr lang="zh-CN" sz="1550"/>
              <a:t>     The reason why those places have more obesity cosusuming is realted to the eating habit as well.</a:t>
            </a:r>
            <a:endParaRPr sz="1550"/>
          </a:p>
          <a:p>
            <a:pPr marL="0" lvl="0" indent="0" algn="l" rtl="0">
              <a:spcBef>
                <a:spcPts val="0"/>
              </a:spcBef>
              <a:spcAft>
                <a:spcPts val="0"/>
              </a:spcAft>
              <a:buNone/>
            </a:pPr>
            <a:endParaRPr/>
          </a:p>
        </p:txBody>
      </p:sp>
      <p:pic>
        <p:nvPicPr>
          <p:cNvPr id="364" name="Google Shape;364;p25"/>
          <p:cNvPicPr preferRelativeResize="0"/>
          <p:nvPr/>
        </p:nvPicPr>
        <p:blipFill>
          <a:blip r:embed="rId3">
            <a:alphaModFix/>
          </a:blip>
          <a:stretch>
            <a:fillRect/>
          </a:stretch>
        </p:blipFill>
        <p:spPr>
          <a:xfrm>
            <a:off x="5518625" y="1921523"/>
            <a:ext cx="783762" cy="2087600"/>
          </a:xfrm>
          <a:prstGeom prst="rect">
            <a:avLst/>
          </a:prstGeom>
          <a:noFill/>
          <a:ln>
            <a:noFill/>
          </a:ln>
        </p:spPr>
      </p:pic>
      <p:pic>
        <p:nvPicPr>
          <p:cNvPr id="365" name="Google Shape;365;p25"/>
          <p:cNvPicPr preferRelativeResize="0"/>
          <p:nvPr/>
        </p:nvPicPr>
        <p:blipFill>
          <a:blip r:embed="rId4">
            <a:alphaModFix/>
          </a:blip>
          <a:stretch>
            <a:fillRect/>
          </a:stretch>
        </p:blipFill>
        <p:spPr>
          <a:xfrm>
            <a:off x="6738625" y="1705621"/>
            <a:ext cx="588800" cy="2087600"/>
          </a:xfrm>
          <a:prstGeom prst="rect">
            <a:avLst/>
          </a:prstGeom>
          <a:noFill/>
          <a:ln>
            <a:noFill/>
          </a:ln>
        </p:spPr>
      </p:pic>
      <p:pic>
        <p:nvPicPr>
          <p:cNvPr id="366" name="Google Shape;366;p25"/>
          <p:cNvPicPr preferRelativeResize="0"/>
          <p:nvPr/>
        </p:nvPicPr>
        <p:blipFill>
          <a:blip r:embed="rId5">
            <a:alphaModFix/>
          </a:blip>
          <a:stretch>
            <a:fillRect/>
          </a:stretch>
        </p:blipFill>
        <p:spPr>
          <a:xfrm>
            <a:off x="7693550" y="1858397"/>
            <a:ext cx="1532313" cy="2099563"/>
          </a:xfrm>
          <a:prstGeom prst="rect">
            <a:avLst/>
          </a:prstGeom>
          <a:noFill/>
          <a:ln>
            <a:noFill/>
          </a:ln>
        </p:spPr>
      </p:pic>
      <p:sp>
        <p:nvSpPr>
          <p:cNvPr id="367" name="Google Shape;367;p25"/>
          <p:cNvSpPr txBox="1"/>
          <p:nvPr/>
        </p:nvSpPr>
        <p:spPr>
          <a:xfrm>
            <a:off x="5518625" y="137175"/>
            <a:ext cx="3497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zh-CN" sz="1300">
                <a:solidFill>
                  <a:schemeClr val="lt1"/>
                </a:solidFill>
                <a:latin typeface="Nunito"/>
                <a:ea typeface="Nunito"/>
                <a:cs typeface="Nunito"/>
                <a:sym typeface="Nunito"/>
              </a:rPr>
              <a:t>ALCHOL     ANIMAL FAT        OBSEITY</a:t>
            </a:r>
            <a:endParaRPr sz="1100"/>
          </a:p>
        </p:txBody>
      </p:sp>
      <p:sp>
        <p:nvSpPr>
          <p:cNvPr id="368" name="Google Shape;368;p25"/>
          <p:cNvSpPr txBox="1"/>
          <p:nvPr/>
        </p:nvSpPr>
        <p:spPr>
          <a:xfrm>
            <a:off x="3790325" y="137175"/>
            <a:ext cx="1149300" cy="44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CN" sz="2200" b="1">
                <a:solidFill>
                  <a:schemeClr val="lt1"/>
                </a:solidFill>
                <a:latin typeface="Nunito"/>
                <a:ea typeface="Nunito"/>
                <a:cs typeface="Nunito"/>
                <a:sym typeface="Nunito"/>
              </a:rPr>
              <a:t>Output</a:t>
            </a:r>
            <a:endParaRPr sz="2200" b="1">
              <a:solidFill>
                <a:schemeClr val="lt1"/>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6"/>
          <p:cNvSpPr txBox="1">
            <a:spLocks noGrp="1"/>
          </p:cNvSpPr>
          <p:nvPr>
            <p:ph type="ctrTitle"/>
          </p:nvPr>
        </p:nvSpPr>
        <p:spPr>
          <a:xfrm>
            <a:off x="177800" y="578875"/>
            <a:ext cx="8441700" cy="40401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zh-CN"/>
              <a:t>Conclusion</a:t>
            </a:r>
            <a:endParaRPr/>
          </a:p>
          <a:p>
            <a:pPr marL="0" lvl="0" indent="0" algn="l" rtl="0">
              <a:spcBef>
                <a:spcPts val="0"/>
              </a:spcBef>
              <a:spcAft>
                <a:spcPts val="0"/>
              </a:spcAft>
              <a:buNone/>
            </a:pPr>
            <a:endParaRPr/>
          </a:p>
          <a:p>
            <a:pPr marL="0" lvl="0" indent="0" algn="l" rtl="0">
              <a:spcBef>
                <a:spcPts val="0"/>
              </a:spcBef>
              <a:spcAft>
                <a:spcPts val="0"/>
              </a:spcAft>
              <a:buNone/>
            </a:pPr>
            <a:r>
              <a:rPr lang="zh-CN" sz="2000" b="0"/>
              <a:t>According to our data, we can confidently say that the healthy diet can help reduce the death rate of the countries. </a:t>
            </a:r>
            <a:endParaRPr sz="2000" b="0"/>
          </a:p>
          <a:p>
            <a:pPr marL="0" lvl="0" indent="0" algn="l" rtl="0">
              <a:spcBef>
                <a:spcPts val="0"/>
              </a:spcBef>
              <a:spcAft>
                <a:spcPts val="0"/>
              </a:spcAft>
              <a:buNone/>
            </a:pPr>
            <a:endParaRPr sz="2000" b="0"/>
          </a:p>
          <a:p>
            <a:pPr marL="0" lvl="0" indent="0" algn="l" rtl="0">
              <a:spcBef>
                <a:spcPts val="0"/>
              </a:spcBef>
              <a:spcAft>
                <a:spcPts val="0"/>
              </a:spcAft>
              <a:buNone/>
            </a:pPr>
            <a:r>
              <a:rPr lang="zh-CN" sz="2000" b="0"/>
              <a:t>Also, according to the NIH. Not eating nuts, seeds ,and seafood mega-3 also can increase the risk of death compared with the people that eat more processed meant and strong sugar drinks. </a:t>
            </a:r>
            <a:endParaRPr sz="2000" b="0"/>
          </a:p>
          <a:p>
            <a:pPr marL="0" lvl="0" indent="0" algn="l" rtl="0">
              <a:spcBef>
                <a:spcPts val="0"/>
              </a:spcBef>
              <a:spcAft>
                <a:spcPts val="0"/>
              </a:spcAft>
              <a:buNone/>
            </a:pPr>
            <a:endParaRPr sz="2000" b="0"/>
          </a:p>
          <a:p>
            <a:pPr marL="0" lvl="0" indent="0" algn="l" rtl="0">
              <a:spcBef>
                <a:spcPts val="0"/>
              </a:spcBef>
              <a:spcAft>
                <a:spcPts val="0"/>
              </a:spcAft>
              <a:buNone/>
            </a:pPr>
            <a:r>
              <a:rPr lang="zh-CN" sz="2000" b="0"/>
              <a:t>Later I figure out that the deaths is not just related to the diet, it can also be related to people’s race, and eductioanl level. In my personal opinion, I would think it probably has more directly contacted with wealthiness of people. That would be a interesting topic to figure out as well by using the knowledge we learn from the data analytics class.</a:t>
            </a:r>
            <a:endParaRPr sz="2000" b="0"/>
          </a:p>
          <a:p>
            <a:pPr marL="0" lvl="0" indent="0" algn="l" rtl="0">
              <a:spcBef>
                <a:spcPts val="0"/>
              </a:spcBef>
              <a:spcAft>
                <a:spcPts val="0"/>
              </a:spcAft>
              <a:buNone/>
            </a:pPr>
            <a:r>
              <a:rPr lang="zh-CN"/>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7"/>
          <p:cNvSpPr txBox="1">
            <a:spLocks noGrp="1"/>
          </p:cNvSpPr>
          <p:nvPr>
            <p:ph type="ctrTitle"/>
          </p:nvPr>
        </p:nvSpPr>
        <p:spPr>
          <a:xfrm>
            <a:off x="3516400" y="166017"/>
            <a:ext cx="2427200" cy="695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zh-CN" sz="4200" dirty="0"/>
              <a:t>Source </a:t>
            </a:r>
            <a:endParaRPr sz="4200" dirty="0"/>
          </a:p>
        </p:txBody>
      </p:sp>
      <p:sp>
        <p:nvSpPr>
          <p:cNvPr id="379" name="Google Shape;379;p27"/>
          <p:cNvSpPr txBox="1">
            <a:spLocks noGrp="1"/>
          </p:cNvSpPr>
          <p:nvPr>
            <p:ph type="subTitle" idx="1"/>
          </p:nvPr>
        </p:nvSpPr>
        <p:spPr>
          <a:xfrm>
            <a:off x="1116100" y="954700"/>
            <a:ext cx="6477900" cy="3544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CN"/>
              <a:t>Hotz, N. (2023, January 19). What is CRISP DM?. Data Science Process Alliance. https://www.datascience-pm.com/crisp-dm-2/</a:t>
            </a:r>
            <a:endParaRPr/>
          </a:p>
          <a:p>
            <a:pPr marL="0" lvl="0" indent="0" algn="l" rtl="0">
              <a:spcBef>
                <a:spcPts val="0"/>
              </a:spcBef>
              <a:spcAft>
                <a:spcPts val="0"/>
              </a:spcAft>
              <a:buNone/>
            </a:pPr>
            <a:endParaRPr/>
          </a:p>
          <a:p>
            <a:pPr marL="0" lvl="0" indent="0" algn="l" rtl="0">
              <a:spcBef>
                <a:spcPts val="0"/>
              </a:spcBef>
              <a:spcAft>
                <a:spcPts val="0"/>
              </a:spcAft>
              <a:buNone/>
            </a:pPr>
            <a:r>
              <a:rPr lang="zh-CN"/>
              <a:t>U.S. Department of Health and Human Services. (2017, March 21). How dietary factors influence disease risk. National Institutes of Health. https://www.nih.gov/news-events/nih-research-matters/how-dietary-factors-influence-disease-risk</a:t>
            </a:r>
            <a:endParaRPr/>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1107</Words>
  <Application>Microsoft Macintosh PowerPoint</Application>
  <PresentationFormat>On-screen Show (16:9)</PresentationFormat>
  <Paragraphs>123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Maven Pro</vt:lpstr>
      <vt:lpstr>Nunito</vt:lpstr>
      <vt:lpstr>Arial</vt:lpstr>
      <vt:lpstr>Momentum</vt:lpstr>
      <vt:lpstr>Can healthy diet predict death rates?</vt:lpstr>
      <vt:lpstr>Contents</vt:lpstr>
      <vt:lpstr>Introduction(Statement of problem)</vt:lpstr>
      <vt:lpstr>6 CRISP-DM Phases</vt:lpstr>
      <vt:lpstr>ㅇ Business Question - How accurately the food diet can predict the   countries' death rate? - Can healthy diet predict the countries death    rate?  ㅇ Food diet features - Ranking 3 most relevant food diet features - Why features relevant to specific coutries</vt:lpstr>
      <vt:lpstr>Data consideration</vt:lpstr>
      <vt:lpstr>Data consideration</vt:lpstr>
      <vt:lpstr>Descriptive analysis</vt:lpstr>
      <vt:lpstr>Visualization(correlation coefficient)</vt:lpstr>
      <vt:lpstr>Visualization(scatter plot)</vt:lpstr>
      <vt:lpstr>Normality(Shapiro and QQplot) </vt:lpstr>
      <vt:lpstr>MODELING</vt:lpstr>
      <vt:lpstr>How accurately the food diet can predict the countries' death rate?     We can tell from our previous data, the regression coefficient is a  perfectly positive correlation. It means the food diet has directly relationship with death rate, and it can be used to predict the countries’s death rate as well.        What are the important food diet features that are used to predict the deaths of specific countries/regions?       Ranking 3 most relevant food diet features  Research on why those food diet features are relevant to specific countries/regions but not others?       The reason why those places have more Alchol consuming probably is their eating habit.       The reason why those places have more animal fat cosuming is about the cold weather.      The reason why those places have more obesity cosusuming is realted to the eating habit as well. </vt:lpstr>
      <vt:lpstr>Conclusion  According to our data, we can confidently say that the healthy diet can help reduce the death rate of the countries.   Also, according to the NIH. Not eating nuts, seeds ,and seafood mega-3 also can increase the risk of death compared with the people that eat more processed meant and strong sugar drinks.   Later I figure out that the deaths is not just related to the diet, it can also be related to people’s race, and eductioanl level. In my personal opinion, I would think it probably has more directly contacted with wealthiness of people. That would be a interesting topic to figure out as well by using the knowledge we learn from the data analytics class.  </vt:lpstr>
      <vt:lpstr>Source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healthy diet predict death rates?</dc:title>
  <cp:lastModifiedBy>Yu Zhang</cp:lastModifiedBy>
  <cp:revision>2</cp:revision>
  <dcterms:modified xsi:type="dcterms:W3CDTF">2023-07-10T20:26:29Z</dcterms:modified>
</cp:coreProperties>
</file>