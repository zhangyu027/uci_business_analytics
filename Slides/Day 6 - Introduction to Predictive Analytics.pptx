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476" r:id="rId5"/>
    <p:sldId id="269" r:id="rId6"/>
    <p:sldId id="259" r:id="rId7"/>
    <p:sldId id="261" r:id="rId8"/>
    <p:sldId id="574" r:id="rId9"/>
    <p:sldId id="575" r:id="rId10"/>
    <p:sldId id="262" r:id="rId11"/>
    <p:sldId id="590" r:id="rId12"/>
    <p:sldId id="263" r:id="rId13"/>
    <p:sldId id="260" r:id="rId14"/>
    <p:sldId id="591" r:id="rId15"/>
    <p:sldId id="478" r:id="rId16"/>
    <p:sldId id="479" r:id="rId17"/>
    <p:sldId id="592" r:id="rId18"/>
    <p:sldId id="444" r:id="rId19"/>
    <p:sldId id="593" r:id="rId20"/>
    <p:sldId id="264" r:id="rId21"/>
    <p:sldId id="477" r:id="rId22"/>
    <p:sldId id="265" r:id="rId23"/>
    <p:sldId id="268" r:id="rId24"/>
    <p:sldId id="266" r:id="rId25"/>
    <p:sldId id="267" r:id="rId26"/>
  </p:sldIdLst>
  <p:sldSz cx="9144000" cy="6858000" type="screen4x3"/>
  <p:notesSz cx="6858000" cy="9144000"/>
  <p:embeddedFontLst>
    <p:embeddedFont>
      <p:font typeface="Calibri" panose="020F0502020204030204" pitchFamily="34" charset="0"/>
      <p:regular r:id="rId28"/>
      <p:bold r:id="rId29"/>
      <p:italic r:id="rId30"/>
      <p:boldItalic r:id="rId31"/>
    </p:embeddedFont>
    <p:embeddedFont>
      <p:font typeface="Economica" panose="020B0604020202020204"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Zijuw6FraV5KdQS0oqtcubTkyg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85C58-64BB-4C13-A465-AFDE9DFE76CB}" v="26" dt="2022-01-09T19:44:37.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09" d="100"/>
          <a:sy n="109" d="100"/>
        </p:scale>
        <p:origin x="1674" y="108"/>
      </p:cViewPr>
      <p:guideLst/>
    </p:cSldViewPr>
  </p:slideViewPr>
  <p:notesTextViewPr>
    <p:cViewPr>
      <p:scale>
        <a:sx n="1" d="1"/>
        <a:sy n="1" d="1"/>
      </p:scale>
      <p:origin x="0" y="0"/>
    </p:cViewPr>
  </p:notesTextViewPr>
  <p:sorterViewPr>
    <p:cViewPr>
      <p:scale>
        <a:sx n="100" d="100"/>
        <a:sy n="100" d="100"/>
      </p:scale>
      <p:origin x="0" y="-13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Hboubati" userId="6c1e9525-87e3-4ff2-84f1-58e9c2a56865" providerId="ADAL" clId="{47A85C58-64BB-4C13-A465-AFDE9DFE76CB}"/>
    <pc:docChg chg="undo custSel addSld delSld modSld sldOrd">
      <pc:chgData name="Hasan Hboubati" userId="6c1e9525-87e3-4ff2-84f1-58e9c2a56865" providerId="ADAL" clId="{47A85C58-64BB-4C13-A465-AFDE9DFE76CB}" dt="2022-01-09T19:47:31.617" v="686"/>
      <pc:docMkLst>
        <pc:docMk/>
      </pc:docMkLst>
      <pc:sldChg chg="modSp mod">
        <pc:chgData name="Hasan Hboubati" userId="6c1e9525-87e3-4ff2-84f1-58e9c2a56865" providerId="ADAL" clId="{47A85C58-64BB-4C13-A465-AFDE9DFE76CB}" dt="2022-01-09T18:49:33.862" v="10" actId="27636"/>
        <pc:sldMkLst>
          <pc:docMk/>
          <pc:sldMk cId="0" sldId="256"/>
        </pc:sldMkLst>
        <pc:spChg chg="mod">
          <ac:chgData name="Hasan Hboubati" userId="6c1e9525-87e3-4ff2-84f1-58e9c2a56865" providerId="ADAL" clId="{47A85C58-64BB-4C13-A465-AFDE9DFE76CB}" dt="2022-01-09T18:49:33.862" v="10" actId="27636"/>
          <ac:spMkLst>
            <pc:docMk/>
            <pc:sldMk cId="0" sldId="256"/>
            <ac:spMk id="59" creationId="{00000000-0000-0000-0000-000000000000}"/>
          </ac:spMkLst>
        </pc:spChg>
      </pc:sldChg>
      <pc:sldChg chg="modSp mod">
        <pc:chgData name="Hasan Hboubati" userId="6c1e9525-87e3-4ff2-84f1-58e9c2a56865" providerId="ADAL" clId="{47A85C58-64BB-4C13-A465-AFDE9DFE76CB}" dt="2022-01-09T19:36:05.327" v="672" actId="1076"/>
        <pc:sldMkLst>
          <pc:docMk/>
          <pc:sldMk cId="0" sldId="258"/>
        </pc:sldMkLst>
        <pc:spChg chg="mod">
          <ac:chgData name="Hasan Hboubati" userId="6c1e9525-87e3-4ff2-84f1-58e9c2a56865" providerId="ADAL" clId="{47A85C58-64BB-4C13-A465-AFDE9DFE76CB}" dt="2022-01-09T19:36:05.327" v="672" actId="1076"/>
          <ac:spMkLst>
            <pc:docMk/>
            <pc:sldMk cId="0" sldId="258"/>
            <ac:spMk id="72" creationId="{00000000-0000-0000-0000-000000000000}"/>
          </ac:spMkLst>
        </pc:spChg>
      </pc:sldChg>
      <pc:sldChg chg="addSp delSp modSp add del mod">
        <pc:chgData name="Hasan Hboubati" userId="6c1e9525-87e3-4ff2-84f1-58e9c2a56865" providerId="ADAL" clId="{47A85C58-64BB-4C13-A465-AFDE9DFE76CB}" dt="2022-01-09T19:18:32.809" v="446" actId="12100"/>
        <pc:sldMkLst>
          <pc:docMk/>
          <pc:sldMk cId="0" sldId="259"/>
        </pc:sldMkLst>
        <pc:spChg chg="mod">
          <ac:chgData name="Hasan Hboubati" userId="6c1e9525-87e3-4ff2-84f1-58e9c2a56865" providerId="ADAL" clId="{47A85C58-64BB-4C13-A465-AFDE9DFE76CB}" dt="2022-01-09T18:49:33.846" v="6" actId="27636"/>
          <ac:spMkLst>
            <pc:docMk/>
            <pc:sldMk cId="0" sldId="259"/>
            <ac:spMk id="78" creationId="{00000000-0000-0000-0000-000000000000}"/>
          </ac:spMkLst>
        </pc:spChg>
        <pc:spChg chg="del mod">
          <ac:chgData name="Hasan Hboubati" userId="6c1e9525-87e3-4ff2-84f1-58e9c2a56865" providerId="ADAL" clId="{47A85C58-64BB-4C13-A465-AFDE9DFE76CB}" dt="2022-01-09T19:18:05.804" v="435" actId="12084"/>
          <ac:spMkLst>
            <pc:docMk/>
            <pc:sldMk cId="0" sldId="259"/>
            <ac:spMk id="79" creationId="{00000000-0000-0000-0000-000000000000}"/>
          </ac:spMkLst>
        </pc:spChg>
        <pc:graphicFrameChg chg="add mod">
          <ac:chgData name="Hasan Hboubati" userId="6c1e9525-87e3-4ff2-84f1-58e9c2a56865" providerId="ADAL" clId="{47A85C58-64BB-4C13-A465-AFDE9DFE76CB}" dt="2022-01-09T19:18:32.809" v="446" actId="12100"/>
          <ac:graphicFrameMkLst>
            <pc:docMk/>
            <pc:sldMk cId="0" sldId="259"/>
            <ac:graphicFrameMk id="2" creationId="{11F41416-8F04-43E1-B83A-12D46797DDEF}"/>
          </ac:graphicFrameMkLst>
        </pc:graphicFrameChg>
      </pc:sldChg>
      <pc:sldChg chg="modSp del mod">
        <pc:chgData name="Hasan Hboubati" userId="6c1e9525-87e3-4ff2-84f1-58e9c2a56865" providerId="ADAL" clId="{47A85C58-64BB-4C13-A465-AFDE9DFE76CB}" dt="2022-01-09T19:06:17.918" v="340" actId="47"/>
        <pc:sldMkLst>
          <pc:docMk/>
          <pc:sldMk cId="0" sldId="260"/>
        </pc:sldMkLst>
        <pc:spChg chg="mod">
          <ac:chgData name="Hasan Hboubati" userId="6c1e9525-87e3-4ff2-84f1-58e9c2a56865" providerId="ADAL" clId="{47A85C58-64BB-4C13-A465-AFDE9DFE76CB}" dt="2022-01-09T18:49:33.846" v="7" actId="27636"/>
          <ac:spMkLst>
            <pc:docMk/>
            <pc:sldMk cId="0" sldId="260"/>
            <ac:spMk id="85" creationId="{00000000-0000-0000-0000-000000000000}"/>
          </ac:spMkLst>
        </pc:spChg>
      </pc:sldChg>
      <pc:sldChg chg="modSp mod">
        <pc:chgData name="Hasan Hboubati" userId="6c1e9525-87e3-4ff2-84f1-58e9c2a56865" providerId="ADAL" clId="{47A85C58-64BB-4C13-A465-AFDE9DFE76CB}" dt="2022-01-09T19:17:22.760" v="426" actId="5793"/>
        <pc:sldMkLst>
          <pc:docMk/>
          <pc:sldMk cId="0" sldId="261"/>
        </pc:sldMkLst>
        <pc:spChg chg="mod">
          <ac:chgData name="Hasan Hboubati" userId="6c1e9525-87e3-4ff2-84f1-58e9c2a56865" providerId="ADAL" clId="{47A85C58-64BB-4C13-A465-AFDE9DFE76CB}" dt="2022-01-09T18:49:33.846" v="8" actId="27636"/>
          <ac:spMkLst>
            <pc:docMk/>
            <pc:sldMk cId="0" sldId="261"/>
            <ac:spMk id="92" creationId="{00000000-0000-0000-0000-000000000000}"/>
          </ac:spMkLst>
        </pc:spChg>
        <pc:spChg chg="mod">
          <ac:chgData name="Hasan Hboubati" userId="6c1e9525-87e3-4ff2-84f1-58e9c2a56865" providerId="ADAL" clId="{47A85C58-64BB-4C13-A465-AFDE9DFE76CB}" dt="2022-01-09T19:17:22.760" v="426" actId="5793"/>
          <ac:spMkLst>
            <pc:docMk/>
            <pc:sldMk cId="0" sldId="261"/>
            <ac:spMk id="93" creationId="{00000000-0000-0000-0000-000000000000}"/>
          </ac:spMkLst>
        </pc:spChg>
      </pc:sldChg>
      <pc:sldChg chg="modSp mod">
        <pc:chgData name="Hasan Hboubati" userId="6c1e9525-87e3-4ff2-84f1-58e9c2a56865" providerId="ADAL" clId="{47A85C58-64BB-4C13-A465-AFDE9DFE76CB}" dt="2022-01-09T19:16:59.896" v="414" actId="20577"/>
        <pc:sldMkLst>
          <pc:docMk/>
          <pc:sldMk cId="0" sldId="262"/>
        </pc:sldMkLst>
        <pc:spChg chg="mod">
          <ac:chgData name="Hasan Hboubati" userId="6c1e9525-87e3-4ff2-84f1-58e9c2a56865" providerId="ADAL" clId="{47A85C58-64BB-4C13-A465-AFDE9DFE76CB}" dt="2022-01-09T18:49:33.846" v="9" actId="27636"/>
          <ac:spMkLst>
            <pc:docMk/>
            <pc:sldMk cId="0" sldId="262"/>
            <ac:spMk id="100" creationId="{00000000-0000-0000-0000-000000000000}"/>
          </ac:spMkLst>
        </pc:spChg>
        <pc:spChg chg="mod">
          <ac:chgData name="Hasan Hboubati" userId="6c1e9525-87e3-4ff2-84f1-58e9c2a56865" providerId="ADAL" clId="{47A85C58-64BB-4C13-A465-AFDE9DFE76CB}" dt="2022-01-09T19:16:59.896" v="414" actId="20577"/>
          <ac:spMkLst>
            <pc:docMk/>
            <pc:sldMk cId="0" sldId="262"/>
            <ac:spMk id="101" creationId="{00000000-0000-0000-0000-000000000000}"/>
          </ac:spMkLst>
        </pc:spChg>
      </pc:sldChg>
      <pc:sldChg chg="modSp mod">
        <pc:chgData name="Hasan Hboubati" userId="6c1e9525-87e3-4ff2-84f1-58e9c2a56865" providerId="ADAL" clId="{47A85C58-64BB-4C13-A465-AFDE9DFE76CB}" dt="2022-01-09T19:31:17.427" v="505" actId="113"/>
        <pc:sldMkLst>
          <pc:docMk/>
          <pc:sldMk cId="0" sldId="264"/>
        </pc:sldMkLst>
        <pc:spChg chg="mod">
          <ac:chgData name="Hasan Hboubati" userId="6c1e9525-87e3-4ff2-84f1-58e9c2a56865" providerId="ADAL" clId="{47A85C58-64BB-4C13-A465-AFDE9DFE76CB}" dt="2022-01-09T19:31:17.427" v="505" actId="113"/>
          <ac:spMkLst>
            <pc:docMk/>
            <pc:sldMk cId="0" sldId="264"/>
            <ac:spMk id="114" creationId="{00000000-0000-0000-0000-000000000000}"/>
          </ac:spMkLst>
        </pc:spChg>
        <pc:spChg chg="mod">
          <ac:chgData name="Hasan Hboubati" userId="6c1e9525-87e3-4ff2-84f1-58e9c2a56865" providerId="ADAL" clId="{47A85C58-64BB-4C13-A465-AFDE9DFE76CB}" dt="2022-01-09T19:27:01.321" v="474" actId="1076"/>
          <ac:spMkLst>
            <pc:docMk/>
            <pc:sldMk cId="0" sldId="264"/>
            <ac:spMk id="116" creationId="{00000000-0000-0000-0000-000000000000}"/>
          </ac:spMkLst>
        </pc:spChg>
        <pc:picChg chg="mod">
          <ac:chgData name="Hasan Hboubati" userId="6c1e9525-87e3-4ff2-84f1-58e9c2a56865" providerId="ADAL" clId="{47A85C58-64BB-4C13-A465-AFDE9DFE76CB}" dt="2022-01-09T19:26:56.619" v="473" actId="14100"/>
          <ac:picMkLst>
            <pc:docMk/>
            <pc:sldMk cId="0" sldId="264"/>
            <ac:picMk id="115" creationId="{00000000-0000-0000-0000-000000000000}"/>
          </ac:picMkLst>
        </pc:picChg>
      </pc:sldChg>
      <pc:sldChg chg="modSp mod">
        <pc:chgData name="Hasan Hboubati" userId="6c1e9525-87e3-4ff2-84f1-58e9c2a56865" providerId="ADAL" clId="{47A85C58-64BB-4C13-A465-AFDE9DFE76CB}" dt="2022-01-09T19:11:31.821" v="358" actId="313"/>
        <pc:sldMkLst>
          <pc:docMk/>
          <pc:sldMk cId="0" sldId="265"/>
        </pc:sldMkLst>
        <pc:spChg chg="mod">
          <ac:chgData name="Hasan Hboubati" userId="6c1e9525-87e3-4ff2-84f1-58e9c2a56865" providerId="ADAL" clId="{47A85C58-64BB-4C13-A465-AFDE9DFE76CB}" dt="2022-01-09T19:11:31.821" v="358" actId="313"/>
          <ac:spMkLst>
            <pc:docMk/>
            <pc:sldMk cId="0" sldId="265"/>
            <ac:spMk id="123" creationId="{00000000-0000-0000-0000-000000000000}"/>
          </ac:spMkLst>
        </pc:spChg>
      </pc:sldChg>
      <pc:sldChg chg="ord">
        <pc:chgData name="Hasan Hboubati" userId="6c1e9525-87e3-4ff2-84f1-58e9c2a56865" providerId="ADAL" clId="{47A85C58-64BB-4C13-A465-AFDE9DFE76CB}" dt="2022-01-09T19:47:31.617" v="686"/>
        <pc:sldMkLst>
          <pc:docMk/>
          <pc:sldMk cId="0" sldId="268"/>
        </pc:sldMkLst>
      </pc:sldChg>
      <pc:sldChg chg="modSp new mod">
        <pc:chgData name="Hasan Hboubati" userId="6c1e9525-87e3-4ff2-84f1-58e9c2a56865" providerId="ADAL" clId="{47A85C58-64BB-4C13-A465-AFDE9DFE76CB}" dt="2022-01-09T19:01:14.977" v="339" actId="14100"/>
        <pc:sldMkLst>
          <pc:docMk/>
          <pc:sldMk cId="423330771" sldId="269"/>
        </pc:sldMkLst>
        <pc:spChg chg="mod">
          <ac:chgData name="Hasan Hboubati" userId="6c1e9525-87e3-4ff2-84f1-58e9c2a56865" providerId="ADAL" clId="{47A85C58-64BB-4C13-A465-AFDE9DFE76CB}" dt="2022-01-09T18:53:29.967" v="303" actId="20577"/>
          <ac:spMkLst>
            <pc:docMk/>
            <pc:sldMk cId="423330771" sldId="269"/>
            <ac:spMk id="2" creationId="{BF69EFBF-00F0-4DDD-BABA-8C165CA65663}"/>
          </ac:spMkLst>
        </pc:spChg>
        <pc:spChg chg="mod">
          <ac:chgData name="Hasan Hboubati" userId="6c1e9525-87e3-4ff2-84f1-58e9c2a56865" providerId="ADAL" clId="{47A85C58-64BB-4C13-A465-AFDE9DFE76CB}" dt="2022-01-09T19:01:14.977" v="339" actId="14100"/>
          <ac:spMkLst>
            <pc:docMk/>
            <pc:sldMk cId="423330771" sldId="269"/>
            <ac:spMk id="3" creationId="{DA6DA93F-C1E2-40D5-9EAB-3D548473ECE1}"/>
          </ac:spMkLst>
        </pc:spChg>
      </pc:sldChg>
      <pc:sldChg chg="add">
        <pc:chgData name="Hasan Hboubati" userId="6c1e9525-87e3-4ff2-84f1-58e9c2a56865" providerId="ADAL" clId="{47A85C58-64BB-4C13-A465-AFDE9DFE76CB}" dt="2022-01-09T19:43:38.837" v="679"/>
        <pc:sldMkLst>
          <pc:docMk/>
          <pc:sldMk cId="1489817264" sldId="444"/>
        </pc:sldMkLst>
      </pc:sldChg>
      <pc:sldChg chg="modSp add mod">
        <pc:chgData name="Hasan Hboubati" userId="6c1e9525-87e3-4ff2-84f1-58e9c2a56865" providerId="ADAL" clId="{47A85C58-64BB-4C13-A465-AFDE9DFE76CB}" dt="2022-01-09T18:51:59.002" v="56" actId="113"/>
        <pc:sldMkLst>
          <pc:docMk/>
          <pc:sldMk cId="2225157163" sldId="476"/>
        </pc:sldMkLst>
        <pc:graphicFrameChg chg="modGraphic">
          <ac:chgData name="Hasan Hboubati" userId="6c1e9525-87e3-4ff2-84f1-58e9c2a56865" providerId="ADAL" clId="{47A85C58-64BB-4C13-A465-AFDE9DFE76CB}" dt="2022-01-09T18:51:59.002" v="56" actId="113"/>
          <ac:graphicFrameMkLst>
            <pc:docMk/>
            <pc:sldMk cId="2225157163" sldId="476"/>
            <ac:graphicFrameMk id="4" creationId="{E599B754-80F2-4156-81AD-DBB7476AF29F}"/>
          </ac:graphicFrameMkLst>
        </pc:graphicFrameChg>
      </pc:sldChg>
      <pc:sldChg chg="modSp add del mod">
        <pc:chgData name="Hasan Hboubati" userId="6c1e9525-87e3-4ff2-84f1-58e9c2a56865" providerId="ADAL" clId="{47A85C58-64BB-4C13-A465-AFDE9DFE76CB}" dt="2022-01-09T19:17:31.838" v="428" actId="47"/>
        <pc:sldMkLst>
          <pc:docMk/>
          <pc:sldMk cId="1582582879" sldId="477"/>
        </pc:sldMkLst>
        <pc:spChg chg="mod">
          <ac:chgData name="Hasan Hboubati" userId="6c1e9525-87e3-4ff2-84f1-58e9c2a56865" providerId="ADAL" clId="{47A85C58-64BB-4C13-A465-AFDE9DFE76CB}" dt="2022-01-09T19:14:16.779" v="384" actId="27636"/>
          <ac:spMkLst>
            <pc:docMk/>
            <pc:sldMk cId="1582582879" sldId="477"/>
            <ac:spMk id="78" creationId="{00000000-0000-0000-0000-000000000000}"/>
          </ac:spMkLst>
        </pc:spChg>
        <pc:spChg chg="mod">
          <ac:chgData name="Hasan Hboubati" userId="6c1e9525-87e3-4ff2-84f1-58e9c2a56865" providerId="ADAL" clId="{47A85C58-64BB-4C13-A465-AFDE9DFE76CB}" dt="2022-01-09T19:17:10.754" v="421" actId="6549"/>
          <ac:spMkLst>
            <pc:docMk/>
            <pc:sldMk cId="1582582879" sldId="477"/>
            <ac:spMk id="79" creationId="{00000000-0000-0000-0000-000000000000}"/>
          </ac:spMkLst>
        </pc:spChg>
      </pc:sldChg>
      <pc:sldChg chg="addSp delSp modSp add mod">
        <pc:chgData name="Hasan Hboubati" userId="6c1e9525-87e3-4ff2-84f1-58e9c2a56865" providerId="ADAL" clId="{47A85C58-64BB-4C13-A465-AFDE9DFE76CB}" dt="2022-01-09T19:25:22.394" v="455" actId="14100"/>
        <pc:sldMkLst>
          <pc:docMk/>
          <pc:sldMk cId="3581033512" sldId="477"/>
        </pc:sldMkLst>
        <pc:spChg chg="add del mod">
          <ac:chgData name="Hasan Hboubati" userId="6c1e9525-87e3-4ff2-84f1-58e9c2a56865" providerId="ADAL" clId="{47A85C58-64BB-4C13-A465-AFDE9DFE76CB}" dt="2022-01-09T19:25:05.769" v="450" actId="478"/>
          <ac:spMkLst>
            <pc:docMk/>
            <pc:sldMk cId="3581033512" sldId="477"/>
            <ac:spMk id="3" creationId="{6987F821-AD10-49D7-8BA5-9049F291F5E2}"/>
          </ac:spMkLst>
        </pc:spChg>
        <pc:spChg chg="del">
          <ac:chgData name="Hasan Hboubati" userId="6c1e9525-87e3-4ff2-84f1-58e9c2a56865" providerId="ADAL" clId="{47A85C58-64BB-4C13-A465-AFDE9DFE76CB}" dt="2022-01-09T19:25:02.115" v="449" actId="478"/>
          <ac:spMkLst>
            <pc:docMk/>
            <pc:sldMk cId="3581033512" sldId="477"/>
            <ac:spMk id="114" creationId="{00000000-0000-0000-0000-000000000000}"/>
          </ac:spMkLst>
        </pc:spChg>
        <pc:spChg chg="del">
          <ac:chgData name="Hasan Hboubati" userId="6c1e9525-87e3-4ff2-84f1-58e9c2a56865" providerId="ADAL" clId="{47A85C58-64BB-4C13-A465-AFDE9DFE76CB}" dt="2022-01-09T19:25:09.335" v="451" actId="478"/>
          <ac:spMkLst>
            <pc:docMk/>
            <pc:sldMk cId="3581033512" sldId="477"/>
            <ac:spMk id="116" creationId="{00000000-0000-0000-0000-000000000000}"/>
          </ac:spMkLst>
        </pc:spChg>
        <pc:picChg chg="add mod">
          <ac:chgData name="Hasan Hboubati" userId="6c1e9525-87e3-4ff2-84f1-58e9c2a56865" providerId="ADAL" clId="{47A85C58-64BB-4C13-A465-AFDE9DFE76CB}" dt="2022-01-09T19:25:22.394" v="455" actId="14100"/>
          <ac:picMkLst>
            <pc:docMk/>
            <pc:sldMk cId="3581033512" sldId="477"/>
            <ac:picMk id="8" creationId="{B9010D13-C302-4579-9057-3FCAE928E1CD}"/>
          </ac:picMkLst>
        </pc:picChg>
        <pc:picChg chg="del">
          <ac:chgData name="Hasan Hboubati" userId="6c1e9525-87e3-4ff2-84f1-58e9c2a56865" providerId="ADAL" clId="{47A85C58-64BB-4C13-A465-AFDE9DFE76CB}" dt="2022-01-09T19:24:58.654" v="448" actId="478"/>
          <ac:picMkLst>
            <pc:docMk/>
            <pc:sldMk cId="3581033512" sldId="477"/>
            <ac:picMk id="115" creationId="{00000000-0000-0000-0000-000000000000}"/>
          </ac:picMkLst>
        </pc:picChg>
      </pc:sldChg>
      <pc:sldChg chg="modSp add del mod">
        <pc:chgData name="Hasan Hboubati" userId="6c1e9525-87e3-4ff2-84f1-58e9c2a56865" providerId="ADAL" clId="{47A85C58-64BB-4C13-A465-AFDE9DFE76CB}" dt="2022-01-09T19:17:27.147" v="427" actId="47"/>
        <pc:sldMkLst>
          <pc:docMk/>
          <pc:sldMk cId="1835067477" sldId="478"/>
        </pc:sldMkLst>
        <pc:spChg chg="mod">
          <ac:chgData name="Hasan Hboubati" userId="6c1e9525-87e3-4ff2-84f1-58e9c2a56865" providerId="ADAL" clId="{47A85C58-64BB-4C13-A465-AFDE9DFE76CB}" dt="2022-01-09T19:14:47.004" v="398" actId="27636"/>
          <ac:spMkLst>
            <pc:docMk/>
            <pc:sldMk cId="1835067477" sldId="478"/>
            <ac:spMk id="78" creationId="{00000000-0000-0000-0000-000000000000}"/>
          </ac:spMkLst>
        </pc:spChg>
        <pc:spChg chg="mod">
          <ac:chgData name="Hasan Hboubati" userId="6c1e9525-87e3-4ff2-84f1-58e9c2a56865" providerId="ADAL" clId="{47A85C58-64BB-4C13-A465-AFDE9DFE76CB}" dt="2022-01-09T19:14:54.987" v="401" actId="20577"/>
          <ac:spMkLst>
            <pc:docMk/>
            <pc:sldMk cId="1835067477" sldId="478"/>
            <ac:spMk id="79" creationId="{00000000-0000-0000-0000-000000000000}"/>
          </ac:spMkLst>
        </pc:spChg>
      </pc:sldChg>
      <pc:sldChg chg="modSp add mod">
        <pc:chgData name="Hasan Hboubati" userId="6c1e9525-87e3-4ff2-84f1-58e9c2a56865" providerId="ADAL" clId="{47A85C58-64BB-4C13-A465-AFDE9DFE76CB}" dt="2022-01-09T19:29:05.332" v="482" actId="20577"/>
        <pc:sldMkLst>
          <pc:docMk/>
          <pc:sldMk cId="2119975332" sldId="478"/>
        </pc:sldMkLst>
        <pc:spChg chg="mod">
          <ac:chgData name="Hasan Hboubati" userId="6c1e9525-87e3-4ff2-84f1-58e9c2a56865" providerId="ADAL" clId="{47A85C58-64BB-4C13-A465-AFDE9DFE76CB}" dt="2022-01-09T19:29:05.332" v="482" actId="20577"/>
          <ac:spMkLst>
            <pc:docMk/>
            <pc:sldMk cId="2119975332" sldId="478"/>
            <ac:spMk id="108" creationId="{00000000-0000-0000-0000-000000000000}"/>
          </ac:spMkLst>
        </pc:spChg>
      </pc:sldChg>
      <pc:sldChg chg="modSp add mod">
        <pc:chgData name="Hasan Hboubati" userId="6c1e9525-87e3-4ff2-84f1-58e9c2a56865" providerId="ADAL" clId="{47A85C58-64BB-4C13-A465-AFDE9DFE76CB}" dt="2022-01-09T19:31:08.282" v="504" actId="20577"/>
        <pc:sldMkLst>
          <pc:docMk/>
          <pc:sldMk cId="1330149928" sldId="479"/>
        </pc:sldMkLst>
        <pc:spChg chg="mod">
          <ac:chgData name="Hasan Hboubati" userId="6c1e9525-87e3-4ff2-84f1-58e9c2a56865" providerId="ADAL" clId="{47A85C58-64BB-4C13-A465-AFDE9DFE76CB}" dt="2022-01-09T19:31:08.282" v="504" actId="20577"/>
          <ac:spMkLst>
            <pc:docMk/>
            <pc:sldMk cId="1330149928" sldId="479"/>
            <ac:spMk id="108" creationId="{00000000-0000-0000-0000-000000000000}"/>
          </ac:spMkLst>
        </pc:spChg>
      </pc:sldChg>
      <pc:sldChg chg="ord">
        <pc:chgData name="Hasan Hboubati" userId="6c1e9525-87e3-4ff2-84f1-58e9c2a56865" providerId="ADAL" clId="{47A85C58-64BB-4C13-A465-AFDE9DFE76CB}" dt="2022-01-09T19:39:34.403" v="676"/>
        <pc:sldMkLst>
          <pc:docMk/>
          <pc:sldMk cId="2056193282" sldId="574"/>
        </pc:sldMkLst>
      </pc:sldChg>
      <pc:sldChg chg="ord">
        <pc:chgData name="Hasan Hboubati" userId="6c1e9525-87e3-4ff2-84f1-58e9c2a56865" providerId="ADAL" clId="{47A85C58-64BB-4C13-A465-AFDE9DFE76CB}" dt="2022-01-09T19:39:34.403" v="676"/>
        <pc:sldMkLst>
          <pc:docMk/>
          <pc:sldMk cId="3325742910" sldId="575"/>
        </pc:sldMkLst>
      </pc:sldChg>
      <pc:sldChg chg="modSp add mod ord">
        <pc:chgData name="Hasan Hboubati" userId="6c1e9525-87e3-4ff2-84f1-58e9c2a56865" providerId="ADAL" clId="{47A85C58-64BB-4C13-A465-AFDE9DFE76CB}" dt="2022-01-09T19:47:01.502" v="682"/>
        <pc:sldMkLst>
          <pc:docMk/>
          <pc:sldMk cId="2739596824" sldId="590"/>
        </pc:sldMkLst>
        <pc:spChg chg="mod">
          <ac:chgData name="Hasan Hboubati" userId="6c1e9525-87e3-4ff2-84f1-58e9c2a56865" providerId="ADAL" clId="{47A85C58-64BB-4C13-A465-AFDE9DFE76CB}" dt="2022-01-09T19:38:20.037" v="674" actId="108"/>
          <ac:spMkLst>
            <pc:docMk/>
            <pc:sldMk cId="2739596824" sldId="590"/>
            <ac:spMk id="2" creationId="{4C8BBA76-A481-454B-9974-F4785B4032C6}"/>
          </ac:spMkLst>
        </pc:spChg>
      </pc:sldChg>
      <pc:sldChg chg="add">
        <pc:chgData name="Hasan Hboubati" userId="6c1e9525-87e3-4ff2-84f1-58e9c2a56865" providerId="ADAL" clId="{47A85C58-64BB-4C13-A465-AFDE9DFE76CB}" dt="2022-01-09T19:42:01.829" v="677"/>
        <pc:sldMkLst>
          <pc:docMk/>
          <pc:sldMk cId="0" sldId="591"/>
        </pc:sldMkLst>
      </pc:sldChg>
      <pc:sldChg chg="add">
        <pc:chgData name="Hasan Hboubati" userId="6c1e9525-87e3-4ff2-84f1-58e9c2a56865" providerId="ADAL" clId="{47A85C58-64BB-4C13-A465-AFDE9DFE76CB}" dt="2022-01-09T19:42:36.903" v="678"/>
        <pc:sldMkLst>
          <pc:docMk/>
          <pc:sldMk cId="0" sldId="592"/>
        </pc:sldMkLst>
      </pc:sldChg>
      <pc:sldChg chg="add">
        <pc:chgData name="Hasan Hboubati" userId="6c1e9525-87e3-4ff2-84f1-58e9c2a56865" providerId="ADAL" clId="{47A85C58-64BB-4C13-A465-AFDE9DFE76CB}" dt="2022-01-09T19:44:37.569" v="680"/>
        <pc:sldMkLst>
          <pc:docMk/>
          <pc:sldMk cId="0" sldId="593"/>
        </pc:sldMkLst>
      </pc:sldChg>
    </pc:docChg>
  </pc:docChgLst>
</pc:chgInfo>
</file>

<file path=ppt/diagrams/_rels/data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jpg"/></Relationships>
</file>

<file path=ppt/diagrams/_rels/drawing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8F75A2-207E-4ADE-9A4B-B28DF30B1AC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F7A85EDB-0474-4CED-9778-DF37EAA24B7A}">
      <dgm:prSet/>
      <dgm:spPr/>
      <dgm:t>
        <a:bodyPr/>
        <a:lstStyle/>
        <a:p>
          <a:r>
            <a:rPr lang="en-US" b="0" i="0" dirty="0"/>
            <a:t>Supervised Learning</a:t>
          </a:r>
          <a:endParaRPr lang="en-US" dirty="0"/>
        </a:p>
      </dgm:t>
    </dgm:pt>
    <dgm:pt modelId="{8D8961D4-0AD4-4788-9A71-3514598870E6}" type="parTrans" cxnId="{E63FE5D8-9240-47A4-8D68-C7CF57866F8B}">
      <dgm:prSet/>
      <dgm:spPr/>
      <dgm:t>
        <a:bodyPr/>
        <a:lstStyle/>
        <a:p>
          <a:endParaRPr lang="en-US"/>
        </a:p>
      </dgm:t>
    </dgm:pt>
    <dgm:pt modelId="{30302241-5B40-4093-9672-E49C3816FF2B}" type="sibTrans" cxnId="{E63FE5D8-9240-47A4-8D68-C7CF57866F8B}">
      <dgm:prSet/>
      <dgm:spPr/>
      <dgm:t>
        <a:bodyPr/>
        <a:lstStyle/>
        <a:p>
          <a:endParaRPr lang="en-US"/>
        </a:p>
      </dgm:t>
    </dgm:pt>
    <dgm:pt modelId="{27BB7EC7-C211-4601-A32F-349D88DF7CC4}">
      <dgm:prSet/>
      <dgm:spPr/>
      <dgm:t>
        <a:bodyPr/>
        <a:lstStyle/>
        <a:p>
          <a:r>
            <a:rPr lang="en-US" b="0" i="0"/>
            <a:t>Unsupervised Learning</a:t>
          </a:r>
          <a:endParaRPr lang="en-US"/>
        </a:p>
      </dgm:t>
    </dgm:pt>
    <dgm:pt modelId="{47AB3BBA-581E-49A8-BF8F-693C202B42ED}" type="parTrans" cxnId="{E41826A1-D590-4A39-A5F6-EFB2248964BB}">
      <dgm:prSet/>
      <dgm:spPr/>
      <dgm:t>
        <a:bodyPr/>
        <a:lstStyle/>
        <a:p>
          <a:endParaRPr lang="en-US"/>
        </a:p>
      </dgm:t>
    </dgm:pt>
    <dgm:pt modelId="{DAC384F8-DC8A-4322-9BA3-F1C29B38369E}" type="sibTrans" cxnId="{E41826A1-D590-4A39-A5F6-EFB2248964BB}">
      <dgm:prSet/>
      <dgm:spPr/>
      <dgm:t>
        <a:bodyPr/>
        <a:lstStyle/>
        <a:p>
          <a:endParaRPr lang="en-US"/>
        </a:p>
      </dgm:t>
    </dgm:pt>
    <dgm:pt modelId="{742ABF9F-0FC1-40C2-87CD-F78EE6E54CDC}" type="pres">
      <dgm:prSet presAssocID="{F48F75A2-207E-4ADE-9A4B-B28DF30B1AC8}" presName="linear" presStyleCnt="0">
        <dgm:presLayoutVars>
          <dgm:animLvl val="lvl"/>
          <dgm:resizeHandles val="exact"/>
        </dgm:presLayoutVars>
      </dgm:prSet>
      <dgm:spPr/>
    </dgm:pt>
    <dgm:pt modelId="{4F4243E4-E2E4-4583-B3F2-5DEC4DD13933}" type="pres">
      <dgm:prSet presAssocID="{F7A85EDB-0474-4CED-9778-DF37EAA24B7A}" presName="parentText" presStyleLbl="node1" presStyleIdx="0" presStyleCnt="2">
        <dgm:presLayoutVars>
          <dgm:chMax val="0"/>
          <dgm:bulletEnabled val="1"/>
        </dgm:presLayoutVars>
      </dgm:prSet>
      <dgm:spPr/>
    </dgm:pt>
    <dgm:pt modelId="{E5B1AE69-B470-4F92-B227-B290D9F8F870}" type="pres">
      <dgm:prSet presAssocID="{30302241-5B40-4093-9672-E49C3816FF2B}" presName="spacer" presStyleCnt="0"/>
      <dgm:spPr/>
    </dgm:pt>
    <dgm:pt modelId="{0B680AB9-6A6A-40C8-BDBC-5AE18AFCF757}" type="pres">
      <dgm:prSet presAssocID="{27BB7EC7-C211-4601-A32F-349D88DF7CC4}" presName="parentText" presStyleLbl="node1" presStyleIdx="1" presStyleCnt="2">
        <dgm:presLayoutVars>
          <dgm:chMax val="0"/>
          <dgm:bulletEnabled val="1"/>
        </dgm:presLayoutVars>
      </dgm:prSet>
      <dgm:spPr/>
    </dgm:pt>
  </dgm:ptLst>
  <dgm:cxnLst>
    <dgm:cxn modelId="{DC19C569-85EE-49ED-864E-7C0E748C8B20}" type="presOf" srcId="{F48F75A2-207E-4ADE-9A4B-B28DF30B1AC8}" destId="{742ABF9F-0FC1-40C2-87CD-F78EE6E54CDC}" srcOrd="0" destOrd="0" presId="urn:microsoft.com/office/officeart/2005/8/layout/vList2"/>
    <dgm:cxn modelId="{6CC0C89F-D8DA-45D3-B290-96DFAC4B6424}" type="presOf" srcId="{27BB7EC7-C211-4601-A32F-349D88DF7CC4}" destId="{0B680AB9-6A6A-40C8-BDBC-5AE18AFCF757}" srcOrd="0" destOrd="0" presId="urn:microsoft.com/office/officeart/2005/8/layout/vList2"/>
    <dgm:cxn modelId="{E41826A1-D590-4A39-A5F6-EFB2248964BB}" srcId="{F48F75A2-207E-4ADE-9A4B-B28DF30B1AC8}" destId="{27BB7EC7-C211-4601-A32F-349D88DF7CC4}" srcOrd="1" destOrd="0" parTransId="{47AB3BBA-581E-49A8-BF8F-693C202B42ED}" sibTransId="{DAC384F8-DC8A-4322-9BA3-F1C29B38369E}"/>
    <dgm:cxn modelId="{E63FE5D8-9240-47A4-8D68-C7CF57866F8B}" srcId="{F48F75A2-207E-4ADE-9A4B-B28DF30B1AC8}" destId="{F7A85EDB-0474-4CED-9778-DF37EAA24B7A}" srcOrd="0" destOrd="0" parTransId="{8D8961D4-0AD4-4788-9A71-3514598870E6}" sibTransId="{30302241-5B40-4093-9672-E49C3816FF2B}"/>
    <dgm:cxn modelId="{6162A7DC-D957-4824-A200-1157510F10B8}" type="presOf" srcId="{F7A85EDB-0474-4CED-9778-DF37EAA24B7A}" destId="{4F4243E4-E2E4-4583-B3F2-5DEC4DD13933}" srcOrd="0" destOrd="0" presId="urn:microsoft.com/office/officeart/2005/8/layout/vList2"/>
    <dgm:cxn modelId="{E17F072B-BA6D-42ED-879E-F98DEB4D16FC}" type="presParOf" srcId="{742ABF9F-0FC1-40C2-87CD-F78EE6E54CDC}" destId="{4F4243E4-E2E4-4583-B3F2-5DEC4DD13933}" srcOrd="0" destOrd="0" presId="urn:microsoft.com/office/officeart/2005/8/layout/vList2"/>
    <dgm:cxn modelId="{AEDBF801-6630-4074-BE89-B73F7E86A59A}" type="presParOf" srcId="{742ABF9F-0FC1-40C2-87CD-F78EE6E54CDC}" destId="{E5B1AE69-B470-4F92-B227-B290D9F8F870}" srcOrd="1" destOrd="0" presId="urn:microsoft.com/office/officeart/2005/8/layout/vList2"/>
    <dgm:cxn modelId="{C9039780-3A7F-4E5A-81FE-E64DF8599F1A}" type="presParOf" srcId="{742ABF9F-0FC1-40C2-87CD-F78EE6E54CDC}" destId="{0B680AB9-6A6A-40C8-BDBC-5AE18AFCF75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DDC77B-FA9D-4A06-9E69-7EB0AB4713EE}" type="doc">
      <dgm:prSet loTypeId="urn:microsoft.com/office/officeart/2005/8/layout/vList3" loCatId="list" qsTypeId="urn:microsoft.com/office/officeart/2005/8/quickstyle/simple3" qsCatId="simple" csTypeId="urn:microsoft.com/office/officeart/2005/8/colors/colorful4" csCatId="colorful" phldr="1"/>
      <dgm:spPr/>
      <dgm:t>
        <a:bodyPr/>
        <a:lstStyle/>
        <a:p>
          <a:endParaRPr lang="en-US"/>
        </a:p>
      </dgm:t>
    </dgm:pt>
    <dgm:pt modelId="{CA04A4DD-2423-48A3-893B-52247B8F9DB7}">
      <dgm:prSet custT="1"/>
      <dgm:spPr/>
      <dgm:t>
        <a:bodyPr/>
        <a:lstStyle/>
        <a:p>
          <a:r>
            <a:rPr lang="en-US" sz="2000" b="1" i="0" dirty="0"/>
            <a:t>Correlation</a:t>
          </a:r>
          <a:endParaRPr lang="en-US" sz="2000" b="1" dirty="0"/>
        </a:p>
      </dgm:t>
    </dgm:pt>
    <dgm:pt modelId="{63EB3626-88BE-4E5D-ABFD-667CAAF05997}" type="parTrans" cxnId="{C89606A5-3EB3-429E-ACA6-8DCE9F2643FA}">
      <dgm:prSet/>
      <dgm:spPr/>
      <dgm:t>
        <a:bodyPr/>
        <a:lstStyle/>
        <a:p>
          <a:endParaRPr lang="en-US"/>
        </a:p>
      </dgm:t>
    </dgm:pt>
    <dgm:pt modelId="{765C1CCB-8EB2-461F-B486-63731980FC9A}" type="sibTrans" cxnId="{C89606A5-3EB3-429E-ACA6-8DCE9F2643FA}">
      <dgm:prSet/>
      <dgm:spPr/>
      <dgm:t>
        <a:bodyPr/>
        <a:lstStyle/>
        <a:p>
          <a:endParaRPr lang="en-US"/>
        </a:p>
      </dgm:t>
    </dgm:pt>
    <dgm:pt modelId="{EE8FBAE7-86D6-44CF-ACE6-03B554349EDA}">
      <dgm:prSet custT="1"/>
      <dgm:spPr/>
      <dgm:t>
        <a:bodyPr/>
        <a:lstStyle/>
        <a:p>
          <a:r>
            <a:rPr lang="en-US" sz="2000" b="0" i="0"/>
            <a:t>Relationship between variables (X,Y)</a:t>
          </a:r>
          <a:endParaRPr lang="en-US" sz="2000"/>
        </a:p>
      </dgm:t>
    </dgm:pt>
    <dgm:pt modelId="{CEFEE014-3FBE-440D-87A7-C55EC20133EC}" type="parTrans" cxnId="{212974D7-D1AC-4052-B0A7-A8F2E77CAA71}">
      <dgm:prSet/>
      <dgm:spPr/>
      <dgm:t>
        <a:bodyPr/>
        <a:lstStyle/>
        <a:p>
          <a:endParaRPr lang="en-US"/>
        </a:p>
      </dgm:t>
    </dgm:pt>
    <dgm:pt modelId="{0D69488C-ACDE-4491-9481-8430700D354F}" type="sibTrans" cxnId="{212974D7-D1AC-4052-B0A7-A8F2E77CAA71}">
      <dgm:prSet/>
      <dgm:spPr/>
      <dgm:t>
        <a:bodyPr/>
        <a:lstStyle/>
        <a:p>
          <a:endParaRPr lang="en-US"/>
        </a:p>
      </dgm:t>
    </dgm:pt>
    <dgm:pt modelId="{8F7194BE-4AB9-43FA-BEC4-D72BD41887AD}">
      <dgm:prSet custT="1"/>
      <dgm:spPr/>
      <dgm:t>
        <a:bodyPr/>
        <a:lstStyle/>
        <a:p>
          <a:r>
            <a:rPr lang="en-US" sz="2000" b="0" i="0"/>
            <a:t>Variables move together</a:t>
          </a:r>
          <a:endParaRPr lang="en-US" sz="2000"/>
        </a:p>
      </dgm:t>
    </dgm:pt>
    <dgm:pt modelId="{1C7AC152-3AE6-47FE-8338-26D2BFB00801}" type="parTrans" cxnId="{D0E22D6A-26FF-4F55-8E3C-404908C0484F}">
      <dgm:prSet/>
      <dgm:spPr/>
      <dgm:t>
        <a:bodyPr/>
        <a:lstStyle/>
        <a:p>
          <a:endParaRPr lang="en-US"/>
        </a:p>
      </dgm:t>
    </dgm:pt>
    <dgm:pt modelId="{5380FAD1-1D56-4BA3-8204-7F8E28C153DE}" type="sibTrans" cxnId="{D0E22D6A-26FF-4F55-8E3C-404908C0484F}">
      <dgm:prSet/>
      <dgm:spPr/>
      <dgm:t>
        <a:bodyPr/>
        <a:lstStyle/>
        <a:p>
          <a:endParaRPr lang="en-US"/>
        </a:p>
      </dgm:t>
    </dgm:pt>
    <dgm:pt modelId="{447D0BC4-A50D-4B59-8187-578436F7768E}">
      <dgm:prSet custT="1"/>
      <dgm:spPr/>
      <dgm:t>
        <a:bodyPr/>
        <a:lstStyle/>
        <a:p>
          <a:r>
            <a:rPr lang="en-US" sz="2000" b="0" i="0" dirty="0"/>
            <a:t>X, Y can be interchanged</a:t>
          </a:r>
          <a:endParaRPr lang="en-US" sz="2000" dirty="0"/>
        </a:p>
      </dgm:t>
    </dgm:pt>
    <dgm:pt modelId="{2B2C9849-7217-4CA2-BDE7-4E0FC87A67BE}" type="parTrans" cxnId="{8F42D293-B3F1-439D-AF90-2A1254566CAC}">
      <dgm:prSet/>
      <dgm:spPr/>
      <dgm:t>
        <a:bodyPr/>
        <a:lstStyle/>
        <a:p>
          <a:endParaRPr lang="en-US"/>
        </a:p>
      </dgm:t>
    </dgm:pt>
    <dgm:pt modelId="{34140291-123C-4C2F-B484-37EE3A7A9FEC}" type="sibTrans" cxnId="{8F42D293-B3F1-439D-AF90-2A1254566CAC}">
      <dgm:prSet/>
      <dgm:spPr/>
      <dgm:t>
        <a:bodyPr/>
        <a:lstStyle/>
        <a:p>
          <a:endParaRPr lang="en-US"/>
        </a:p>
      </dgm:t>
    </dgm:pt>
    <dgm:pt modelId="{DDAA32C6-3434-40CA-972E-A92645851FD6}">
      <dgm:prSet custT="1"/>
      <dgm:spPr/>
      <dgm:t>
        <a:bodyPr/>
        <a:lstStyle/>
        <a:p>
          <a:r>
            <a:rPr lang="en-US" sz="2000" b="0" i="0" dirty="0"/>
            <a:t>Relation is represented by a point</a:t>
          </a:r>
          <a:endParaRPr lang="en-US" sz="2000" dirty="0"/>
        </a:p>
      </dgm:t>
    </dgm:pt>
    <dgm:pt modelId="{D40C024F-BFF2-48CD-8F37-688022679C35}" type="parTrans" cxnId="{1657A452-38F0-4059-B9B6-7D40F6C46B61}">
      <dgm:prSet/>
      <dgm:spPr/>
      <dgm:t>
        <a:bodyPr/>
        <a:lstStyle/>
        <a:p>
          <a:endParaRPr lang="en-US"/>
        </a:p>
      </dgm:t>
    </dgm:pt>
    <dgm:pt modelId="{BF32C617-3B5F-4990-BF38-0D86CEB658F2}" type="sibTrans" cxnId="{1657A452-38F0-4059-B9B6-7D40F6C46B61}">
      <dgm:prSet/>
      <dgm:spPr/>
      <dgm:t>
        <a:bodyPr/>
        <a:lstStyle/>
        <a:p>
          <a:endParaRPr lang="en-US"/>
        </a:p>
      </dgm:t>
    </dgm:pt>
    <dgm:pt modelId="{02E2C82F-31FB-4ED3-897E-14CAB4BE02EA}">
      <dgm:prSet custT="1"/>
      <dgm:spPr/>
      <dgm:t>
        <a:bodyPr/>
        <a:lstStyle/>
        <a:p>
          <a:r>
            <a:rPr lang="en-US" sz="2000" b="1" i="0" dirty="0"/>
            <a:t>Regression</a:t>
          </a:r>
          <a:endParaRPr lang="en-US" sz="2000" b="1" dirty="0"/>
        </a:p>
      </dgm:t>
    </dgm:pt>
    <dgm:pt modelId="{AC247C92-335D-403B-B66F-DF676C32B210}" type="parTrans" cxnId="{2D79A095-A0A2-45E2-A4A9-6AB2FC1916D7}">
      <dgm:prSet/>
      <dgm:spPr/>
      <dgm:t>
        <a:bodyPr/>
        <a:lstStyle/>
        <a:p>
          <a:endParaRPr lang="en-US"/>
        </a:p>
      </dgm:t>
    </dgm:pt>
    <dgm:pt modelId="{BB9D0693-BC89-4A96-86E9-75BFE304AEF3}" type="sibTrans" cxnId="{2D79A095-A0A2-45E2-A4A9-6AB2FC1916D7}">
      <dgm:prSet/>
      <dgm:spPr/>
      <dgm:t>
        <a:bodyPr/>
        <a:lstStyle/>
        <a:p>
          <a:endParaRPr lang="en-US"/>
        </a:p>
      </dgm:t>
    </dgm:pt>
    <dgm:pt modelId="{9A8C725F-4AF6-4BE9-8356-024DE9634FE4}">
      <dgm:prSet custT="1"/>
      <dgm:spPr/>
      <dgm:t>
        <a:bodyPr/>
        <a:lstStyle/>
        <a:p>
          <a:r>
            <a:rPr lang="en-US" sz="2000" b="0" i="0"/>
            <a:t>One variable affects another (X,Y)</a:t>
          </a:r>
          <a:endParaRPr lang="en-US" sz="2000"/>
        </a:p>
      </dgm:t>
    </dgm:pt>
    <dgm:pt modelId="{82AE73BE-E61B-43A9-B4F1-3F4C52084B40}" type="parTrans" cxnId="{BCB3A015-C1FB-41C9-827A-EFA229118ADE}">
      <dgm:prSet/>
      <dgm:spPr/>
      <dgm:t>
        <a:bodyPr/>
        <a:lstStyle/>
        <a:p>
          <a:endParaRPr lang="en-US"/>
        </a:p>
      </dgm:t>
    </dgm:pt>
    <dgm:pt modelId="{F98C5BCA-3241-4D68-9346-33873963E303}" type="sibTrans" cxnId="{BCB3A015-C1FB-41C9-827A-EFA229118ADE}">
      <dgm:prSet/>
      <dgm:spPr/>
      <dgm:t>
        <a:bodyPr/>
        <a:lstStyle/>
        <a:p>
          <a:endParaRPr lang="en-US"/>
        </a:p>
      </dgm:t>
    </dgm:pt>
    <dgm:pt modelId="{68C5BCE0-6AF2-4CE2-A6B4-D23991B3DAB9}">
      <dgm:prSet custT="1"/>
      <dgm:spPr/>
      <dgm:t>
        <a:bodyPr/>
        <a:lstStyle/>
        <a:p>
          <a:r>
            <a:rPr lang="en-US" sz="2000" b="0" i="0"/>
            <a:t>Cause and effect</a:t>
          </a:r>
          <a:endParaRPr lang="en-US" sz="2000"/>
        </a:p>
      </dgm:t>
    </dgm:pt>
    <dgm:pt modelId="{2464F2B6-15B5-482E-8F8D-84EAFE7C9993}" type="parTrans" cxnId="{BF95D6BE-3AF3-43B8-9418-31CA3ED6ACEF}">
      <dgm:prSet/>
      <dgm:spPr/>
      <dgm:t>
        <a:bodyPr/>
        <a:lstStyle/>
        <a:p>
          <a:endParaRPr lang="en-US"/>
        </a:p>
      </dgm:t>
    </dgm:pt>
    <dgm:pt modelId="{746832C8-8A33-4A29-8938-31FFAB3741B5}" type="sibTrans" cxnId="{BF95D6BE-3AF3-43B8-9418-31CA3ED6ACEF}">
      <dgm:prSet/>
      <dgm:spPr/>
      <dgm:t>
        <a:bodyPr/>
        <a:lstStyle/>
        <a:p>
          <a:endParaRPr lang="en-US"/>
        </a:p>
      </dgm:t>
    </dgm:pt>
    <dgm:pt modelId="{48D2E4FA-AB65-48FF-B164-099223E2FAA1}">
      <dgm:prSet custT="1"/>
      <dgm:spPr/>
      <dgm:t>
        <a:bodyPr/>
        <a:lstStyle/>
        <a:p>
          <a:r>
            <a:rPr lang="en-US" sz="2000" b="0" i="0"/>
            <a:t>X,Y cannot be interchanged</a:t>
          </a:r>
          <a:endParaRPr lang="en-US" sz="2000"/>
        </a:p>
      </dgm:t>
    </dgm:pt>
    <dgm:pt modelId="{5B261F1D-BE46-4607-88A5-196752263C0E}" type="parTrans" cxnId="{48B2F36D-5709-45DC-A348-3F23E102561C}">
      <dgm:prSet/>
      <dgm:spPr/>
      <dgm:t>
        <a:bodyPr/>
        <a:lstStyle/>
        <a:p>
          <a:endParaRPr lang="en-US"/>
        </a:p>
      </dgm:t>
    </dgm:pt>
    <dgm:pt modelId="{851206B4-FB70-4E3C-BE7D-DB20E77E1411}" type="sibTrans" cxnId="{48B2F36D-5709-45DC-A348-3F23E102561C}">
      <dgm:prSet/>
      <dgm:spPr/>
      <dgm:t>
        <a:bodyPr/>
        <a:lstStyle/>
        <a:p>
          <a:endParaRPr lang="en-US"/>
        </a:p>
      </dgm:t>
    </dgm:pt>
    <dgm:pt modelId="{6ABA5361-B3F9-407E-B526-F40E6FB6389A}">
      <dgm:prSet custT="1"/>
      <dgm:spPr/>
      <dgm:t>
        <a:bodyPr/>
        <a:lstStyle/>
        <a:p>
          <a:r>
            <a:rPr lang="en-US" sz="2000" b="0" i="0" dirty="0"/>
            <a:t>Relation is represented by a line</a:t>
          </a:r>
          <a:endParaRPr lang="en-US" sz="2000" dirty="0"/>
        </a:p>
      </dgm:t>
    </dgm:pt>
    <dgm:pt modelId="{C314808D-C250-4424-A33E-2EC99A85626F}" type="parTrans" cxnId="{3F7F6C21-C897-40BA-9068-A3B1013CC3BD}">
      <dgm:prSet/>
      <dgm:spPr/>
      <dgm:t>
        <a:bodyPr/>
        <a:lstStyle/>
        <a:p>
          <a:endParaRPr lang="en-US"/>
        </a:p>
      </dgm:t>
    </dgm:pt>
    <dgm:pt modelId="{B1A1442F-39EB-4191-A8BE-2EE8864EDB56}" type="sibTrans" cxnId="{3F7F6C21-C897-40BA-9068-A3B1013CC3BD}">
      <dgm:prSet/>
      <dgm:spPr/>
      <dgm:t>
        <a:bodyPr/>
        <a:lstStyle/>
        <a:p>
          <a:endParaRPr lang="en-US"/>
        </a:p>
      </dgm:t>
    </dgm:pt>
    <dgm:pt modelId="{08123387-21C3-43DC-92FD-0869F424C486}" type="pres">
      <dgm:prSet presAssocID="{44DDC77B-FA9D-4A06-9E69-7EB0AB4713EE}" presName="linearFlow" presStyleCnt="0">
        <dgm:presLayoutVars>
          <dgm:dir/>
          <dgm:resizeHandles val="exact"/>
        </dgm:presLayoutVars>
      </dgm:prSet>
      <dgm:spPr/>
    </dgm:pt>
    <dgm:pt modelId="{B3874AC2-F254-4297-8F57-84FB0C814BDE}" type="pres">
      <dgm:prSet presAssocID="{CA04A4DD-2423-48A3-893B-52247B8F9DB7}" presName="composite" presStyleCnt="0"/>
      <dgm:spPr/>
    </dgm:pt>
    <dgm:pt modelId="{A95288C9-6531-4A84-AB96-7E2E00835426}" type="pres">
      <dgm:prSet presAssocID="{CA04A4DD-2423-48A3-893B-52247B8F9DB7}" presName="imgShp" presStyleLbl="fgImgPlace1" presStyleIdx="0" presStyleCnt="2" custScaleX="109887" custScaleY="88426" custLinFactNeighborX="-54721" custLinFactNeighborY="-838"/>
      <dgm:spPr>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dgm:spPr>
    </dgm:pt>
    <dgm:pt modelId="{9E249925-EA94-4955-B185-35E274C65FE1}" type="pres">
      <dgm:prSet presAssocID="{CA04A4DD-2423-48A3-893B-52247B8F9DB7}" presName="txShp" presStyleLbl="node1" presStyleIdx="0" presStyleCnt="2">
        <dgm:presLayoutVars>
          <dgm:bulletEnabled val="1"/>
        </dgm:presLayoutVars>
      </dgm:prSet>
      <dgm:spPr/>
    </dgm:pt>
    <dgm:pt modelId="{3891F394-8742-457B-A04F-05795A13A145}" type="pres">
      <dgm:prSet presAssocID="{765C1CCB-8EB2-461F-B486-63731980FC9A}" presName="spacing" presStyleCnt="0"/>
      <dgm:spPr/>
    </dgm:pt>
    <dgm:pt modelId="{39BB2FCF-AC80-4787-B8D0-F111CDEB3FC9}" type="pres">
      <dgm:prSet presAssocID="{02E2C82F-31FB-4ED3-897E-14CAB4BE02EA}" presName="composite" presStyleCnt="0"/>
      <dgm:spPr/>
    </dgm:pt>
    <dgm:pt modelId="{BC4B5587-6643-4CBF-90F0-04250CABF90A}" type="pres">
      <dgm:prSet presAssocID="{02E2C82F-31FB-4ED3-897E-14CAB4BE02EA}" presName="imgShp" presStyleLbl="fgImgPlace1" presStyleIdx="1" presStyleCnt="2" custScaleX="107677" custScaleY="116565" custLinFactX="-1250" custLinFactNeighborX="-100000" custLinFactNeighborY="12666"/>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87B0B8A0-B770-424C-819A-E1A93117B24D}" type="pres">
      <dgm:prSet presAssocID="{02E2C82F-31FB-4ED3-897E-14CAB4BE02EA}" presName="txShp" presStyleLbl="node1" presStyleIdx="1" presStyleCnt="2">
        <dgm:presLayoutVars>
          <dgm:bulletEnabled val="1"/>
        </dgm:presLayoutVars>
      </dgm:prSet>
      <dgm:spPr/>
    </dgm:pt>
  </dgm:ptLst>
  <dgm:cxnLst>
    <dgm:cxn modelId="{BCB3A015-C1FB-41C9-827A-EFA229118ADE}" srcId="{02E2C82F-31FB-4ED3-897E-14CAB4BE02EA}" destId="{9A8C725F-4AF6-4BE9-8356-024DE9634FE4}" srcOrd="0" destOrd="0" parTransId="{82AE73BE-E61B-43A9-B4F1-3F4C52084B40}" sibTransId="{F98C5BCA-3241-4D68-9346-33873963E303}"/>
    <dgm:cxn modelId="{6D5D991B-7DE0-484B-84DC-359F864F7E12}" type="presOf" srcId="{48D2E4FA-AB65-48FF-B164-099223E2FAA1}" destId="{87B0B8A0-B770-424C-819A-E1A93117B24D}" srcOrd="0" destOrd="3" presId="urn:microsoft.com/office/officeart/2005/8/layout/vList3"/>
    <dgm:cxn modelId="{3F7F6C21-C897-40BA-9068-A3B1013CC3BD}" srcId="{02E2C82F-31FB-4ED3-897E-14CAB4BE02EA}" destId="{6ABA5361-B3F9-407E-B526-F40E6FB6389A}" srcOrd="3" destOrd="0" parTransId="{C314808D-C250-4424-A33E-2EC99A85626F}" sibTransId="{B1A1442F-39EB-4191-A8BE-2EE8864EDB56}"/>
    <dgm:cxn modelId="{D0E22D6A-26FF-4F55-8E3C-404908C0484F}" srcId="{CA04A4DD-2423-48A3-893B-52247B8F9DB7}" destId="{8F7194BE-4AB9-43FA-BEC4-D72BD41887AD}" srcOrd="1" destOrd="0" parTransId="{1C7AC152-3AE6-47FE-8338-26D2BFB00801}" sibTransId="{5380FAD1-1D56-4BA3-8204-7F8E28C153DE}"/>
    <dgm:cxn modelId="{5B2D586D-F0C4-494F-8F8C-16F21DFDB554}" type="presOf" srcId="{8F7194BE-4AB9-43FA-BEC4-D72BD41887AD}" destId="{9E249925-EA94-4955-B185-35E274C65FE1}" srcOrd="0" destOrd="2" presId="urn:microsoft.com/office/officeart/2005/8/layout/vList3"/>
    <dgm:cxn modelId="{48B2F36D-5709-45DC-A348-3F23E102561C}" srcId="{02E2C82F-31FB-4ED3-897E-14CAB4BE02EA}" destId="{48D2E4FA-AB65-48FF-B164-099223E2FAA1}" srcOrd="2" destOrd="0" parTransId="{5B261F1D-BE46-4607-88A5-196752263C0E}" sibTransId="{851206B4-FB70-4E3C-BE7D-DB20E77E1411}"/>
    <dgm:cxn modelId="{7C217351-3FF7-494B-AE7B-EB36A0122CF9}" type="presOf" srcId="{DDAA32C6-3434-40CA-972E-A92645851FD6}" destId="{9E249925-EA94-4955-B185-35E274C65FE1}" srcOrd="0" destOrd="4" presId="urn:microsoft.com/office/officeart/2005/8/layout/vList3"/>
    <dgm:cxn modelId="{1657A452-38F0-4059-B9B6-7D40F6C46B61}" srcId="{CA04A4DD-2423-48A3-893B-52247B8F9DB7}" destId="{DDAA32C6-3434-40CA-972E-A92645851FD6}" srcOrd="3" destOrd="0" parTransId="{D40C024F-BFF2-48CD-8F37-688022679C35}" sibTransId="{BF32C617-3B5F-4990-BF38-0D86CEB658F2}"/>
    <dgm:cxn modelId="{24C5B455-8FE3-4A65-B64F-EB12E960D160}" type="presOf" srcId="{6ABA5361-B3F9-407E-B526-F40E6FB6389A}" destId="{87B0B8A0-B770-424C-819A-E1A93117B24D}" srcOrd="0" destOrd="4" presId="urn:microsoft.com/office/officeart/2005/8/layout/vList3"/>
    <dgm:cxn modelId="{7517E788-0C90-4421-86A4-ED3C1D353549}" type="presOf" srcId="{68C5BCE0-6AF2-4CE2-A6B4-D23991B3DAB9}" destId="{87B0B8A0-B770-424C-819A-E1A93117B24D}" srcOrd="0" destOrd="2" presId="urn:microsoft.com/office/officeart/2005/8/layout/vList3"/>
    <dgm:cxn modelId="{A1D87391-A8A8-41BF-998B-0F15AD8D6F69}" type="presOf" srcId="{CA04A4DD-2423-48A3-893B-52247B8F9DB7}" destId="{9E249925-EA94-4955-B185-35E274C65FE1}" srcOrd="0" destOrd="0" presId="urn:microsoft.com/office/officeart/2005/8/layout/vList3"/>
    <dgm:cxn modelId="{8F42D293-B3F1-439D-AF90-2A1254566CAC}" srcId="{CA04A4DD-2423-48A3-893B-52247B8F9DB7}" destId="{447D0BC4-A50D-4B59-8187-578436F7768E}" srcOrd="2" destOrd="0" parTransId="{2B2C9849-7217-4CA2-BDE7-4E0FC87A67BE}" sibTransId="{34140291-123C-4C2F-B484-37EE3A7A9FEC}"/>
    <dgm:cxn modelId="{2D79A095-A0A2-45E2-A4A9-6AB2FC1916D7}" srcId="{44DDC77B-FA9D-4A06-9E69-7EB0AB4713EE}" destId="{02E2C82F-31FB-4ED3-897E-14CAB4BE02EA}" srcOrd="1" destOrd="0" parTransId="{AC247C92-335D-403B-B66F-DF676C32B210}" sibTransId="{BB9D0693-BC89-4A96-86E9-75BFE304AEF3}"/>
    <dgm:cxn modelId="{1360BD98-A225-452A-B34F-F58A323624E4}" type="presOf" srcId="{447D0BC4-A50D-4B59-8187-578436F7768E}" destId="{9E249925-EA94-4955-B185-35E274C65FE1}" srcOrd="0" destOrd="3" presId="urn:microsoft.com/office/officeart/2005/8/layout/vList3"/>
    <dgm:cxn modelId="{F3AEC89F-B433-4616-8D0B-54FFEDAC041A}" type="presOf" srcId="{02E2C82F-31FB-4ED3-897E-14CAB4BE02EA}" destId="{87B0B8A0-B770-424C-819A-E1A93117B24D}" srcOrd="0" destOrd="0" presId="urn:microsoft.com/office/officeart/2005/8/layout/vList3"/>
    <dgm:cxn modelId="{C89606A5-3EB3-429E-ACA6-8DCE9F2643FA}" srcId="{44DDC77B-FA9D-4A06-9E69-7EB0AB4713EE}" destId="{CA04A4DD-2423-48A3-893B-52247B8F9DB7}" srcOrd="0" destOrd="0" parTransId="{63EB3626-88BE-4E5D-ABFD-667CAAF05997}" sibTransId="{765C1CCB-8EB2-461F-B486-63731980FC9A}"/>
    <dgm:cxn modelId="{BF95D6BE-3AF3-43B8-9418-31CA3ED6ACEF}" srcId="{02E2C82F-31FB-4ED3-897E-14CAB4BE02EA}" destId="{68C5BCE0-6AF2-4CE2-A6B4-D23991B3DAB9}" srcOrd="1" destOrd="0" parTransId="{2464F2B6-15B5-482E-8F8D-84EAFE7C9993}" sibTransId="{746832C8-8A33-4A29-8938-31FFAB3741B5}"/>
    <dgm:cxn modelId="{D042A9D6-FB83-4D73-864E-2D5041489A94}" type="presOf" srcId="{44DDC77B-FA9D-4A06-9E69-7EB0AB4713EE}" destId="{08123387-21C3-43DC-92FD-0869F424C486}" srcOrd="0" destOrd="0" presId="urn:microsoft.com/office/officeart/2005/8/layout/vList3"/>
    <dgm:cxn modelId="{212974D7-D1AC-4052-B0A7-A8F2E77CAA71}" srcId="{CA04A4DD-2423-48A3-893B-52247B8F9DB7}" destId="{EE8FBAE7-86D6-44CF-ACE6-03B554349EDA}" srcOrd="0" destOrd="0" parTransId="{CEFEE014-3FBE-440D-87A7-C55EC20133EC}" sibTransId="{0D69488C-ACDE-4491-9481-8430700D354F}"/>
    <dgm:cxn modelId="{AEC580E4-DB0B-4D06-93FA-DAF0D40854FC}" type="presOf" srcId="{9A8C725F-4AF6-4BE9-8356-024DE9634FE4}" destId="{87B0B8A0-B770-424C-819A-E1A93117B24D}" srcOrd="0" destOrd="1" presId="urn:microsoft.com/office/officeart/2005/8/layout/vList3"/>
    <dgm:cxn modelId="{E6C7E9FE-BDAB-48A5-8220-2EFE95F8877D}" type="presOf" srcId="{EE8FBAE7-86D6-44CF-ACE6-03B554349EDA}" destId="{9E249925-EA94-4955-B185-35E274C65FE1}" srcOrd="0" destOrd="1" presId="urn:microsoft.com/office/officeart/2005/8/layout/vList3"/>
    <dgm:cxn modelId="{15AB9A37-2B1C-448A-BAAA-57D19AF5D9EB}" type="presParOf" srcId="{08123387-21C3-43DC-92FD-0869F424C486}" destId="{B3874AC2-F254-4297-8F57-84FB0C814BDE}" srcOrd="0" destOrd="0" presId="urn:microsoft.com/office/officeart/2005/8/layout/vList3"/>
    <dgm:cxn modelId="{29B51F82-5629-4375-9A7F-232E0BAAD95B}" type="presParOf" srcId="{B3874AC2-F254-4297-8F57-84FB0C814BDE}" destId="{A95288C9-6531-4A84-AB96-7E2E00835426}" srcOrd="0" destOrd="0" presId="urn:microsoft.com/office/officeart/2005/8/layout/vList3"/>
    <dgm:cxn modelId="{EF2D5D6C-A7DC-4140-9454-2E1D939C45E0}" type="presParOf" srcId="{B3874AC2-F254-4297-8F57-84FB0C814BDE}" destId="{9E249925-EA94-4955-B185-35E274C65FE1}" srcOrd="1" destOrd="0" presId="urn:microsoft.com/office/officeart/2005/8/layout/vList3"/>
    <dgm:cxn modelId="{E8B568FD-7D13-4DD0-87A5-DEC4CC412B5F}" type="presParOf" srcId="{08123387-21C3-43DC-92FD-0869F424C486}" destId="{3891F394-8742-457B-A04F-05795A13A145}" srcOrd="1" destOrd="0" presId="urn:microsoft.com/office/officeart/2005/8/layout/vList3"/>
    <dgm:cxn modelId="{F25D5F6E-5E7F-4F5F-8813-C83004A39C7B}" type="presParOf" srcId="{08123387-21C3-43DC-92FD-0869F424C486}" destId="{39BB2FCF-AC80-4787-B8D0-F111CDEB3FC9}" srcOrd="2" destOrd="0" presId="urn:microsoft.com/office/officeart/2005/8/layout/vList3"/>
    <dgm:cxn modelId="{95133C1C-812F-4B5E-8E6A-C449CA243EED}" type="presParOf" srcId="{39BB2FCF-AC80-4787-B8D0-F111CDEB3FC9}" destId="{BC4B5587-6643-4CBF-90F0-04250CABF90A}" srcOrd="0" destOrd="0" presId="urn:microsoft.com/office/officeart/2005/8/layout/vList3"/>
    <dgm:cxn modelId="{6C47E15B-9AD5-4709-8112-B230BD654E80}" type="presParOf" srcId="{39BB2FCF-AC80-4787-B8D0-F111CDEB3FC9}" destId="{87B0B8A0-B770-424C-819A-E1A93117B24D}"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243E4-E2E4-4583-B3F2-5DEC4DD13933}">
      <dsp:nvSpPr>
        <dsp:cNvPr id="0" name=""/>
        <dsp:cNvSpPr/>
      </dsp:nvSpPr>
      <dsp:spPr>
        <a:xfrm>
          <a:off x="0" y="634179"/>
          <a:ext cx="8022779" cy="13337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l" defTabSz="2533650">
            <a:lnSpc>
              <a:spcPct val="90000"/>
            </a:lnSpc>
            <a:spcBef>
              <a:spcPct val="0"/>
            </a:spcBef>
            <a:spcAft>
              <a:spcPct val="35000"/>
            </a:spcAft>
            <a:buNone/>
          </a:pPr>
          <a:r>
            <a:rPr lang="en-US" sz="5700" b="0" i="0" kern="1200" dirty="0"/>
            <a:t>Supervised Learning</a:t>
          </a:r>
          <a:endParaRPr lang="en-US" sz="5700" kern="1200" dirty="0"/>
        </a:p>
      </dsp:txBody>
      <dsp:txXfrm>
        <a:off x="65111" y="699290"/>
        <a:ext cx="7892557" cy="1203577"/>
      </dsp:txXfrm>
    </dsp:sp>
    <dsp:sp modelId="{0B680AB9-6A6A-40C8-BDBC-5AE18AFCF757}">
      <dsp:nvSpPr>
        <dsp:cNvPr id="0" name=""/>
        <dsp:cNvSpPr/>
      </dsp:nvSpPr>
      <dsp:spPr>
        <a:xfrm>
          <a:off x="0" y="2132139"/>
          <a:ext cx="8022779" cy="133379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l" defTabSz="2533650">
            <a:lnSpc>
              <a:spcPct val="90000"/>
            </a:lnSpc>
            <a:spcBef>
              <a:spcPct val="0"/>
            </a:spcBef>
            <a:spcAft>
              <a:spcPct val="35000"/>
            </a:spcAft>
            <a:buNone/>
          </a:pPr>
          <a:r>
            <a:rPr lang="en-US" sz="5700" b="0" i="0" kern="1200"/>
            <a:t>Unsupervised Learning</a:t>
          </a:r>
          <a:endParaRPr lang="en-US" sz="5700" kern="1200"/>
        </a:p>
      </dsp:txBody>
      <dsp:txXfrm>
        <a:off x="65111" y="2197250"/>
        <a:ext cx="7892557" cy="12035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49925-EA94-4955-B185-35E274C65FE1}">
      <dsp:nvSpPr>
        <dsp:cNvPr id="0" name=""/>
        <dsp:cNvSpPr/>
      </dsp:nvSpPr>
      <dsp:spPr>
        <a:xfrm rot="10800000">
          <a:off x="2109200" y="1893"/>
          <a:ext cx="6298743" cy="1902591"/>
        </a:xfrm>
        <a:prstGeom prst="homePlate">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990" tIns="76200" rIns="142240" bIns="76200" numCol="1" spcCol="1270" anchor="t" anchorCtr="0">
          <a:noAutofit/>
        </a:bodyPr>
        <a:lstStyle/>
        <a:p>
          <a:pPr marL="0" lvl="0" indent="0" algn="l" defTabSz="889000">
            <a:lnSpc>
              <a:spcPct val="90000"/>
            </a:lnSpc>
            <a:spcBef>
              <a:spcPct val="0"/>
            </a:spcBef>
            <a:spcAft>
              <a:spcPct val="35000"/>
            </a:spcAft>
            <a:buNone/>
          </a:pPr>
          <a:r>
            <a:rPr lang="en-US" sz="2000" b="1" i="0" kern="1200" dirty="0"/>
            <a:t>Correlation</a:t>
          </a:r>
          <a:endParaRPr lang="en-US" sz="2000" b="1" kern="1200" dirty="0"/>
        </a:p>
        <a:p>
          <a:pPr marL="228600" lvl="1" indent="-228600" algn="l" defTabSz="889000">
            <a:lnSpc>
              <a:spcPct val="90000"/>
            </a:lnSpc>
            <a:spcBef>
              <a:spcPct val="0"/>
            </a:spcBef>
            <a:spcAft>
              <a:spcPct val="15000"/>
            </a:spcAft>
            <a:buChar char="•"/>
          </a:pPr>
          <a:r>
            <a:rPr lang="en-US" sz="2000" b="0" i="0" kern="1200"/>
            <a:t>Relationship between variables (X,Y)</a:t>
          </a:r>
          <a:endParaRPr lang="en-US" sz="2000" kern="1200"/>
        </a:p>
        <a:p>
          <a:pPr marL="228600" lvl="1" indent="-228600" algn="l" defTabSz="889000">
            <a:lnSpc>
              <a:spcPct val="90000"/>
            </a:lnSpc>
            <a:spcBef>
              <a:spcPct val="0"/>
            </a:spcBef>
            <a:spcAft>
              <a:spcPct val="15000"/>
            </a:spcAft>
            <a:buChar char="•"/>
          </a:pPr>
          <a:r>
            <a:rPr lang="en-US" sz="2000" b="0" i="0" kern="1200"/>
            <a:t>Variables move together</a:t>
          </a:r>
          <a:endParaRPr lang="en-US" sz="2000" kern="1200"/>
        </a:p>
        <a:p>
          <a:pPr marL="228600" lvl="1" indent="-228600" algn="l" defTabSz="889000">
            <a:lnSpc>
              <a:spcPct val="90000"/>
            </a:lnSpc>
            <a:spcBef>
              <a:spcPct val="0"/>
            </a:spcBef>
            <a:spcAft>
              <a:spcPct val="15000"/>
            </a:spcAft>
            <a:buChar char="•"/>
          </a:pPr>
          <a:r>
            <a:rPr lang="en-US" sz="2000" b="0" i="0" kern="1200" dirty="0"/>
            <a:t>X, Y can be interchanged</a:t>
          </a:r>
          <a:endParaRPr lang="en-US" sz="2000" kern="1200" dirty="0"/>
        </a:p>
        <a:p>
          <a:pPr marL="228600" lvl="1" indent="-228600" algn="l" defTabSz="889000">
            <a:lnSpc>
              <a:spcPct val="90000"/>
            </a:lnSpc>
            <a:spcBef>
              <a:spcPct val="0"/>
            </a:spcBef>
            <a:spcAft>
              <a:spcPct val="15000"/>
            </a:spcAft>
            <a:buChar char="•"/>
          </a:pPr>
          <a:r>
            <a:rPr lang="en-US" sz="2000" b="0" i="0" kern="1200" dirty="0"/>
            <a:t>Relation is represented by a point</a:t>
          </a:r>
          <a:endParaRPr lang="en-US" sz="2000" kern="1200" dirty="0"/>
        </a:p>
      </dsp:txBody>
      <dsp:txXfrm rot="10800000">
        <a:off x="2584848" y="1893"/>
        <a:ext cx="5823095" cy="1902591"/>
      </dsp:txXfrm>
    </dsp:sp>
    <dsp:sp modelId="{A95288C9-6531-4A84-AB96-7E2E00835426}">
      <dsp:nvSpPr>
        <dsp:cNvPr id="0" name=""/>
        <dsp:cNvSpPr/>
      </dsp:nvSpPr>
      <dsp:spPr>
        <a:xfrm>
          <a:off x="22733" y="96052"/>
          <a:ext cx="2090700" cy="168238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 modelId="{87B0B8A0-B770-424C-819A-E1A93117B24D}">
      <dsp:nvSpPr>
        <dsp:cNvPr id="0" name=""/>
        <dsp:cNvSpPr/>
      </dsp:nvSpPr>
      <dsp:spPr>
        <a:xfrm rot="10800000">
          <a:off x="2098688" y="2630004"/>
          <a:ext cx="6298743" cy="1902591"/>
        </a:xfrm>
        <a:prstGeom prst="homePlate">
          <a:avLst/>
        </a:prstGeom>
        <a:gradFill rotWithShape="0">
          <a:gsLst>
            <a:gs pos="0">
              <a:schemeClr val="accent4">
                <a:hueOff val="-2964099"/>
                <a:satOff val="26987"/>
                <a:lumOff val="-392"/>
                <a:alphaOff val="0"/>
                <a:tint val="50000"/>
                <a:satMod val="300000"/>
              </a:schemeClr>
            </a:gs>
            <a:gs pos="35000">
              <a:schemeClr val="accent4">
                <a:hueOff val="-2964099"/>
                <a:satOff val="26987"/>
                <a:lumOff val="-392"/>
                <a:alphaOff val="0"/>
                <a:tint val="37000"/>
                <a:satMod val="300000"/>
              </a:schemeClr>
            </a:gs>
            <a:gs pos="100000">
              <a:schemeClr val="accent4">
                <a:hueOff val="-2964099"/>
                <a:satOff val="26987"/>
                <a:lumOff val="-39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38990" tIns="76200" rIns="142240" bIns="76200" numCol="1" spcCol="1270" anchor="t" anchorCtr="0">
          <a:noAutofit/>
        </a:bodyPr>
        <a:lstStyle/>
        <a:p>
          <a:pPr marL="0" lvl="0" indent="0" algn="l" defTabSz="889000">
            <a:lnSpc>
              <a:spcPct val="90000"/>
            </a:lnSpc>
            <a:spcBef>
              <a:spcPct val="0"/>
            </a:spcBef>
            <a:spcAft>
              <a:spcPct val="35000"/>
            </a:spcAft>
            <a:buNone/>
          </a:pPr>
          <a:r>
            <a:rPr lang="en-US" sz="2000" b="1" i="0" kern="1200" dirty="0"/>
            <a:t>Regression</a:t>
          </a:r>
          <a:endParaRPr lang="en-US" sz="2000" b="1" kern="1200" dirty="0"/>
        </a:p>
        <a:p>
          <a:pPr marL="228600" lvl="1" indent="-228600" algn="l" defTabSz="889000">
            <a:lnSpc>
              <a:spcPct val="90000"/>
            </a:lnSpc>
            <a:spcBef>
              <a:spcPct val="0"/>
            </a:spcBef>
            <a:spcAft>
              <a:spcPct val="15000"/>
            </a:spcAft>
            <a:buChar char="•"/>
          </a:pPr>
          <a:r>
            <a:rPr lang="en-US" sz="2000" b="0" i="0" kern="1200"/>
            <a:t>One variable affects another (X,Y)</a:t>
          </a:r>
          <a:endParaRPr lang="en-US" sz="2000" kern="1200"/>
        </a:p>
        <a:p>
          <a:pPr marL="228600" lvl="1" indent="-228600" algn="l" defTabSz="889000">
            <a:lnSpc>
              <a:spcPct val="90000"/>
            </a:lnSpc>
            <a:spcBef>
              <a:spcPct val="0"/>
            </a:spcBef>
            <a:spcAft>
              <a:spcPct val="15000"/>
            </a:spcAft>
            <a:buChar char="•"/>
          </a:pPr>
          <a:r>
            <a:rPr lang="en-US" sz="2000" b="0" i="0" kern="1200"/>
            <a:t>Cause and effect</a:t>
          </a:r>
          <a:endParaRPr lang="en-US" sz="2000" kern="1200"/>
        </a:p>
        <a:p>
          <a:pPr marL="228600" lvl="1" indent="-228600" algn="l" defTabSz="889000">
            <a:lnSpc>
              <a:spcPct val="90000"/>
            </a:lnSpc>
            <a:spcBef>
              <a:spcPct val="0"/>
            </a:spcBef>
            <a:spcAft>
              <a:spcPct val="15000"/>
            </a:spcAft>
            <a:buChar char="•"/>
          </a:pPr>
          <a:r>
            <a:rPr lang="en-US" sz="2000" b="0" i="0" kern="1200"/>
            <a:t>X,Y cannot be interchanged</a:t>
          </a:r>
          <a:endParaRPr lang="en-US" sz="2000" kern="1200"/>
        </a:p>
        <a:p>
          <a:pPr marL="228600" lvl="1" indent="-228600" algn="l" defTabSz="889000">
            <a:lnSpc>
              <a:spcPct val="90000"/>
            </a:lnSpc>
            <a:spcBef>
              <a:spcPct val="0"/>
            </a:spcBef>
            <a:spcAft>
              <a:spcPct val="15000"/>
            </a:spcAft>
            <a:buChar char="•"/>
          </a:pPr>
          <a:r>
            <a:rPr lang="en-US" sz="2000" b="0" i="0" kern="1200" dirty="0"/>
            <a:t>Relation is represented by a line</a:t>
          </a:r>
          <a:endParaRPr lang="en-US" sz="2000" kern="1200" dirty="0"/>
        </a:p>
      </dsp:txBody>
      <dsp:txXfrm rot="10800000">
        <a:off x="2574336" y="2630004"/>
        <a:ext cx="5823095" cy="1902591"/>
      </dsp:txXfrm>
    </dsp:sp>
    <dsp:sp modelId="{BC4B5587-6643-4CBF-90F0-04250CABF90A}">
      <dsp:nvSpPr>
        <dsp:cNvPr id="0" name=""/>
        <dsp:cNvSpPr/>
      </dsp:nvSpPr>
      <dsp:spPr>
        <a:xfrm>
          <a:off x="0" y="2474316"/>
          <a:ext cx="2048653" cy="221775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9525"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 name="Google Shape;5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0bb4b8342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0bb4b8342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10bb4b8342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0bb4b8342d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0bb4b8342d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g10bb4b8342d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bb4b8342d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0bb4b8342d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g10bb4b8342d_0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bb4b8342d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bb4b8342d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10bb4b8342d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plotly</a:t>
            </a:r>
            <a:endParaRPr lang="en-US" dirty="0"/>
          </a:p>
          <a:p>
            <a:r>
              <a:rPr lang="en-US" dirty="0"/>
              <a:t>https://towardsdatascience.com/linear-regression-made-easy-how-does-it-work-and-how-to-use-it-in-python-be0799d2f159</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8895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7493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1777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92929"/>
                </a:solidFill>
                <a:effectLst/>
                <a:latin typeface="charter"/>
              </a:rPr>
              <a:t>Predicting taxi fare based on distance traveled</a:t>
            </a:r>
          </a:p>
          <a:p>
            <a:pPr algn="l">
              <a:buFont typeface="Arial" panose="020B0604020202020204" pitchFamily="34" charset="0"/>
              <a:buChar char="•"/>
            </a:pPr>
            <a:r>
              <a:rPr lang="en-US" b="0" i="0" dirty="0">
                <a:solidFill>
                  <a:srgbClr val="292929"/>
                </a:solidFill>
                <a:effectLst/>
                <a:latin typeface="charter"/>
              </a:rPr>
              <a:t>Predicting rainfall based on time of the year and location</a:t>
            </a:r>
          </a:p>
          <a:p>
            <a:pPr algn="l">
              <a:buFont typeface="Arial" panose="020B0604020202020204" pitchFamily="34" charset="0"/>
              <a:buChar char="•"/>
            </a:pPr>
            <a:r>
              <a:rPr lang="en-US" b="0" i="0" dirty="0">
                <a:solidFill>
                  <a:srgbClr val="292929"/>
                </a:solidFill>
                <a:effectLst/>
                <a:latin typeface="charter"/>
              </a:rPr>
              <a:t>Predicting the homicide rate in the area based on income level and the prevalence of gun ownership</a:t>
            </a:r>
          </a:p>
          <a:p>
            <a:pPr algn="l">
              <a:buFont typeface="Arial" panose="020B0604020202020204" pitchFamily="34" charset="0"/>
              <a:buChar char="•"/>
            </a:pPr>
            <a:endParaRPr lang="en-US" b="0" i="0" dirty="0">
              <a:solidFill>
                <a:srgbClr val="292929"/>
              </a:solidFill>
              <a:effectLst/>
              <a:latin typeface="charter"/>
            </a:endParaRPr>
          </a:p>
          <a:p>
            <a:pPr algn="l">
              <a:buFont typeface="Arial" panose="020B0604020202020204" pitchFamily="34" charset="0"/>
              <a:buChar char="•"/>
            </a:pPr>
            <a:r>
              <a:rPr lang="en-US" b="0" i="0" dirty="0">
                <a:solidFill>
                  <a:srgbClr val="292929"/>
                </a:solidFill>
                <a:effectLst/>
                <a:latin typeface="charter"/>
              </a:rPr>
              <a:t>Correlation (the relationships)</a:t>
            </a:r>
          </a:p>
          <a:p>
            <a:pPr algn="l">
              <a:buFont typeface="Arial" panose="020B0604020202020204" pitchFamily="34" charset="0"/>
              <a:buChar char="•"/>
            </a:pPr>
            <a:r>
              <a:rPr lang="en-US" b="0" i="0" dirty="0">
                <a:solidFill>
                  <a:srgbClr val="292929"/>
                </a:solidFill>
                <a:effectLst/>
                <a:latin typeface="charter"/>
              </a:rPr>
              <a:t>Regression (the mathematics behind the relationship)</a:t>
            </a:r>
          </a:p>
          <a:p>
            <a:pPr marL="0" lvl="0" indent="0" algn="l" rtl="0">
              <a:spcBef>
                <a:spcPts val="0"/>
              </a:spcBef>
              <a:spcAft>
                <a:spcPts val="0"/>
              </a:spcAft>
              <a:buNone/>
            </a:pPr>
            <a:endParaRPr dirty="0"/>
          </a:p>
        </p:txBody>
      </p:sp>
      <p:sp>
        <p:nvSpPr>
          <p:cNvPr id="142" name="Google Shape;142;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9544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92929"/>
                </a:solidFill>
                <a:effectLst/>
                <a:latin typeface="charter"/>
              </a:rPr>
              <a:t>To predict whether an email is spam (1) or (0)</a:t>
            </a:r>
          </a:p>
          <a:p>
            <a:pPr algn="l">
              <a:buFont typeface="Arial" panose="020B0604020202020204" pitchFamily="34" charset="0"/>
              <a:buChar char="•"/>
            </a:pPr>
            <a:r>
              <a:rPr lang="en-US" b="0" i="0" dirty="0">
                <a:solidFill>
                  <a:srgbClr val="292929"/>
                </a:solidFill>
                <a:effectLst/>
                <a:latin typeface="charter"/>
              </a:rPr>
              <a:t>Whether the tumor is malignant (1) or not (0)</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65" name="Google Shape;165;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bb4b8342d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g10bb4b8342d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bb4b8342d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g10bb4b8342d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8722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outline for a demo, if applicable</a:t>
            </a:r>
            <a:endParaRPr/>
          </a:p>
        </p:txBody>
      </p:sp>
      <p:sp>
        <p:nvSpPr>
          <p:cNvPr id="132" name="Google Shape;132;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CI DesignPlus" type="title">
  <p:cSld name="TITLE">
    <p:spTree>
      <p:nvGrpSpPr>
        <p:cNvPr id="1" name="Shape 13"/>
        <p:cNvGrpSpPr/>
        <p:nvPr/>
      </p:nvGrpSpPr>
      <p:grpSpPr>
        <a:xfrm>
          <a:off x="0" y="0"/>
          <a:ext cx="0" cy="0"/>
          <a:chOff x="0" y="0"/>
          <a:chExt cx="0" cy="0"/>
        </a:xfrm>
      </p:grpSpPr>
      <p:sp>
        <p:nvSpPr>
          <p:cNvPr id="14" name="Google Shape;14;gcea58d07d7_0_4"/>
          <p:cNvSpPr/>
          <p:nvPr/>
        </p:nvSpPr>
        <p:spPr>
          <a:xfrm>
            <a:off x="1783512" y="10089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5" name="Google Shape;15;gcea58d07d7_0_4"/>
          <p:cNvSpPr/>
          <p:nvPr/>
        </p:nvSpPr>
        <p:spPr>
          <a:xfrm rot="10800000">
            <a:off x="6278975" y="43410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16" name="Google Shape;16;gcea58d07d7_0_4"/>
          <p:cNvSpPr txBox="1">
            <a:spLocks noGrp="1"/>
          </p:cNvSpPr>
          <p:nvPr>
            <p:ph type="ctrTitle"/>
          </p:nvPr>
        </p:nvSpPr>
        <p:spPr>
          <a:xfrm>
            <a:off x="2241900" y="1925667"/>
            <a:ext cx="4660200" cy="20496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17" name="Google Shape;17;gcea58d07d7_0_4"/>
          <p:cNvSpPr txBox="1">
            <a:spLocks noGrp="1"/>
          </p:cNvSpPr>
          <p:nvPr>
            <p:ph type="subTitle" idx="1"/>
          </p:nvPr>
        </p:nvSpPr>
        <p:spPr>
          <a:xfrm>
            <a:off x="2764500" y="4155433"/>
            <a:ext cx="3615000" cy="9351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100" b="0" i="0" u="none" strike="noStrike" cap="none">
                <a:solidFill>
                  <a:schemeClr val="dk1"/>
                </a:solidFill>
                <a:latin typeface="Economica"/>
                <a:ea typeface="Economica"/>
                <a:cs typeface="Economica"/>
                <a:sym typeface="Economica"/>
              </a:defRPr>
            </a:lvl9pPr>
          </a:lstStyle>
          <a:p>
            <a:endParaRPr/>
          </a:p>
        </p:txBody>
      </p:sp>
      <p:sp>
        <p:nvSpPr>
          <p:cNvPr id="18" name="Google Shape;18;gcea58d07d7_0_4"/>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pic>
        <p:nvPicPr>
          <p:cNvPr id="19" name="Google Shape;19;gcea58d07d7_0_4"/>
          <p:cNvPicPr preferRelativeResize="0"/>
          <p:nvPr/>
        </p:nvPicPr>
        <p:blipFill rotWithShape="1">
          <a:blip r:embed="rId2">
            <a:alphaModFix/>
          </a:blip>
          <a:srcRect/>
          <a:stretch/>
        </p:blipFill>
        <p:spPr>
          <a:xfrm>
            <a:off x="246500" y="6298067"/>
            <a:ext cx="2098076" cy="2729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gcea58d07d7_0_41"/>
          <p:cNvSpPr txBox="1">
            <a:spLocks noGrp="1"/>
          </p:cNvSpPr>
          <p:nvPr>
            <p:ph type="title"/>
          </p:nvPr>
        </p:nvSpPr>
        <p:spPr>
          <a:xfrm>
            <a:off x="453007" y="171974"/>
            <a:ext cx="8493900" cy="88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4400"/>
              <a:buFont typeface="Calibri"/>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cea58d07d7_0_41"/>
          <p:cNvSpPr txBox="1">
            <a:spLocks noGrp="1"/>
          </p:cNvSpPr>
          <p:nvPr>
            <p:ph type="body" idx="1"/>
          </p:nvPr>
        </p:nvSpPr>
        <p:spPr>
          <a:xfrm>
            <a:off x="453006" y="1157681"/>
            <a:ext cx="8493900" cy="5234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1600"/>
              </a:spcBef>
              <a:spcAft>
                <a:spcPts val="0"/>
              </a:spcAft>
              <a:buClr>
                <a:schemeClr val="dk1"/>
              </a:buClr>
              <a:buSzPts val="1800"/>
              <a:buNone/>
              <a:defRPr/>
            </a:lvl2pPr>
            <a:lvl3pPr marL="1371600" lvl="2" indent="-228600" algn="l">
              <a:lnSpc>
                <a:spcPct val="90000"/>
              </a:lnSpc>
              <a:spcBef>
                <a:spcPts val="1600"/>
              </a:spcBef>
              <a:spcAft>
                <a:spcPts val="0"/>
              </a:spcAft>
              <a:buClr>
                <a:schemeClr val="dk1"/>
              </a:buClr>
              <a:buSzPts val="1800"/>
              <a:buNone/>
              <a:defRPr/>
            </a:lvl3pPr>
            <a:lvl4pPr marL="1828800" lvl="3" indent="-228600" algn="l">
              <a:lnSpc>
                <a:spcPct val="90000"/>
              </a:lnSpc>
              <a:spcBef>
                <a:spcPts val="1600"/>
              </a:spcBef>
              <a:spcAft>
                <a:spcPts val="0"/>
              </a:spcAft>
              <a:buClr>
                <a:schemeClr val="dk1"/>
              </a:buClr>
              <a:buSzPts val="1800"/>
              <a:buNone/>
              <a:defRPr/>
            </a:lvl4pPr>
            <a:lvl5pPr marL="2286000" lvl="4" indent="-228600" algn="l">
              <a:lnSpc>
                <a:spcPct val="90000"/>
              </a:lnSpc>
              <a:spcBef>
                <a:spcPts val="1600"/>
              </a:spcBef>
              <a:spcAft>
                <a:spcPts val="0"/>
              </a:spcAft>
              <a:buClr>
                <a:schemeClr val="dk1"/>
              </a:buClr>
              <a:buSzPts val="1800"/>
              <a:buNone/>
              <a:defRPr/>
            </a:lvl5pPr>
            <a:lvl6pPr marL="2743200" lvl="5" indent="-228600" algn="l">
              <a:lnSpc>
                <a:spcPct val="90000"/>
              </a:lnSpc>
              <a:spcBef>
                <a:spcPts val="1600"/>
              </a:spcBef>
              <a:spcAft>
                <a:spcPts val="0"/>
              </a:spcAft>
              <a:buClr>
                <a:schemeClr val="dk1"/>
              </a:buClr>
              <a:buSzPts val="1800"/>
              <a:buNone/>
              <a:defRPr/>
            </a:lvl6pPr>
            <a:lvl7pPr marL="3200400" lvl="6" indent="-228600" algn="l">
              <a:lnSpc>
                <a:spcPct val="90000"/>
              </a:lnSpc>
              <a:spcBef>
                <a:spcPts val="1600"/>
              </a:spcBef>
              <a:spcAft>
                <a:spcPts val="0"/>
              </a:spcAft>
              <a:buClr>
                <a:schemeClr val="dk1"/>
              </a:buClr>
              <a:buSzPts val="1800"/>
              <a:buNone/>
              <a:defRPr/>
            </a:lvl7pPr>
            <a:lvl8pPr marL="3657600" lvl="7" indent="-228600" algn="l">
              <a:lnSpc>
                <a:spcPct val="90000"/>
              </a:lnSpc>
              <a:spcBef>
                <a:spcPts val="1600"/>
              </a:spcBef>
              <a:spcAft>
                <a:spcPts val="0"/>
              </a:spcAft>
              <a:buClr>
                <a:schemeClr val="dk1"/>
              </a:buClr>
              <a:buSzPts val="1800"/>
              <a:buNone/>
              <a:defRPr/>
            </a:lvl8pPr>
            <a:lvl9pPr marL="4114800" lvl="8" indent="-228600" algn="l">
              <a:lnSpc>
                <a:spcPct val="90000"/>
              </a:lnSpc>
              <a:spcBef>
                <a:spcPts val="1600"/>
              </a:spcBef>
              <a:spcAft>
                <a:spcPts val="1600"/>
              </a:spcAft>
              <a:buClr>
                <a:schemeClr val="dk1"/>
              </a:buClr>
              <a:buSzPts val="1800"/>
              <a:buNone/>
              <a:defRPr/>
            </a:lvl9pPr>
          </a:lstStyle>
          <a:p>
            <a:endParaRPr/>
          </a:p>
        </p:txBody>
      </p:sp>
      <p:sp>
        <p:nvSpPr>
          <p:cNvPr id="23" name="Google Shape;23;gcea58d07d7_0_41"/>
          <p:cNvSpPr txBox="1">
            <a:spLocks noGrp="1"/>
          </p:cNvSpPr>
          <p:nvPr>
            <p:ph type="ftr" idx="11"/>
          </p:nvPr>
        </p:nvSpPr>
        <p:spPr>
          <a:xfrm>
            <a:off x="453007" y="6476301"/>
            <a:ext cx="880800" cy="2913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1" u="none" strike="noStrike" cap="none">
                <a:solidFill>
                  <a:srgbClr val="0000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gcea58d07d7_0_11"/>
          <p:cNvSpPr/>
          <p:nvPr/>
        </p:nvSpPr>
        <p:spPr>
          <a:xfrm flipH="1">
            <a:off x="7596062" y="613633"/>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6" name="Google Shape;26;gcea58d07d7_0_11"/>
          <p:cNvSpPr/>
          <p:nvPr/>
        </p:nvSpPr>
        <p:spPr>
          <a:xfrm rot="10800000" flipH="1">
            <a:off x="466425" y="4744367"/>
            <a:ext cx="1081500" cy="1500000"/>
          </a:xfrm>
          <a:custGeom>
            <a:avLst/>
            <a:gdLst/>
            <a:ahLst/>
            <a:cxnLst/>
            <a:rect l="l" t="t" r="r" b="b"/>
            <a:pathLst>
              <a:path w="120000" h="120000" extrusionOk="0">
                <a:moveTo>
                  <a:pt x="0" y="120000"/>
                </a:moveTo>
                <a:lnTo>
                  <a:pt x="0" y="0"/>
                </a:lnTo>
                <a:lnTo>
                  <a:pt x="120000" y="0"/>
                </a:lnTo>
              </a:path>
            </a:pathLst>
          </a:custGeom>
          <a:noFill/>
          <a:ln w="28575" cap="flat" cmpd="sng">
            <a:solidFill>
              <a:srgbClr val="FFD200"/>
            </a:solidFill>
            <a:prstDash val="solid"/>
            <a:miter lim="8000"/>
            <a:headEnd type="none" w="sm" len="sm"/>
            <a:tailEnd type="none" w="sm" len="sm"/>
          </a:ln>
        </p:spPr>
      </p:sp>
      <p:sp>
        <p:nvSpPr>
          <p:cNvPr id="27" name="Google Shape;27;gcea58d07d7_0_11"/>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ctr">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28" name="Google Shape;28;gcea58d07d7_0_1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gcea58d07d7_0_16"/>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cea58d07d7_0_1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2" name="Google Shape;32;gcea58d07d7_0_16"/>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33" name="Google Shape;33;gcea58d07d7_0_1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gcea58d07d7_0_2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36" name="Google Shape;36;gcea58d07d7_0_21"/>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7" name="Google Shape;37;gcea58d07d7_0_21"/>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marR="0" lvl="0" indent="-228600" algn="l">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2pPr>
            <a:lvl3pPr marL="1371600" marR="0" lvl="2"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3pPr>
            <a:lvl4pPr marL="1828800" marR="0" lvl="3"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4pPr>
            <a:lvl5pPr marL="2286000" marR="0" lvl="4"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5pPr>
            <a:lvl6pPr marL="2743200" marR="0" lvl="5"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6pPr>
            <a:lvl7pPr marL="3200400" marR="0" lvl="6"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7pPr>
            <a:lvl8pPr marL="3657600" marR="0" lvl="7" indent="-228600" algn="l">
              <a:lnSpc>
                <a:spcPct val="115000"/>
              </a:lnSpc>
              <a:spcBef>
                <a:spcPts val="1600"/>
              </a:spcBef>
              <a:spcAft>
                <a:spcPts val="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8pPr>
            <a:lvl9pPr marL="4114800" marR="0" lvl="8" indent="-228600" algn="l">
              <a:lnSpc>
                <a:spcPct val="115000"/>
              </a:lnSpc>
              <a:spcBef>
                <a:spcPts val="1600"/>
              </a:spcBef>
              <a:spcAft>
                <a:spcPts val="1600"/>
              </a:spcAft>
              <a:buClr>
                <a:schemeClr val="dk1"/>
              </a:buClr>
              <a:buSzPts val="1400"/>
              <a:buFont typeface="Open Sans"/>
              <a:buNone/>
              <a:defRPr sz="1200" b="0" i="0" u="none" strike="noStrike" cap="none">
                <a:solidFill>
                  <a:schemeClr val="dk1"/>
                </a:solidFill>
                <a:latin typeface="Open Sans"/>
                <a:ea typeface="Open Sans"/>
                <a:cs typeface="Open Sans"/>
                <a:sym typeface="Open Sans"/>
              </a:defRPr>
            </a:lvl9pPr>
          </a:lstStyle>
          <a:p>
            <a:endParaRPr/>
          </a:p>
        </p:txBody>
      </p:sp>
      <p:sp>
        <p:nvSpPr>
          <p:cNvPr id="38" name="Google Shape;38;gcea58d07d7_0_21"/>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gcea58d07d7_0_2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200">
                <a:solidFill>
                  <a:schemeClr val="dk1"/>
                </a:solidFill>
                <a:latin typeface="Economica"/>
                <a:ea typeface="Economica"/>
                <a:cs typeface="Economica"/>
                <a:sym typeface="Economica"/>
              </a:defRPr>
            </a:lvl9pPr>
          </a:lstStyle>
          <a:p>
            <a:endParaRPr/>
          </a:p>
        </p:txBody>
      </p:sp>
      <p:sp>
        <p:nvSpPr>
          <p:cNvPr id="41" name="Google Shape;41;gcea58d07d7_0_26"/>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gcea58d07d7_0_29"/>
          <p:cNvSpPr/>
          <p:nvPr/>
        </p:nvSpPr>
        <p:spPr>
          <a:xfrm>
            <a:off x="0" y="6727600"/>
            <a:ext cx="9144000" cy="130500"/>
          </a:xfrm>
          <a:prstGeom prst="rect">
            <a:avLst/>
          </a:prstGeom>
          <a:solidFill>
            <a:srgbClr val="FFD2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cea58d07d7_0_29"/>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64A4"/>
              </a:buClr>
              <a:buSzPts val="1400"/>
              <a:buFont typeface="Economica"/>
              <a:buNone/>
              <a:defRPr sz="4800" b="0" i="0" u="none" strike="noStrike" cap="none">
                <a:solidFill>
                  <a:srgbClr val="0064A4"/>
                </a:solidFill>
                <a:latin typeface="Economica"/>
                <a:ea typeface="Economica"/>
                <a:cs typeface="Economica"/>
                <a:sym typeface="Economica"/>
              </a:defRPr>
            </a:lvl1pPr>
            <a:lvl2pPr lvl="1"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2pPr>
            <a:lvl3pPr lvl="2"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3pPr>
            <a:lvl4pPr lvl="3"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4pPr>
            <a:lvl5pPr lvl="4"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5pPr>
            <a:lvl6pPr lvl="5"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6pPr>
            <a:lvl7pPr lvl="6"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7pPr>
            <a:lvl8pPr lvl="7"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8pPr>
            <a:lvl9pPr lvl="8" algn="l">
              <a:lnSpc>
                <a:spcPct val="100000"/>
              </a:lnSpc>
              <a:spcBef>
                <a:spcPts val="0"/>
              </a:spcBef>
              <a:spcAft>
                <a:spcPts val="0"/>
              </a:spcAft>
              <a:buClr>
                <a:schemeClr val="dk1"/>
              </a:buClr>
              <a:buSzPts val="1400"/>
              <a:buFont typeface="Economica"/>
              <a:buNone/>
              <a:defRPr sz="4800">
                <a:solidFill>
                  <a:schemeClr val="dk1"/>
                </a:solidFill>
                <a:latin typeface="Economica"/>
                <a:ea typeface="Economica"/>
                <a:cs typeface="Economica"/>
                <a:sym typeface="Economica"/>
              </a:defRPr>
            </a:lvl9pPr>
          </a:lstStyle>
          <a:p>
            <a:endParaRPr/>
          </a:p>
        </p:txBody>
      </p:sp>
      <p:sp>
        <p:nvSpPr>
          <p:cNvPr id="45" name="Google Shape;45;gcea58d07d7_0_2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cea58d07d7_0_33"/>
          <p:cNvSpPr/>
          <p:nvPr/>
        </p:nvSpPr>
        <p:spPr>
          <a:xfrm>
            <a:off x="4572000" y="-33"/>
            <a:ext cx="4572000" cy="6858000"/>
          </a:xfrm>
          <a:prstGeom prst="rect">
            <a:avLst/>
          </a:prstGeom>
          <a:solidFill>
            <a:srgbClr val="C6BE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cea58d07d7_0_33"/>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lvl="1"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2pPr>
            <a:lvl3pPr lvl="2"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3pPr>
            <a:lvl4pPr lvl="3"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4pPr>
            <a:lvl5pPr lvl="4"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5pPr>
            <a:lvl6pPr lvl="5"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6pPr>
            <a:lvl7pPr lvl="6"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7pPr>
            <a:lvl8pPr lvl="7"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8pPr>
            <a:lvl9pPr lvl="8" algn="ctr">
              <a:lnSpc>
                <a:spcPct val="100000"/>
              </a:lnSpc>
              <a:spcBef>
                <a:spcPts val="0"/>
              </a:spcBef>
              <a:spcAft>
                <a:spcPts val="0"/>
              </a:spcAft>
              <a:buClr>
                <a:schemeClr val="lt2"/>
              </a:buClr>
              <a:buSzPts val="1400"/>
              <a:buFont typeface="Economica"/>
              <a:buNone/>
              <a:defRPr sz="4200">
                <a:solidFill>
                  <a:schemeClr val="lt2"/>
                </a:solidFill>
                <a:latin typeface="Economica"/>
                <a:ea typeface="Economica"/>
                <a:cs typeface="Economica"/>
                <a:sym typeface="Economica"/>
              </a:defRPr>
            </a:lvl9pPr>
          </a:lstStyle>
          <a:p>
            <a:endParaRPr/>
          </a:p>
        </p:txBody>
      </p:sp>
      <p:sp>
        <p:nvSpPr>
          <p:cNvPr id="49" name="Google Shape;49;gcea58d07d7_0_33"/>
          <p:cNvSpPr txBox="1">
            <a:spLocks noGrp="1"/>
          </p:cNvSpPr>
          <p:nvPr>
            <p:ph type="subTitle" idx="1"/>
          </p:nvPr>
        </p:nvSpPr>
        <p:spPr>
          <a:xfrm>
            <a:off x="265500" y="3692000"/>
            <a:ext cx="4045200" cy="20988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1pPr>
            <a:lvl2pPr marR="0" lvl="1"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2pPr>
            <a:lvl3pPr marR="0" lvl="2"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3pPr>
            <a:lvl4pPr marR="0" lvl="3"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4pPr>
            <a:lvl5pPr marR="0" lvl="4"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5pPr>
            <a:lvl6pPr marR="0" lvl="5"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6pPr>
            <a:lvl7pPr marR="0" lvl="6"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7pPr>
            <a:lvl8pPr marR="0" lvl="7"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8pPr>
            <a:lvl9pPr marR="0" lvl="8" algn="ctr">
              <a:lnSpc>
                <a:spcPct val="100000"/>
              </a:lnSpc>
              <a:spcBef>
                <a:spcPts val="0"/>
              </a:spcBef>
              <a:spcAft>
                <a:spcPts val="0"/>
              </a:spcAft>
              <a:buClr>
                <a:schemeClr val="dk1"/>
              </a:buClr>
              <a:buSzPts val="1400"/>
              <a:buFont typeface="Economica"/>
              <a:buNone/>
              <a:defRPr sz="2400" b="0" i="0" u="none" strike="noStrike" cap="none">
                <a:solidFill>
                  <a:schemeClr val="dk1"/>
                </a:solidFill>
                <a:latin typeface="Economica"/>
                <a:ea typeface="Economica"/>
                <a:cs typeface="Economica"/>
                <a:sym typeface="Economica"/>
              </a:defRPr>
            </a:lvl9pPr>
          </a:lstStyle>
          <a:p>
            <a:endParaRPr/>
          </a:p>
        </p:txBody>
      </p:sp>
      <p:sp>
        <p:nvSpPr>
          <p:cNvPr id="50" name="Google Shape;50;gcea58d07d7_0_33"/>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marR="0" lvl="0" indent="-228600" algn="l">
              <a:lnSpc>
                <a:spcPct val="115000"/>
              </a:lnSpc>
              <a:spcBef>
                <a:spcPts val="0"/>
              </a:spcBef>
              <a:spcAft>
                <a:spcPts val="0"/>
              </a:spcAft>
              <a:buClr>
                <a:srgbClr val="000000"/>
              </a:buClr>
              <a:buSzPts val="1400"/>
              <a:buFont typeface="Open Sans"/>
              <a:buNone/>
              <a:defRPr sz="1800" b="0" i="0" u="none" strike="noStrike" cap="none">
                <a:solidFill>
                  <a:srgbClr val="000000"/>
                </a:solidFill>
                <a:latin typeface="Open Sans"/>
                <a:ea typeface="Open Sans"/>
                <a:cs typeface="Open Sans"/>
                <a:sym typeface="Open Sans"/>
              </a:defRPr>
            </a:lvl1pPr>
            <a:lvl2pPr marL="914400" marR="0" lvl="1"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2pPr>
            <a:lvl3pPr marL="1371600" marR="0" lvl="2"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3pPr>
            <a:lvl4pPr marL="1828800" marR="0" lvl="3"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4pPr>
            <a:lvl5pPr marL="2286000" marR="0" lvl="4"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5pPr>
            <a:lvl6pPr marL="2743200" marR="0" lvl="5"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6pPr>
            <a:lvl7pPr marL="3200400" marR="0" lvl="6"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7pPr>
            <a:lvl8pPr marL="3657600" marR="0" lvl="7" indent="-228600" algn="l">
              <a:lnSpc>
                <a:spcPct val="115000"/>
              </a:lnSpc>
              <a:spcBef>
                <a:spcPts val="1600"/>
              </a:spcBef>
              <a:spcAft>
                <a:spcPts val="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8pPr>
            <a:lvl9pPr marL="4114800" marR="0" lvl="8" indent="-228600" algn="l">
              <a:lnSpc>
                <a:spcPct val="115000"/>
              </a:lnSpc>
              <a:spcBef>
                <a:spcPts val="1600"/>
              </a:spcBef>
              <a:spcAft>
                <a:spcPts val="1600"/>
              </a:spcAft>
              <a:buClr>
                <a:srgbClr val="000000"/>
              </a:buClr>
              <a:buSzPts val="1400"/>
              <a:buFont typeface="Open Sans"/>
              <a:buNone/>
              <a:defRPr sz="1400" b="0" i="0" u="none" strike="noStrike" cap="none">
                <a:solidFill>
                  <a:srgbClr val="000000"/>
                </a:solidFill>
                <a:latin typeface="Open Sans"/>
                <a:ea typeface="Open Sans"/>
                <a:cs typeface="Open Sans"/>
                <a:sym typeface="Open Sans"/>
              </a:defRPr>
            </a:lvl9pPr>
          </a:lstStyle>
          <a:p>
            <a:endParaRPr/>
          </a:p>
        </p:txBody>
      </p:sp>
      <p:sp>
        <p:nvSpPr>
          <p:cNvPr id="51" name="Google Shape;51;gcea58d07d7_0_33"/>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0" marR="0" lvl="1"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0" marR="0" lvl="2"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L="0" marR="0" lvl="3"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0" marR="0" lvl="4"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0" marR="0" lvl="5"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6pPr>
            <a:lvl7pPr marL="0" marR="0" lvl="6"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7pPr>
            <a:lvl8pPr marL="0" marR="0" lvl="7"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8pPr>
            <a:lvl9pPr marL="0" marR="0" lvl="8" indent="0" algn="l">
              <a:lnSpc>
                <a:spcPct val="10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cea58d07d7_0_39"/>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sz="1000">
              <a:solidFill>
                <a:schemeClr val="dk1"/>
              </a:solidFill>
              <a:latin typeface="Economica"/>
              <a:ea typeface="Economica"/>
              <a:cs typeface="Economica"/>
              <a:sym typeface="Economic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Text - Blue Banner">
    <p:spTree>
      <p:nvGrpSpPr>
        <p:cNvPr id="1" name=""/>
        <p:cNvGrpSpPr/>
        <p:nvPr/>
      </p:nvGrpSpPr>
      <p:grpSpPr>
        <a:xfrm>
          <a:off x="0" y="0"/>
          <a:ext cx="0" cy="0"/>
          <a:chOff x="0" y="0"/>
          <a:chExt cx="0" cy="0"/>
        </a:xfrm>
      </p:grpSpPr>
      <p:sp>
        <p:nvSpPr>
          <p:cNvPr id="3" name="Text Placeholder 2"/>
          <p:cNvSpPr>
            <a:spLocks noGrp="1"/>
          </p:cNvSpPr>
          <p:nvPr>
            <p:ph idx="1"/>
          </p:nvPr>
        </p:nvSpPr>
        <p:spPr>
          <a:xfrm>
            <a:off x="173741" y="990600"/>
            <a:ext cx="8741659" cy="5486400"/>
          </a:xfrm>
          <a:prstGeom prst="rect">
            <a:avLst/>
          </a:prstGeom>
        </p:spPr>
        <p:txBody>
          <a:bodyPr vert="horz" lIns="45720" tIns="0" rIns="45720" bIns="0" rtlCol="0">
            <a:noAutofit/>
          </a:bodyPr>
          <a:lstStyle>
            <a:lvl1pPr marL="227013" indent="-227013">
              <a:buFont typeface="Arial" pitchFamily="34" charset="0"/>
              <a:buChar char="•"/>
              <a:defRPr sz="2600">
                <a:solidFill>
                  <a:srgbClr val="000000"/>
                </a:solidFill>
                <a:latin typeface="+mn-lt"/>
                <a:ea typeface="Verdana" panose="020B0604030504040204" pitchFamily="34" charset="0"/>
                <a:cs typeface="Verdana" panose="020B0604030504040204" pitchFamily="34" charset="0"/>
              </a:defRPr>
            </a:lvl1pPr>
            <a:lvl2pPr marL="574675" indent="-233363">
              <a:buFont typeface="Arial" pitchFamily="34" charset="0"/>
              <a:buChar char="•"/>
              <a:defRPr sz="2400">
                <a:solidFill>
                  <a:srgbClr val="000000"/>
                </a:solidFill>
                <a:latin typeface="+mn-lt"/>
                <a:ea typeface="Verdana" panose="020B0604030504040204" pitchFamily="34" charset="0"/>
                <a:cs typeface="Verdana" panose="020B0604030504040204" pitchFamily="34" charset="0"/>
              </a:defRPr>
            </a:lvl2pPr>
            <a:lvl3pPr marL="914400" indent="-230188">
              <a:buFont typeface="Arial" pitchFamily="34" charset="0"/>
              <a:buChar char="•"/>
              <a:defRPr sz="2200">
                <a:solidFill>
                  <a:srgbClr val="000000"/>
                </a:solidFill>
                <a:latin typeface="+mn-lt"/>
                <a:ea typeface="Verdana" panose="020B0604030504040204" pitchFamily="34" charset="0"/>
                <a:cs typeface="Verdana" panose="020B0604030504040204" pitchFamily="34" charset="0"/>
              </a:defRPr>
            </a:lvl3pPr>
            <a:lvl4pPr marL="1199739" indent="-171450">
              <a:buFont typeface="Arial" pitchFamily="34" charset="0"/>
              <a:buChar char="•"/>
              <a:defRPr sz="1600">
                <a:solidFill>
                  <a:srgbClr val="000000"/>
                </a:solidFill>
              </a:defRPr>
            </a:lvl4pPr>
            <a:lvl5pPr marL="1542501" indent="-171450">
              <a:buFont typeface="Arial" pitchFamily="34" charset="0"/>
              <a:buChar char="•"/>
              <a:defRPr sz="1400">
                <a:solidFill>
                  <a:srgbClr val="000000"/>
                </a:solidFill>
              </a:defRPr>
            </a:lvl5pPr>
          </a:lstStyle>
          <a:p>
            <a:pPr lvl="0"/>
            <a:r>
              <a:rPr lang="en-US" dirty="0"/>
              <a:t>Edit Master text styles</a:t>
            </a:r>
          </a:p>
          <a:p>
            <a:pPr lvl="1"/>
            <a:r>
              <a:rPr lang="en-US" dirty="0"/>
              <a:t>Second level</a:t>
            </a:r>
          </a:p>
          <a:p>
            <a:pPr lvl="2"/>
            <a:r>
              <a:rPr lang="en-US" dirty="0"/>
              <a:t>Third level</a:t>
            </a:r>
          </a:p>
        </p:txBody>
      </p:sp>
      <p:sp>
        <p:nvSpPr>
          <p:cNvPr id="10" name="Title 5"/>
          <p:cNvSpPr>
            <a:spLocks noGrp="1"/>
          </p:cNvSpPr>
          <p:nvPr>
            <p:ph type="title"/>
          </p:nvPr>
        </p:nvSpPr>
        <p:spPr>
          <a:xfrm>
            <a:off x="147645" y="345510"/>
            <a:ext cx="8970260" cy="533400"/>
          </a:xfrm>
          <a:noFill/>
        </p:spPr>
        <p:txBody>
          <a:bodyPr/>
          <a:lstStyle>
            <a:lvl1pPr>
              <a:defRPr sz="2600" b="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2512939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cea58d07d7_0_0"/>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64A4"/>
              </a:buClr>
              <a:buSzPts val="1400"/>
              <a:buFont typeface="Economica"/>
              <a:buNone/>
              <a:defRPr sz="4200" b="0" i="0" u="none" strike="noStrike" cap="none">
                <a:solidFill>
                  <a:srgbClr val="0064A4"/>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14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gcea58d07d7_0_0"/>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400"/>
              <a:buFont typeface="Open Sans"/>
              <a:buNone/>
              <a:defRPr sz="1800" b="0" i="0" u="none" strike="noStrike" cap="none">
                <a:solidFill>
                  <a:schemeClr val="dk1"/>
                </a:solidFill>
                <a:latin typeface="Open Sans"/>
                <a:ea typeface="Open Sans"/>
                <a:cs typeface="Open Sans"/>
                <a:sym typeface="Open Sans"/>
              </a:defRPr>
            </a:lvl1pPr>
            <a:lvl2pPr marL="914400" marR="0" lvl="1"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228600" algn="l"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228600" algn="l"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gcea58d07d7_0_0"/>
          <p:cNvSpPr txBox="1">
            <a:spLocks noGrp="1"/>
          </p:cNvSpPr>
          <p:nvPr>
            <p:ph type="sldNum" idx="12"/>
          </p:nvPr>
        </p:nvSpPr>
        <p:spPr>
          <a:xfrm>
            <a:off x="8472457" y="6217621"/>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chemeClr val="dk1"/>
              </a:buClr>
              <a:buSzPts val="1000"/>
              <a:buFont typeface="Economica"/>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towardsdatascience.com/linear-regression-made-easy-how-does-it-work-and-how-to-use-it-in-python-be0799d2f159"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2241900" y="1925667"/>
            <a:ext cx="4660200" cy="2049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4400"/>
              <a:buFont typeface="Calibri"/>
              <a:buNone/>
            </a:pPr>
            <a:r>
              <a:rPr lang="en-US" sz="4400"/>
              <a:t>Introduction to Predictive Analytics</a:t>
            </a:r>
            <a:endParaRPr/>
          </a:p>
        </p:txBody>
      </p:sp>
      <p:sp>
        <p:nvSpPr>
          <p:cNvPr id="59" name="Google Shape;59;p1"/>
          <p:cNvSpPr txBox="1"/>
          <p:nvPr/>
        </p:nvSpPr>
        <p:spPr>
          <a:xfrm>
            <a:off x="2241900" y="3975275"/>
            <a:ext cx="4660200" cy="1116300"/>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ctr" rtl="0">
              <a:lnSpc>
                <a:spcPct val="90000"/>
              </a:lnSpc>
              <a:spcBef>
                <a:spcPts val="0"/>
              </a:spcBef>
              <a:spcAft>
                <a:spcPts val="0"/>
              </a:spcAft>
              <a:buClr>
                <a:srgbClr val="000000"/>
              </a:buClr>
              <a:buSzPct val="100000"/>
              <a:buFont typeface="Arial"/>
              <a:buNone/>
            </a:pPr>
            <a:endParaRPr sz="2100" b="0" i="0" u="none" strike="noStrike" cap="none">
              <a:solidFill>
                <a:srgbClr val="000000"/>
              </a:solidFill>
              <a:latin typeface="Economica"/>
              <a:ea typeface="Economica"/>
              <a:cs typeface="Economica"/>
              <a:sym typeface="Economica"/>
            </a:endParaRPr>
          </a:p>
          <a:p>
            <a:pPr marL="0" lvl="0" indent="0" algn="ctr" rtl="0">
              <a:lnSpc>
                <a:spcPct val="90000"/>
              </a:lnSpc>
              <a:spcBef>
                <a:spcPts val="1000"/>
              </a:spcBef>
              <a:spcAft>
                <a:spcPts val="0"/>
              </a:spcAft>
              <a:buClr>
                <a:srgbClr val="FF6600"/>
              </a:buClr>
              <a:buSzPct val="90909"/>
              <a:buFont typeface="Arial"/>
              <a:buNone/>
            </a:pPr>
            <a:r>
              <a:rPr lang="en-US" sz="4400">
                <a:solidFill>
                  <a:schemeClr val="dk1"/>
                </a:solidFill>
                <a:latin typeface="Economica"/>
                <a:ea typeface="Economica"/>
                <a:cs typeface="Economica"/>
                <a:sym typeface="Economica"/>
              </a:rPr>
              <a:t>Introduction to Analyzing Data for Business Goals</a:t>
            </a:r>
            <a:endParaRPr sz="1200" b="0" i="0" u="none" strike="noStrike" cap="none">
              <a:solidFill>
                <a:srgbClr val="000000"/>
              </a:solidFill>
              <a:latin typeface="Economica"/>
              <a:ea typeface="Economica"/>
              <a:cs typeface="Economica"/>
              <a:sym typeface="Economic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title"/>
          </p:nvPr>
        </p:nvSpPr>
        <p:spPr>
          <a:xfrm>
            <a:off x="453000" y="171975"/>
            <a:ext cx="82758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Learning Goals</a:t>
            </a:r>
            <a:endParaRPr b="0"/>
          </a:p>
        </p:txBody>
      </p:sp>
      <p:sp>
        <p:nvSpPr>
          <p:cNvPr id="65" name="Google Shape;65;p2"/>
          <p:cNvSpPr txBox="1">
            <a:spLocks noGrp="1"/>
          </p:cNvSpPr>
          <p:nvPr>
            <p:ph type="body" idx="1"/>
          </p:nvPr>
        </p:nvSpPr>
        <p:spPr>
          <a:xfrm>
            <a:off x="453006" y="1157680"/>
            <a:ext cx="8493852" cy="5289069"/>
          </a:xfrm>
          <a:prstGeom prst="rect">
            <a:avLst/>
          </a:prstGeom>
          <a:noFill/>
          <a:ln>
            <a:noFill/>
          </a:ln>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a:t>Evaluate a scenario and discuss the optimal predictive modeling technique(s) to achieve business goals. </a:t>
            </a:r>
            <a:endParaRPr sz="2000"/>
          </a:p>
          <a:p>
            <a:pPr marL="457200" lvl="0" indent="-355600" algn="l" rtl="0">
              <a:lnSpc>
                <a:spcPct val="100000"/>
              </a:lnSpc>
              <a:spcBef>
                <a:spcPts val="0"/>
              </a:spcBef>
              <a:spcAft>
                <a:spcPts val="0"/>
              </a:spcAft>
              <a:buSzPts val="2000"/>
              <a:buChar char="●"/>
            </a:pPr>
            <a:r>
              <a:rPr lang="en-US" sz="2000"/>
              <a:t>Investigate considerations for how predictive analytics will help you solve the business problem for your final project.</a:t>
            </a:r>
            <a:endParaRPr sz="2000"/>
          </a:p>
          <a:p>
            <a:pPr marL="457200" lvl="0" indent="-355600" algn="l" rtl="0">
              <a:lnSpc>
                <a:spcPct val="100000"/>
              </a:lnSpc>
              <a:spcBef>
                <a:spcPts val="0"/>
              </a:spcBef>
              <a:spcAft>
                <a:spcPts val="0"/>
              </a:spcAft>
              <a:buSzPts val="2000"/>
              <a:buChar char="●"/>
            </a:pPr>
            <a:r>
              <a:rPr lang="en-US" sz="2000"/>
              <a:t>Define predictive analytics and the techniques of predictive analytics.</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10bb4b8342d_0_0"/>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0"/>
              <a:t>Predictive Analytics</a:t>
            </a:r>
            <a:endParaRPr b="0"/>
          </a:p>
        </p:txBody>
      </p:sp>
      <p:sp>
        <p:nvSpPr>
          <p:cNvPr id="72" name="Google Shape;72;g10bb4b8342d_0_0"/>
          <p:cNvSpPr txBox="1">
            <a:spLocks noGrp="1"/>
          </p:cNvSpPr>
          <p:nvPr>
            <p:ph type="body" idx="1"/>
          </p:nvPr>
        </p:nvSpPr>
        <p:spPr>
          <a:xfrm>
            <a:off x="154067" y="1386281"/>
            <a:ext cx="8690994" cy="2042719"/>
          </a:xfrm>
          <a:prstGeom prst="rect">
            <a:avLst/>
          </a:prstGeom>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dirty="0"/>
              <a:t>What is predictive analytics?</a:t>
            </a:r>
          </a:p>
          <a:p>
            <a:pPr marL="457200" lvl="0" indent="-355600" algn="l" rtl="0">
              <a:lnSpc>
                <a:spcPct val="100000"/>
              </a:lnSpc>
              <a:spcBef>
                <a:spcPts val="0"/>
              </a:spcBef>
              <a:spcAft>
                <a:spcPts val="0"/>
              </a:spcAft>
              <a:buSzPts val="2000"/>
              <a:buChar char="●"/>
            </a:pPr>
            <a:r>
              <a:rPr lang="en-US" sz="2000" dirty="0"/>
              <a:t>Your model’s “goodness” is measure by how it scores on new data</a:t>
            </a:r>
          </a:p>
          <a:p>
            <a:pPr marL="457200" lvl="0" indent="-355600" algn="l" rtl="0">
              <a:lnSpc>
                <a:spcPct val="100000"/>
              </a:lnSpc>
              <a:spcBef>
                <a:spcPts val="0"/>
              </a:spcBef>
              <a:spcAft>
                <a:spcPts val="0"/>
              </a:spcAft>
              <a:buSzPts val="2000"/>
              <a:buChar char="●"/>
            </a:pPr>
            <a:r>
              <a:rPr lang="en-US" sz="2000" dirty="0"/>
              <a:t>Ex. Student practice exams VS final exam</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599B754-80F2-4156-81AD-DBB7476AF29F}"/>
              </a:ext>
            </a:extLst>
          </p:cNvPr>
          <p:cNvGraphicFramePr>
            <a:graphicFrameLocks noGrp="1"/>
          </p:cNvGraphicFramePr>
          <p:nvPr>
            <p:ph idx="1"/>
            <p:extLst>
              <p:ext uri="{D42A27DB-BD31-4B8C-83A1-F6EECF244321}">
                <p14:modId xmlns:p14="http://schemas.microsoft.com/office/powerpoint/2010/main" val="3888198600"/>
              </p:ext>
            </p:extLst>
          </p:nvPr>
        </p:nvGraphicFramePr>
        <p:xfrm>
          <a:off x="512579" y="1071450"/>
          <a:ext cx="8139051" cy="5147437"/>
        </p:xfrm>
        <a:graphic>
          <a:graphicData uri="http://schemas.openxmlformats.org/drawingml/2006/table">
            <a:tbl>
              <a:tblPr/>
              <a:tblGrid>
                <a:gridCol w="1133440">
                  <a:extLst>
                    <a:ext uri="{9D8B030D-6E8A-4147-A177-3AD203B41FA5}">
                      <a16:colId xmlns:a16="http://schemas.microsoft.com/office/drawing/2014/main" val="974424272"/>
                    </a:ext>
                  </a:extLst>
                </a:gridCol>
                <a:gridCol w="1765396">
                  <a:extLst>
                    <a:ext uri="{9D8B030D-6E8A-4147-A177-3AD203B41FA5}">
                      <a16:colId xmlns:a16="http://schemas.microsoft.com/office/drawing/2014/main" val="1199037852"/>
                    </a:ext>
                  </a:extLst>
                </a:gridCol>
                <a:gridCol w="1399549">
                  <a:extLst>
                    <a:ext uri="{9D8B030D-6E8A-4147-A177-3AD203B41FA5}">
                      <a16:colId xmlns:a16="http://schemas.microsoft.com/office/drawing/2014/main" val="3266308353"/>
                    </a:ext>
                  </a:extLst>
                </a:gridCol>
                <a:gridCol w="2082205">
                  <a:extLst>
                    <a:ext uri="{9D8B030D-6E8A-4147-A177-3AD203B41FA5}">
                      <a16:colId xmlns:a16="http://schemas.microsoft.com/office/drawing/2014/main" val="3261634033"/>
                    </a:ext>
                  </a:extLst>
                </a:gridCol>
                <a:gridCol w="1758461">
                  <a:extLst>
                    <a:ext uri="{9D8B030D-6E8A-4147-A177-3AD203B41FA5}">
                      <a16:colId xmlns:a16="http://schemas.microsoft.com/office/drawing/2014/main" val="838393642"/>
                    </a:ext>
                  </a:extLst>
                </a:gridCol>
              </a:tblGrid>
              <a:tr h="412991">
                <a:tc>
                  <a:txBody>
                    <a:bodyPr/>
                    <a:lstStyle/>
                    <a:p>
                      <a:pPr marL="0" marR="0" algn="ctr">
                        <a:lnSpc>
                          <a:spcPct val="112000"/>
                        </a:lnSpc>
                        <a:spcBef>
                          <a:spcPts val="0"/>
                        </a:spcBef>
                        <a:spcAft>
                          <a:spcPts val="0"/>
                        </a:spcAft>
                      </a:pPr>
                      <a:r>
                        <a:rPr lang="en-US" sz="1000" b="1" dirty="0">
                          <a:solidFill>
                            <a:schemeClr val="bg1"/>
                          </a:solidFill>
                          <a:effectLst/>
                        </a:rPr>
                        <a:t>Field</a:t>
                      </a:r>
                      <a:endParaRPr lang="en-US" sz="1100" b="1" dirty="0">
                        <a:solidFill>
                          <a:schemeClr val="bg1"/>
                        </a:solidFill>
                        <a:effectLst/>
                      </a:endParaRPr>
                    </a:p>
                    <a:p>
                      <a:pPr marL="0" marR="0" algn="ctr">
                        <a:lnSpc>
                          <a:spcPct val="112000"/>
                        </a:lnSpc>
                        <a:spcBef>
                          <a:spcPts val="0"/>
                        </a:spcBef>
                        <a:spcAft>
                          <a:spcPts val="0"/>
                        </a:spcAft>
                      </a:pPr>
                      <a:r>
                        <a:rPr lang="en-US" sz="1000" b="1" dirty="0">
                          <a:solidFill>
                            <a:schemeClr val="bg1"/>
                          </a:solidFill>
                          <a:effectLst/>
                        </a:rPr>
                        <a:t> </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nchor="b">
                    <a:solidFill>
                      <a:srgbClr val="0070C0"/>
                    </a:solidFill>
                  </a:tcPr>
                </a:tc>
                <a:tc>
                  <a:txBody>
                    <a:bodyPr/>
                    <a:lstStyle/>
                    <a:p>
                      <a:pPr marL="0" marR="0" lvl="1" algn="ctr">
                        <a:lnSpc>
                          <a:spcPct val="112000"/>
                        </a:lnSpc>
                        <a:spcBef>
                          <a:spcPts val="0"/>
                        </a:spcBef>
                        <a:spcAft>
                          <a:spcPts val="0"/>
                        </a:spcAft>
                      </a:pPr>
                      <a:r>
                        <a:rPr lang="en-US" sz="1000" b="1" dirty="0">
                          <a:solidFill>
                            <a:schemeClr val="bg1"/>
                          </a:solidFill>
                          <a:effectLst/>
                        </a:rPr>
                        <a:t>Descriptive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Diagnostic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Predictive Analytics</a:t>
                      </a:r>
                      <a:endParaRPr lang="en-US" sz="1100" b="1" dirty="0">
                        <a:solidFill>
                          <a:schemeClr val="bg1"/>
                        </a:solidFill>
                        <a:effectLst/>
                      </a:endParaRPr>
                    </a:p>
                    <a:p>
                      <a:pPr marL="0" marR="0" algn="ctr">
                        <a:lnSpc>
                          <a:spcPct val="112000"/>
                        </a:lnSpc>
                        <a:spcBef>
                          <a:spcPts val="0"/>
                        </a:spcBef>
                        <a:spcAft>
                          <a:spcPts val="0"/>
                        </a:spcAft>
                      </a:pPr>
                      <a:r>
                        <a:rPr lang="en-US" sz="1000" b="1" dirty="0">
                          <a:solidFill>
                            <a:schemeClr val="bg1"/>
                          </a:solidFill>
                          <a:effectLst/>
                        </a:rPr>
                        <a:t> </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gn="ctr">
                        <a:lnSpc>
                          <a:spcPct val="112000"/>
                        </a:lnSpc>
                        <a:spcBef>
                          <a:spcPts val="0"/>
                        </a:spcBef>
                        <a:spcAft>
                          <a:spcPts val="0"/>
                        </a:spcAft>
                      </a:pPr>
                      <a:r>
                        <a:rPr lang="en-US" sz="1000" b="1" dirty="0">
                          <a:solidFill>
                            <a:schemeClr val="bg1"/>
                          </a:solidFill>
                          <a:effectLst/>
                        </a:rPr>
                        <a:t>Prescriptive Analytics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extLst>
                  <a:ext uri="{0D108BD9-81ED-4DB2-BD59-A6C34878D82A}">
                    <a16:rowId xmlns:a16="http://schemas.microsoft.com/office/drawing/2014/main" val="1372394327"/>
                  </a:ext>
                </a:extLst>
              </a:tr>
              <a:tr h="599336">
                <a:tc>
                  <a:txBody>
                    <a:bodyPr/>
                    <a:lstStyle/>
                    <a:p>
                      <a:pPr marL="0" marR="0">
                        <a:lnSpc>
                          <a:spcPct val="112000"/>
                        </a:lnSpc>
                        <a:spcBef>
                          <a:spcPts val="0"/>
                        </a:spcBef>
                        <a:spcAft>
                          <a:spcPts val="0"/>
                        </a:spcAft>
                      </a:pPr>
                      <a:r>
                        <a:rPr lang="en-US" sz="1000" b="1" dirty="0">
                          <a:solidFill>
                            <a:schemeClr val="bg1"/>
                          </a:solidFill>
                          <a:effectLst/>
                        </a:rPr>
                        <a:t>Healthcare</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dirty="0">
                          <a:effectLst/>
                        </a:rPr>
                        <a:t>How many patients went to the hospital/clinic last week?</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did these patients go to the hospital?</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Which patient is likely to need hospitalization?</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dirty="0">
                          <a:effectLst/>
                        </a:rPr>
                        <a:t>Extra home treatment to prevent visits</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1661842805"/>
                  </a:ext>
                </a:extLst>
              </a:tr>
              <a:tr h="781250">
                <a:tc>
                  <a:txBody>
                    <a:bodyPr/>
                    <a:lstStyle/>
                    <a:p>
                      <a:pPr marL="0" marR="0">
                        <a:lnSpc>
                          <a:spcPct val="112000"/>
                        </a:lnSpc>
                        <a:spcBef>
                          <a:spcPts val="0"/>
                        </a:spcBef>
                        <a:spcAft>
                          <a:spcPts val="0"/>
                        </a:spcAft>
                      </a:pPr>
                      <a:r>
                        <a:rPr lang="en-US" sz="1000" b="1">
                          <a:solidFill>
                            <a:schemeClr val="bg1"/>
                          </a:solidFill>
                          <a:effectLst/>
                        </a:rPr>
                        <a:t>Life science</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What are the total medicines available by pharmaceuticals?</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do we not have more medicines or pharmaceuticals?</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Which pharmaceutical is likely to monopolize the production of medicines?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the number of pharmaceuticals and medicines</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598338701"/>
                  </a:ext>
                </a:extLst>
              </a:tr>
              <a:tr h="781250">
                <a:tc>
                  <a:txBody>
                    <a:bodyPr/>
                    <a:lstStyle/>
                    <a:p>
                      <a:pPr marL="0" marR="0">
                        <a:lnSpc>
                          <a:spcPct val="112000"/>
                        </a:lnSpc>
                        <a:spcBef>
                          <a:spcPts val="0"/>
                        </a:spcBef>
                        <a:spcAft>
                          <a:spcPts val="0"/>
                        </a:spcAft>
                      </a:pPr>
                      <a:r>
                        <a:rPr lang="en-US" sz="1000" b="1">
                          <a:solidFill>
                            <a:schemeClr val="bg1"/>
                          </a:solidFill>
                          <a:effectLst/>
                        </a:rPr>
                        <a:t>Finance</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Where was the stock market in the last 6 months?</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was the stock market that high/low?</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What will the level be for the stock market in the next 6 months?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Reduce downside risk by diversifying a portfolio</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712719738"/>
                  </a:ext>
                </a:extLst>
              </a:tr>
              <a:tr h="597120">
                <a:tc>
                  <a:txBody>
                    <a:bodyPr/>
                    <a:lstStyle/>
                    <a:p>
                      <a:pPr marL="0" marR="0">
                        <a:lnSpc>
                          <a:spcPct val="112000"/>
                        </a:lnSpc>
                        <a:spcBef>
                          <a:spcPts val="0"/>
                        </a:spcBef>
                        <a:spcAft>
                          <a:spcPts val="0"/>
                        </a:spcAft>
                      </a:pPr>
                      <a:r>
                        <a:rPr lang="en-US" sz="1000" b="1">
                          <a:solidFill>
                            <a:schemeClr val="bg1"/>
                          </a:solidFill>
                          <a:effectLst/>
                        </a:rPr>
                        <a:t>Politics</a:t>
                      </a:r>
                      <a:endParaRPr lang="en-US" sz="1100" b="1">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Who was elected last?</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were they elected?</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Who will be elected next?</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voter education to reduce downside societal impact</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109131188"/>
                  </a:ext>
                </a:extLst>
              </a:tr>
              <a:tr h="597120">
                <a:tc>
                  <a:txBody>
                    <a:bodyPr/>
                    <a:lstStyle/>
                    <a:p>
                      <a:pPr marL="0" marR="0">
                        <a:lnSpc>
                          <a:spcPct val="112000"/>
                        </a:lnSpc>
                        <a:spcBef>
                          <a:spcPts val="0"/>
                        </a:spcBef>
                        <a:spcAft>
                          <a:spcPts val="0"/>
                        </a:spcAft>
                      </a:pPr>
                      <a:r>
                        <a:rPr lang="en-US" sz="1000" b="1" dirty="0">
                          <a:solidFill>
                            <a:schemeClr val="bg1"/>
                          </a:solidFill>
                          <a:effectLst/>
                        </a:rPr>
                        <a:t>Education</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How many students are learning online?</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they taking courses online?</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How many more courses are needed to support them?</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a:effectLst/>
                        </a:rPr>
                        <a:t>Increase the number of courses</a:t>
                      </a:r>
                      <a:endParaRPr lang="en-US" sz="110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709689657"/>
                  </a:ext>
                </a:extLst>
              </a:tr>
              <a:tr h="597120">
                <a:tc>
                  <a:txBody>
                    <a:bodyPr/>
                    <a:lstStyle/>
                    <a:p>
                      <a:pPr marL="0" marR="0">
                        <a:lnSpc>
                          <a:spcPct val="112000"/>
                        </a:lnSpc>
                        <a:spcBef>
                          <a:spcPts val="0"/>
                        </a:spcBef>
                        <a:spcAft>
                          <a:spcPts val="0"/>
                        </a:spcAft>
                      </a:pPr>
                      <a:r>
                        <a:rPr lang="en-US" sz="1000" b="1" dirty="0">
                          <a:solidFill>
                            <a:schemeClr val="bg1"/>
                          </a:solidFill>
                          <a:effectLst/>
                        </a:rPr>
                        <a:t>Non-profit</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How are non-profits independent?</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they effective?</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How many more non-profits can be created?</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dirty="0">
                          <a:effectLst/>
                        </a:rPr>
                        <a:t>Decrease barriers to creating non-profits</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488684510"/>
                  </a:ext>
                </a:extLst>
              </a:tr>
              <a:tr h="781250">
                <a:tc>
                  <a:txBody>
                    <a:bodyPr/>
                    <a:lstStyle/>
                    <a:p>
                      <a:pPr marL="0" marR="0">
                        <a:lnSpc>
                          <a:spcPct val="112000"/>
                        </a:lnSpc>
                        <a:spcBef>
                          <a:spcPts val="0"/>
                        </a:spcBef>
                        <a:spcAft>
                          <a:spcPts val="0"/>
                        </a:spcAft>
                      </a:pPr>
                      <a:r>
                        <a:rPr lang="en-US" sz="1000" b="1" dirty="0">
                          <a:solidFill>
                            <a:schemeClr val="bg1"/>
                          </a:solidFill>
                          <a:effectLst/>
                        </a:rPr>
                        <a:t>Human rights</a:t>
                      </a:r>
                      <a:endParaRPr lang="en-US" sz="1100" b="1" dirty="0">
                        <a:solidFill>
                          <a:schemeClr val="bg1"/>
                        </a:solidFill>
                        <a:effectLst/>
                        <a:latin typeface="Open Sans" panose="020B0606030504020204" pitchFamily="34" charset="0"/>
                        <a:ea typeface="Open Sans" panose="020B0606030504020204" pitchFamily="34" charset="0"/>
                      </a:endParaRPr>
                    </a:p>
                  </a:txBody>
                  <a:tcPr marL="25400" marR="25400" marT="25400" marB="25400">
                    <a:solidFill>
                      <a:srgbClr val="0070C0"/>
                    </a:solidFill>
                  </a:tcPr>
                </a:tc>
                <a:tc>
                  <a:txBody>
                    <a:bodyPr/>
                    <a:lstStyle/>
                    <a:p>
                      <a:pPr marL="0" marR="0">
                        <a:lnSpc>
                          <a:spcPct val="112000"/>
                        </a:lnSpc>
                        <a:spcBef>
                          <a:spcPts val="0"/>
                        </a:spcBef>
                        <a:spcAft>
                          <a:spcPts val="0"/>
                        </a:spcAft>
                      </a:pPr>
                      <a:r>
                        <a:rPr lang="en-US" sz="1000">
                          <a:effectLst/>
                        </a:rPr>
                        <a:t>What is the number of refugees in the world?</a:t>
                      </a:r>
                      <a:endParaRPr lang="en-US" sz="110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0" dirty="0">
                          <a:solidFill>
                            <a:schemeClr val="tx1"/>
                          </a:solidFill>
                          <a:effectLst/>
                        </a:rPr>
                        <a:t>Why</a:t>
                      </a:r>
                      <a:r>
                        <a:rPr lang="en-US" sz="1000" dirty="0">
                          <a:effectLst/>
                        </a:rPr>
                        <a:t> are there so many refugees?</a:t>
                      </a:r>
                      <a:endParaRPr lang="en-US" sz="1100" dirty="0">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0"/>
                        </a:spcAft>
                      </a:pPr>
                      <a:r>
                        <a:rPr lang="en-US" sz="1000" b="1" dirty="0">
                          <a:solidFill>
                            <a:srgbClr val="FF0000"/>
                          </a:solidFill>
                          <a:effectLst/>
                        </a:rPr>
                        <a:t>What are the likely future sources of refugees?</a:t>
                      </a:r>
                      <a:endParaRPr lang="en-US" sz="1100" b="1" dirty="0">
                        <a:solidFill>
                          <a:srgbClr val="FF0000"/>
                        </a:solidFill>
                        <a:effectLst/>
                        <a:latin typeface="Open Sans" panose="020B0606030504020204" pitchFamily="34" charset="0"/>
                        <a:ea typeface="Open Sans" panose="020B0606030504020204" pitchFamily="34" charset="0"/>
                      </a:endParaRPr>
                    </a:p>
                  </a:txBody>
                  <a:tcPr marL="25400" marR="25400" marT="25400" marB="25400"/>
                </a:tc>
                <a:tc>
                  <a:txBody>
                    <a:bodyPr/>
                    <a:lstStyle/>
                    <a:p>
                      <a:pPr marL="0" marR="0">
                        <a:lnSpc>
                          <a:spcPct val="112000"/>
                        </a:lnSpc>
                        <a:spcBef>
                          <a:spcPts val="0"/>
                        </a:spcBef>
                        <a:spcAft>
                          <a:spcPts val="1000"/>
                        </a:spcAft>
                      </a:pPr>
                      <a:r>
                        <a:rPr lang="en-US" sz="1000" dirty="0">
                          <a:effectLst/>
                        </a:rPr>
                        <a:t>Reduce colonialism, imperialism, 'isms and let people live</a:t>
                      </a:r>
                      <a:endParaRPr lang="en-US" sz="1100" dirty="0">
                        <a:effectLst/>
                        <a:latin typeface="Open Sans" panose="020B0606030504020204" pitchFamily="34" charset="0"/>
                        <a:ea typeface="Open Sans" panose="020B0606030504020204" pitchFamily="34" charset="0"/>
                      </a:endParaRPr>
                    </a:p>
                  </a:txBody>
                  <a:tcPr marL="25400" marR="25400" marT="25400" marB="25400"/>
                </a:tc>
                <a:extLst>
                  <a:ext uri="{0D108BD9-81ED-4DB2-BD59-A6C34878D82A}">
                    <a16:rowId xmlns:a16="http://schemas.microsoft.com/office/drawing/2014/main" val="204887653"/>
                  </a:ext>
                </a:extLst>
              </a:tr>
            </a:tbl>
          </a:graphicData>
        </a:graphic>
      </p:graphicFrame>
      <p:sp>
        <p:nvSpPr>
          <p:cNvPr id="3" name="Title 2">
            <a:extLst>
              <a:ext uri="{FF2B5EF4-FFF2-40B4-BE49-F238E27FC236}">
                <a16:creationId xmlns:a16="http://schemas.microsoft.com/office/drawing/2014/main" id="{DCB2BB6C-66CB-4D40-AE3E-26F0ACA5FB6A}"/>
              </a:ext>
            </a:extLst>
          </p:cNvPr>
          <p:cNvSpPr>
            <a:spLocks noGrp="1"/>
          </p:cNvSpPr>
          <p:nvPr>
            <p:ph type="title"/>
          </p:nvPr>
        </p:nvSpPr>
        <p:spPr/>
        <p:txBody>
          <a:bodyPr/>
          <a:lstStyle/>
          <a:p>
            <a:r>
              <a:rPr lang="en-US" dirty="0"/>
              <a:t>Example Questions Across Industry</a:t>
            </a:r>
          </a:p>
        </p:txBody>
      </p:sp>
    </p:spTree>
    <p:extLst>
      <p:ext uri="{BB962C8B-B14F-4D97-AF65-F5344CB8AC3E}">
        <p14:creationId xmlns:p14="http://schemas.microsoft.com/office/powerpoint/2010/main" val="2225157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EFBF-00F0-4DDD-BABA-8C165CA65663}"/>
              </a:ext>
            </a:extLst>
          </p:cNvPr>
          <p:cNvSpPr>
            <a:spLocks noGrp="1"/>
          </p:cNvSpPr>
          <p:nvPr>
            <p:ph type="title"/>
          </p:nvPr>
        </p:nvSpPr>
        <p:spPr/>
        <p:txBody>
          <a:bodyPr/>
          <a:lstStyle/>
          <a:p>
            <a:r>
              <a:rPr lang="en-US" dirty="0"/>
              <a:t>Business Questions to Answer </a:t>
            </a:r>
          </a:p>
        </p:txBody>
      </p:sp>
      <p:sp>
        <p:nvSpPr>
          <p:cNvPr id="3" name="Text Placeholder 2">
            <a:extLst>
              <a:ext uri="{FF2B5EF4-FFF2-40B4-BE49-F238E27FC236}">
                <a16:creationId xmlns:a16="http://schemas.microsoft.com/office/drawing/2014/main" id="{DA6DA93F-C1E2-40D5-9EAB-3D548473ECE1}"/>
              </a:ext>
            </a:extLst>
          </p:cNvPr>
          <p:cNvSpPr>
            <a:spLocks noGrp="1"/>
          </p:cNvSpPr>
          <p:nvPr>
            <p:ph type="body" idx="1"/>
          </p:nvPr>
        </p:nvSpPr>
        <p:spPr>
          <a:xfrm>
            <a:off x="453007" y="1276780"/>
            <a:ext cx="8493900" cy="5409245"/>
          </a:xfrm>
        </p:spPr>
        <p:txBody>
          <a:bodyPr/>
          <a:lstStyle/>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How will sales change over the next year? </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What trends in fashion and style will be popular next spring? </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How likely is this customer to pay back their loan?</a:t>
            </a:r>
            <a:endParaRPr lang="en-US" dirty="0">
              <a:latin typeface="Open Sans" panose="020B0606030504020204" pitchFamily="34" charset="0"/>
              <a:ea typeface="Open Sans" panose="020B0606030504020204" pitchFamily="34" charset="0"/>
            </a:endParaRP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Should I insure this new driver?</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Should I extend a loan to a young couple with no credit history?</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sz="1800" dirty="0">
                <a:effectLst/>
                <a:latin typeface="Open Sans" panose="020B0606030504020204" pitchFamily="34" charset="0"/>
                <a:ea typeface="Open Sans" panose="020B0606030504020204" pitchFamily="34" charset="0"/>
              </a:rPr>
              <a:t>…</a:t>
            </a:r>
          </a:p>
          <a:p>
            <a:pPr marL="514350" indent="-285750">
              <a:buFont typeface="Wingdings" panose="05000000000000000000" pitchFamily="2" charset="2"/>
              <a:buChar char="q"/>
            </a:pPr>
            <a:r>
              <a:rPr lang="en-US" dirty="0">
                <a:latin typeface="Open Sans" panose="020B0606030504020204" pitchFamily="34" charset="0"/>
                <a:ea typeface="Open Sans" panose="020B0606030504020204" pitchFamily="34" charset="0"/>
              </a:rPr>
              <a:t>…</a:t>
            </a:r>
          </a:p>
          <a:p>
            <a:pPr marL="228600" indent="0"/>
            <a:endParaRPr lang="en-US" sz="1800" dirty="0">
              <a:effectLst/>
              <a:latin typeface="Open Sans" panose="020B0606030504020204" pitchFamily="34" charset="0"/>
              <a:ea typeface="Open Sans" panose="020B0606030504020204" pitchFamily="34" charset="0"/>
            </a:endParaRPr>
          </a:p>
          <a:p>
            <a:endParaRPr lang="en-US" dirty="0"/>
          </a:p>
        </p:txBody>
      </p:sp>
    </p:spTree>
    <p:extLst>
      <p:ext uri="{BB962C8B-B14F-4D97-AF65-F5344CB8AC3E}">
        <p14:creationId xmlns:p14="http://schemas.microsoft.com/office/powerpoint/2010/main" val="42333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10bb4b8342d_0_6"/>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dirty="0"/>
              <a:t>Predictive Analytics - Techniques &amp; Methodologies</a:t>
            </a:r>
            <a:endParaRPr b="0" dirty="0"/>
          </a:p>
        </p:txBody>
      </p:sp>
      <p:graphicFrame>
        <p:nvGraphicFramePr>
          <p:cNvPr id="2" name="Diagram 1">
            <a:extLst>
              <a:ext uri="{FF2B5EF4-FFF2-40B4-BE49-F238E27FC236}">
                <a16:creationId xmlns:a16="http://schemas.microsoft.com/office/drawing/2014/main" id="{11F41416-8F04-43E1-B83A-12D46797DDEF}"/>
              </a:ext>
            </a:extLst>
          </p:cNvPr>
          <p:cNvGraphicFramePr/>
          <p:nvPr>
            <p:extLst>
              <p:ext uri="{D42A27DB-BD31-4B8C-83A1-F6EECF244321}">
                <p14:modId xmlns:p14="http://schemas.microsoft.com/office/powerpoint/2010/main" val="426445489"/>
              </p:ext>
            </p:extLst>
          </p:nvPr>
        </p:nvGraphicFramePr>
        <p:xfrm>
          <a:off x="453005" y="1157681"/>
          <a:ext cx="8022779" cy="4100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0bb4b8342d_0_18"/>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a:t>Predictive Analytics - Techniques &amp; Methodologies</a:t>
            </a:r>
            <a:endParaRPr b="0"/>
          </a:p>
        </p:txBody>
      </p:sp>
      <p:sp>
        <p:nvSpPr>
          <p:cNvPr id="93" name="Google Shape;93;g10bb4b8342d_0_18"/>
          <p:cNvSpPr txBox="1">
            <a:spLocks noGrp="1"/>
          </p:cNvSpPr>
          <p:nvPr>
            <p:ph type="body" idx="1"/>
          </p:nvPr>
        </p:nvSpPr>
        <p:spPr>
          <a:xfrm>
            <a:off x="453006" y="1157681"/>
            <a:ext cx="8493900" cy="5234700"/>
          </a:xfrm>
          <a:prstGeom prst="rect">
            <a:avLst/>
          </a:prstGeom>
        </p:spPr>
        <p:txBody>
          <a:bodyPr spcFirstLastPara="1" wrap="square" lIns="91425" tIns="45700" rIns="91425" bIns="45700" anchor="t" anchorCtr="0">
            <a:normAutofit/>
          </a:bodyPr>
          <a:lstStyle/>
          <a:p>
            <a:pPr indent="-355600">
              <a:lnSpc>
                <a:spcPct val="100000"/>
              </a:lnSpc>
              <a:spcBef>
                <a:spcPts val="0"/>
              </a:spcBef>
              <a:buSzPts val="2000"/>
              <a:buFont typeface="Open Sans"/>
              <a:buChar char="●"/>
            </a:pPr>
            <a:r>
              <a:rPr lang="en-US" sz="2000" dirty="0"/>
              <a:t>Types of Supervised Learning:  </a:t>
            </a:r>
            <a:r>
              <a:rPr lang="en-US" sz="1800" dirty="0"/>
              <a:t>Classification &amp; Regression</a:t>
            </a:r>
            <a:endParaRPr lang="en-US" dirty="0"/>
          </a:p>
          <a:p>
            <a:pPr marL="101600" lvl="0" indent="0" algn="l" rtl="0">
              <a:lnSpc>
                <a:spcPct val="100000"/>
              </a:lnSpc>
              <a:spcBef>
                <a:spcPts val="0"/>
              </a:spcBef>
              <a:spcAft>
                <a:spcPts val="0"/>
              </a:spcAft>
              <a:buSzPts val="2000"/>
            </a:pPr>
            <a:endParaRPr dirty="0"/>
          </a:p>
        </p:txBody>
      </p:sp>
      <p:pic>
        <p:nvPicPr>
          <p:cNvPr id="94" name="Google Shape;94;g10bb4b8342d_0_18"/>
          <p:cNvPicPr preferRelativeResize="0"/>
          <p:nvPr/>
        </p:nvPicPr>
        <p:blipFill>
          <a:blip r:embed="rId3">
            <a:alphaModFix/>
          </a:blip>
          <a:stretch>
            <a:fillRect/>
          </a:stretch>
        </p:blipFill>
        <p:spPr>
          <a:xfrm>
            <a:off x="1257300" y="1759900"/>
            <a:ext cx="6629400" cy="3600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7C1D20D-CC3D-4EA3-A2CD-4FAAB0FA7355}"/>
              </a:ext>
            </a:extLst>
          </p:cNvPr>
          <p:cNvSpPr>
            <a:spLocks noGrp="1"/>
          </p:cNvSpPr>
          <p:nvPr>
            <p:ph type="title"/>
          </p:nvPr>
        </p:nvSpPr>
        <p:spPr>
          <a:xfrm>
            <a:off x="453007" y="171974"/>
            <a:ext cx="8493900" cy="885000"/>
          </a:xfrm>
        </p:spPr>
        <p:txBody>
          <a:bodyPr>
            <a:normAutofit/>
          </a:bodyPr>
          <a:lstStyle/>
          <a:p>
            <a:r>
              <a:rPr lang="en-US" b="0" dirty="0">
                <a:ea typeface="Verdana" panose="020B0604030504040204" pitchFamily="34" charset="0"/>
              </a:rPr>
              <a:t>Regression VS Classification</a:t>
            </a:r>
          </a:p>
        </p:txBody>
      </p:sp>
      <p:sp>
        <p:nvSpPr>
          <p:cNvPr id="8" name="Text Placeholder 2">
            <a:extLst>
              <a:ext uri="{FF2B5EF4-FFF2-40B4-BE49-F238E27FC236}">
                <a16:creationId xmlns:a16="http://schemas.microsoft.com/office/drawing/2014/main" id="{6552B6CA-8080-46B2-865B-A674FB82E728}"/>
              </a:ext>
            </a:extLst>
          </p:cNvPr>
          <p:cNvSpPr>
            <a:spLocks noGrp="1"/>
          </p:cNvSpPr>
          <p:nvPr>
            <p:ph type="body" idx="1"/>
          </p:nvPr>
        </p:nvSpPr>
        <p:spPr>
          <a:xfrm>
            <a:off x="453006" y="1157681"/>
            <a:ext cx="8493900" cy="5234700"/>
          </a:xfrm>
        </p:spPr>
        <p:txBody>
          <a:bodyPr/>
          <a:lstStyle/>
          <a:p>
            <a:r>
              <a:rPr lang="en-US" b="1" dirty="0"/>
              <a:t>Regression</a:t>
            </a:r>
          </a:p>
          <a:p>
            <a:r>
              <a:rPr lang="en-US" dirty="0"/>
              <a:t>Question: </a:t>
            </a:r>
            <a:r>
              <a:rPr lang="en-US" b="1" dirty="0">
                <a:solidFill>
                  <a:srgbClr val="FF0000"/>
                </a:solidFill>
              </a:rPr>
              <a:t>What</a:t>
            </a:r>
            <a:r>
              <a:rPr lang="en-US" dirty="0"/>
              <a:t> is the </a:t>
            </a:r>
            <a:r>
              <a:rPr lang="en-US" b="1" dirty="0">
                <a:solidFill>
                  <a:srgbClr val="00B0F0"/>
                </a:solidFill>
              </a:rPr>
              <a:t>temperature</a:t>
            </a:r>
            <a:r>
              <a:rPr lang="en-US" dirty="0"/>
              <a:t> going to be tomorrow?</a:t>
            </a:r>
          </a:p>
          <a:p>
            <a:r>
              <a:rPr lang="en-US" dirty="0"/>
              <a:t>Answer:  </a:t>
            </a:r>
            <a:r>
              <a:rPr lang="en-US" b="1" dirty="0">
                <a:solidFill>
                  <a:srgbClr val="FF0000"/>
                </a:solidFill>
              </a:rPr>
              <a:t>78 Degrees</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49871FD8-6AEE-475D-8E80-E9C92082D36D}"/>
              </a:ext>
            </a:extLst>
          </p:cNvPr>
          <p:cNvPicPr>
            <a:picLocks noChangeAspect="1"/>
          </p:cNvPicPr>
          <p:nvPr/>
        </p:nvPicPr>
        <p:blipFill>
          <a:blip r:embed="rId2"/>
          <a:stretch>
            <a:fillRect/>
          </a:stretch>
        </p:blipFill>
        <p:spPr>
          <a:xfrm>
            <a:off x="3427219" y="2316277"/>
            <a:ext cx="4878152" cy="2765676"/>
          </a:xfrm>
          <a:prstGeom prst="rect">
            <a:avLst/>
          </a:prstGeom>
        </p:spPr>
      </p:pic>
    </p:spTree>
    <p:extLst>
      <p:ext uri="{BB962C8B-B14F-4D97-AF65-F5344CB8AC3E}">
        <p14:creationId xmlns:p14="http://schemas.microsoft.com/office/powerpoint/2010/main" val="2056193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7C1D20D-CC3D-4EA3-A2CD-4FAAB0FA7355}"/>
              </a:ext>
            </a:extLst>
          </p:cNvPr>
          <p:cNvSpPr>
            <a:spLocks noGrp="1"/>
          </p:cNvSpPr>
          <p:nvPr>
            <p:ph type="title"/>
          </p:nvPr>
        </p:nvSpPr>
        <p:spPr>
          <a:xfrm>
            <a:off x="453007" y="171974"/>
            <a:ext cx="8493900" cy="885000"/>
          </a:xfrm>
        </p:spPr>
        <p:txBody>
          <a:bodyPr>
            <a:normAutofit/>
          </a:bodyPr>
          <a:lstStyle/>
          <a:p>
            <a:r>
              <a:rPr lang="en-US" b="0" dirty="0">
                <a:ea typeface="Verdana" panose="020B0604030504040204" pitchFamily="34" charset="0"/>
              </a:rPr>
              <a:t>Regression VS Classification</a:t>
            </a:r>
          </a:p>
        </p:txBody>
      </p:sp>
      <p:sp>
        <p:nvSpPr>
          <p:cNvPr id="8" name="Text Placeholder 2">
            <a:extLst>
              <a:ext uri="{FF2B5EF4-FFF2-40B4-BE49-F238E27FC236}">
                <a16:creationId xmlns:a16="http://schemas.microsoft.com/office/drawing/2014/main" id="{6552B6CA-8080-46B2-865B-A674FB82E728}"/>
              </a:ext>
            </a:extLst>
          </p:cNvPr>
          <p:cNvSpPr>
            <a:spLocks noGrp="1"/>
          </p:cNvSpPr>
          <p:nvPr>
            <p:ph type="body" idx="1"/>
          </p:nvPr>
        </p:nvSpPr>
        <p:spPr>
          <a:xfrm>
            <a:off x="453006" y="1157681"/>
            <a:ext cx="8493900" cy="5234700"/>
          </a:xfrm>
        </p:spPr>
        <p:txBody>
          <a:bodyPr/>
          <a:lstStyle/>
          <a:p>
            <a:r>
              <a:rPr lang="en-US" b="1" dirty="0"/>
              <a:t>Classification</a:t>
            </a:r>
          </a:p>
          <a:p>
            <a:r>
              <a:rPr lang="en-US" dirty="0"/>
              <a:t>Question: Will it be </a:t>
            </a:r>
            <a:r>
              <a:rPr lang="en-US" b="1" dirty="0">
                <a:solidFill>
                  <a:srgbClr val="00B0F0"/>
                </a:solidFill>
              </a:rPr>
              <a:t>Cold</a:t>
            </a:r>
            <a:r>
              <a:rPr lang="en-US" dirty="0"/>
              <a:t> or </a:t>
            </a:r>
            <a:r>
              <a:rPr lang="en-US" b="1" dirty="0">
                <a:solidFill>
                  <a:srgbClr val="FF0000"/>
                </a:solidFill>
              </a:rPr>
              <a:t>Hot</a:t>
            </a:r>
            <a:r>
              <a:rPr lang="en-US" dirty="0"/>
              <a:t> Tomorrow?</a:t>
            </a:r>
          </a:p>
          <a:p>
            <a:r>
              <a:rPr lang="en-US" dirty="0"/>
              <a:t>Answer:  </a:t>
            </a:r>
            <a:r>
              <a:rPr lang="en-US" b="1" dirty="0">
                <a:solidFill>
                  <a:srgbClr val="FF0000"/>
                </a:solidFill>
              </a:rPr>
              <a:t>HOT</a:t>
            </a:r>
          </a:p>
          <a:p>
            <a:endParaRPr lang="en-US" dirty="0"/>
          </a:p>
          <a:p>
            <a:endParaRPr lang="en-US" dirty="0"/>
          </a:p>
          <a:p>
            <a:endParaRPr lang="en-US" dirty="0"/>
          </a:p>
        </p:txBody>
      </p:sp>
      <p:pic>
        <p:nvPicPr>
          <p:cNvPr id="3074" name="Picture 2" descr="low angle photo of snow field">
            <a:extLst>
              <a:ext uri="{FF2B5EF4-FFF2-40B4-BE49-F238E27FC236}">
                <a16:creationId xmlns:a16="http://schemas.microsoft.com/office/drawing/2014/main" id="{3DCF215E-76DE-4F55-9BD7-0ACDCF18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631" y="2322424"/>
            <a:ext cx="5618285" cy="3747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742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10bb4b8342d_0_25"/>
          <p:cNvSpPr txBox="1">
            <a:spLocks noGrp="1"/>
          </p:cNvSpPr>
          <p:nvPr>
            <p:ph type="title"/>
          </p:nvPr>
        </p:nvSpPr>
        <p:spPr>
          <a:xfrm>
            <a:off x="453007" y="171974"/>
            <a:ext cx="8493900" cy="8850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b="0"/>
              <a:t>Predictive Analytics - Techniques &amp; Methodologies</a:t>
            </a:r>
            <a:endParaRPr b="0"/>
          </a:p>
        </p:txBody>
      </p:sp>
      <p:sp>
        <p:nvSpPr>
          <p:cNvPr id="101" name="Google Shape;101;g10bb4b8342d_0_25"/>
          <p:cNvSpPr txBox="1">
            <a:spLocks noGrp="1"/>
          </p:cNvSpPr>
          <p:nvPr>
            <p:ph type="body" idx="1"/>
          </p:nvPr>
        </p:nvSpPr>
        <p:spPr>
          <a:xfrm>
            <a:off x="453000" y="1157676"/>
            <a:ext cx="8493900" cy="4376700"/>
          </a:xfrm>
          <a:prstGeom prst="rect">
            <a:avLst/>
          </a:prstGeom>
        </p:spPr>
        <p:txBody>
          <a:bodyPr spcFirstLastPara="1" wrap="square" lIns="91425" tIns="45700" rIns="91425" bIns="45700" anchor="t" anchorCtr="0">
            <a:normAutofit/>
          </a:bodyPr>
          <a:lstStyle/>
          <a:p>
            <a:pPr marL="457200" lvl="0" indent="-355600" algn="l" rtl="0">
              <a:lnSpc>
                <a:spcPct val="100000"/>
              </a:lnSpc>
              <a:spcBef>
                <a:spcPts val="0"/>
              </a:spcBef>
              <a:spcAft>
                <a:spcPts val="0"/>
              </a:spcAft>
              <a:buSzPts val="2000"/>
              <a:buChar char="●"/>
            </a:pPr>
            <a:r>
              <a:rPr lang="en-US" sz="2000" dirty="0"/>
              <a:t>Unsupervised Learning:  Clustering</a:t>
            </a:r>
            <a:endParaRPr sz="2000" dirty="0"/>
          </a:p>
          <a:p>
            <a:pPr marL="457200" lvl="0" indent="0" algn="l" rtl="0">
              <a:lnSpc>
                <a:spcPct val="100000"/>
              </a:lnSpc>
              <a:spcBef>
                <a:spcPts val="0"/>
              </a:spcBef>
              <a:spcAft>
                <a:spcPts val="0"/>
              </a:spcAft>
              <a:buNone/>
            </a:pPr>
            <a:endParaRPr sz="2000" dirty="0"/>
          </a:p>
        </p:txBody>
      </p:sp>
      <p:pic>
        <p:nvPicPr>
          <p:cNvPr id="102" name="Google Shape;102;g10bb4b8342d_0_25"/>
          <p:cNvPicPr preferRelativeResize="0"/>
          <p:nvPr/>
        </p:nvPicPr>
        <p:blipFill>
          <a:blip r:embed="rId3">
            <a:alphaModFix/>
          </a:blip>
          <a:stretch>
            <a:fillRect/>
          </a:stretch>
        </p:blipFill>
        <p:spPr>
          <a:xfrm>
            <a:off x="2952750" y="1752600"/>
            <a:ext cx="3238500" cy="335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F46E7E-7C3C-4153-A7EE-39FCB29902CE}"/>
              </a:ext>
            </a:extLst>
          </p:cNvPr>
          <p:cNvPicPr>
            <a:picLocks noChangeAspect="1"/>
          </p:cNvPicPr>
          <p:nvPr/>
        </p:nvPicPr>
        <p:blipFill>
          <a:blip r:embed="rId3"/>
          <a:stretch>
            <a:fillRect/>
          </a:stretch>
        </p:blipFill>
        <p:spPr>
          <a:xfrm>
            <a:off x="565080" y="78782"/>
            <a:ext cx="9411128" cy="6332618"/>
          </a:xfrm>
          <a:prstGeom prst="rect">
            <a:avLst/>
          </a:prstGeom>
        </p:spPr>
      </p:pic>
      <p:sp>
        <p:nvSpPr>
          <p:cNvPr id="2" name="Title 1">
            <a:extLst>
              <a:ext uri="{FF2B5EF4-FFF2-40B4-BE49-F238E27FC236}">
                <a16:creationId xmlns:a16="http://schemas.microsoft.com/office/drawing/2014/main" id="{4C8BBA76-A481-454B-9974-F4785B4032C6}"/>
              </a:ext>
            </a:extLst>
          </p:cNvPr>
          <p:cNvSpPr>
            <a:spLocks noGrp="1"/>
          </p:cNvSpPr>
          <p:nvPr>
            <p:ph type="title"/>
          </p:nvPr>
        </p:nvSpPr>
        <p:spPr>
          <a:xfrm>
            <a:off x="74747" y="78782"/>
            <a:ext cx="3634224" cy="885000"/>
          </a:xfrm>
        </p:spPr>
        <p:txBody>
          <a:bodyPr>
            <a:normAutofit/>
          </a:bodyPr>
          <a:lstStyle/>
          <a:p>
            <a:r>
              <a:rPr lang="en-US" sz="3800" b="0" dirty="0"/>
              <a:t>Good Reference</a:t>
            </a:r>
          </a:p>
        </p:txBody>
      </p:sp>
      <p:sp>
        <p:nvSpPr>
          <p:cNvPr id="3" name="Text Placeholder 2">
            <a:extLst>
              <a:ext uri="{FF2B5EF4-FFF2-40B4-BE49-F238E27FC236}">
                <a16:creationId xmlns:a16="http://schemas.microsoft.com/office/drawing/2014/main" id="{C0364340-D8EB-4EC6-B74D-0BC9C0A58948}"/>
              </a:ext>
            </a:extLst>
          </p:cNvPr>
          <p:cNvSpPr>
            <a:spLocks noGrp="1"/>
          </p:cNvSpPr>
          <p:nvPr>
            <p:ph type="body" idx="1"/>
          </p:nvPr>
        </p:nvSpPr>
        <p:spPr>
          <a:xfrm>
            <a:off x="0" y="6072026"/>
            <a:ext cx="8946906" cy="441789"/>
          </a:xfrm>
        </p:spPr>
        <p:txBody>
          <a:bodyPr>
            <a:noAutofit/>
          </a:bodyPr>
          <a:lstStyle/>
          <a:p>
            <a:r>
              <a:rPr lang="en-US" sz="2000" dirty="0">
                <a:hlinkClick r:id="rId4"/>
              </a:rPr>
              <a:t>https://towardsdatascience.com/linear-regression-made-easy-how-does-it-work-and-how-to-use-it-in-python-be0799d2f159</a:t>
            </a:r>
            <a:endParaRPr lang="en-US" sz="2000" dirty="0"/>
          </a:p>
        </p:txBody>
      </p:sp>
    </p:spTree>
    <p:extLst>
      <p:ext uri="{BB962C8B-B14F-4D97-AF65-F5344CB8AC3E}">
        <p14:creationId xmlns:p14="http://schemas.microsoft.com/office/powerpoint/2010/main" val="2739596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a:t>Error-Prone Data</a:t>
            </a:r>
            <a:endParaRPr sz="2200"/>
          </a:p>
          <a:p>
            <a:pPr marL="457200" lvl="0" indent="-368300" algn="l" rtl="0">
              <a:lnSpc>
                <a:spcPct val="115000"/>
              </a:lnSpc>
              <a:spcBef>
                <a:spcPts val="0"/>
              </a:spcBef>
              <a:spcAft>
                <a:spcPts val="0"/>
              </a:spcAft>
              <a:buSzPts val="2200"/>
              <a:buChar char="●"/>
            </a:pPr>
            <a:r>
              <a:rPr lang="en-US" sz="2200"/>
              <a:t>Bias-Variance Tradeoff</a:t>
            </a:r>
            <a:endParaRPr sz="2200"/>
          </a:p>
          <a:p>
            <a:pPr marL="914400" lvl="1" indent="-368300" algn="l" rtl="0">
              <a:lnSpc>
                <a:spcPct val="115000"/>
              </a:lnSpc>
              <a:spcBef>
                <a:spcPts val="0"/>
              </a:spcBef>
              <a:spcAft>
                <a:spcPts val="0"/>
              </a:spcAft>
              <a:buSzPts val="2200"/>
              <a:buChar char="○"/>
            </a:pPr>
            <a:r>
              <a:rPr lang="en-US" sz="2200"/>
              <a:t>Underfit</a:t>
            </a:r>
            <a:endParaRPr sz="2200"/>
          </a:p>
          <a:p>
            <a:pPr marL="914400" lvl="1" indent="-368300" algn="l" rtl="0">
              <a:lnSpc>
                <a:spcPct val="115000"/>
              </a:lnSpc>
              <a:spcBef>
                <a:spcPts val="0"/>
              </a:spcBef>
              <a:spcAft>
                <a:spcPts val="0"/>
              </a:spcAft>
              <a:buSzPts val="2200"/>
              <a:buChar char="○"/>
            </a:pPr>
            <a:r>
              <a:rPr lang="en-US" sz="2200"/>
              <a:t>Overfit</a:t>
            </a:r>
            <a:endParaRPr sz="2200"/>
          </a:p>
          <a:p>
            <a:pPr marL="457200" lvl="0" indent="-368300" algn="l" rtl="0">
              <a:lnSpc>
                <a:spcPct val="115000"/>
              </a:lnSpc>
              <a:spcBef>
                <a:spcPts val="0"/>
              </a:spcBef>
              <a:spcAft>
                <a:spcPts val="0"/>
              </a:spcAft>
              <a:buSzPts val="2200"/>
              <a:buChar char="●"/>
            </a:pPr>
            <a:r>
              <a:rPr lang="en-US" sz="2200"/>
              <a:t>Interpretation &amp; Subjectivity</a:t>
            </a:r>
            <a:endParaRPr sz="2200"/>
          </a:p>
          <a:p>
            <a:pPr marL="0" lvl="0" indent="0" algn="l" rtl="0">
              <a:lnSpc>
                <a:spcPct val="115000"/>
              </a:lnSpc>
              <a:spcBef>
                <a:spcPts val="0"/>
              </a:spcBef>
              <a:spcAft>
                <a:spcPts val="0"/>
              </a:spcAft>
              <a:buNone/>
            </a:pP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83" name="Google Shape;83;p5"/>
          <p:cNvSpPr txBox="1">
            <a:spLocks noGrp="1"/>
          </p:cNvSpPr>
          <p:nvPr>
            <p:ph type="body" idx="1"/>
          </p:nvPr>
        </p:nvSpPr>
        <p:spPr>
          <a:xfrm>
            <a:off x="197141" y="1048400"/>
            <a:ext cx="8730396" cy="3511074"/>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50000"/>
              </a:lnSpc>
              <a:spcBef>
                <a:spcPts val="0"/>
              </a:spcBef>
              <a:spcAft>
                <a:spcPts val="0"/>
              </a:spcAft>
              <a:buNone/>
            </a:pPr>
            <a:r>
              <a:rPr lang="en-US" sz="2000" b="1" dirty="0"/>
              <a:t>Bias </a:t>
            </a:r>
            <a:r>
              <a:rPr lang="en-US" sz="2000" dirty="0"/>
              <a:t>– Difference between a model’s prediction and the truth (the actual values)</a:t>
            </a:r>
            <a:endParaRPr sz="2000" dirty="0"/>
          </a:p>
          <a:p>
            <a:pPr marL="457200" lvl="0" indent="-355600" algn="l" rtl="0">
              <a:lnSpc>
                <a:spcPct val="150000"/>
              </a:lnSpc>
              <a:spcBef>
                <a:spcPts val="500"/>
              </a:spcBef>
              <a:spcAft>
                <a:spcPts val="0"/>
              </a:spcAft>
              <a:buSzPts val="2000"/>
              <a:buChar char="●"/>
            </a:pPr>
            <a:r>
              <a:rPr lang="en-US" sz="2000" dirty="0"/>
              <a:t>Training error</a:t>
            </a:r>
            <a:endParaRPr sz="2000" dirty="0"/>
          </a:p>
          <a:p>
            <a:pPr marL="457200" lvl="0" indent="-355600" algn="l" rtl="0">
              <a:lnSpc>
                <a:spcPct val="150000"/>
              </a:lnSpc>
              <a:spcBef>
                <a:spcPts val="0"/>
              </a:spcBef>
              <a:spcAft>
                <a:spcPts val="0"/>
              </a:spcAft>
              <a:buSzPts val="2000"/>
              <a:buChar char="●"/>
            </a:pPr>
            <a:r>
              <a:rPr lang="en-US" sz="2000" dirty="0"/>
              <a:t>High bias - </a:t>
            </a:r>
            <a:r>
              <a:rPr lang="en-US" sz="2000" b="1" dirty="0"/>
              <a:t>poor modeling </a:t>
            </a:r>
            <a:r>
              <a:rPr lang="en-US" sz="2000" dirty="0"/>
              <a:t>(very little patterns are captured), </a:t>
            </a:r>
            <a:r>
              <a:rPr lang="en-US" sz="2000" b="1" dirty="0"/>
              <a:t>underfitting</a:t>
            </a:r>
            <a:r>
              <a:rPr lang="en-US" sz="2000" dirty="0"/>
              <a:t>, due to lack of representation </a:t>
            </a:r>
            <a:endParaRPr sz="2000" dirty="0"/>
          </a:p>
          <a:p>
            <a:pPr marL="0" lvl="0" indent="0" algn="l" rtl="0">
              <a:lnSpc>
                <a:spcPct val="150000"/>
              </a:lnSpc>
              <a:spcBef>
                <a:spcPts val="1000"/>
              </a:spcBef>
              <a:spcAft>
                <a:spcPts val="0"/>
              </a:spcAft>
              <a:buNone/>
            </a:pPr>
            <a:r>
              <a:rPr lang="en-US" sz="2000" b="1" dirty="0"/>
              <a:t>Variance </a:t>
            </a:r>
            <a:r>
              <a:rPr lang="en-US" sz="2000" dirty="0"/>
              <a:t>– variability of a model’s prediction between training and test data sets</a:t>
            </a:r>
            <a:endParaRPr sz="2000" dirty="0"/>
          </a:p>
          <a:p>
            <a:pPr marL="457200" lvl="0" indent="-355600" algn="l" rtl="0">
              <a:lnSpc>
                <a:spcPct val="150000"/>
              </a:lnSpc>
              <a:spcBef>
                <a:spcPts val="500"/>
              </a:spcBef>
              <a:spcAft>
                <a:spcPts val="0"/>
              </a:spcAft>
              <a:buSzPts val="2000"/>
              <a:buChar char="●"/>
            </a:pPr>
            <a:r>
              <a:rPr lang="en-US" sz="2000" dirty="0"/>
              <a:t>Test/validation error</a:t>
            </a:r>
            <a:endParaRPr sz="2000" dirty="0"/>
          </a:p>
          <a:p>
            <a:pPr marL="457200" lvl="0" indent="-355600" algn="l" rtl="0">
              <a:lnSpc>
                <a:spcPct val="150000"/>
              </a:lnSpc>
              <a:spcBef>
                <a:spcPts val="0"/>
              </a:spcBef>
              <a:spcAft>
                <a:spcPts val="0"/>
              </a:spcAft>
              <a:buSzPts val="2000"/>
              <a:buChar char="●"/>
            </a:pPr>
            <a:r>
              <a:rPr lang="en-US" sz="2000" dirty="0"/>
              <a:t>High variance – poor modeling (capturing signal and noise in data), overfitting, due to overrepresentation</a:t>
            </a:r>
            <a:endParaRPr sz="2000" dirty="0"/>
          </a:p>
          <a:p>
            <a:pPr marL="0" lvl="0" indent="0" algn="l" rtl="0">
              <a:lnSpc>
                <a:spcPct val="150000"/>
              </a:lnSpc>
              <a:spcBef>
                <a:spcPts val="1000"/>
              </a:spcBef>
              <a:spcAft>
                <a:spcPts val="0"/>
              </a:spcAft>
              <a:buNone/>
            </a:pPr>
            <a:endParaRPr sz="2000" b="1" dirty="0"/>
          </a:p>
        </p:txBody>
      </p:sp>
      <p:grpSp>
        <p:nvGrpSpPr>
          <p:cNvPr id="4" name="Group 3">
            <a:extLst>
              <a:ext uri="{FF2B5EF4-FFF2-40B4-BE49-F238E27FC236}">
                <a16:creationId xmlns:a16="http://schemas.microsoft.com/office/drawing/2014/main" id="{1AC081E8-CB62-4477-91E0-ABF0F8C2ED2C}"/>
              </a:ext>
            </a:extLst>
          </p:cNvPr>
          <p:cNvGrpSpPr/>
          <p:nvPr/>
        </p:nvGrpSpPr>
        <p:grpSpPr>
          <a:xfrm>
            <a:off x="130503" y="5001325"/>
            <a:ext cx="8882994" cy="1643199"/>
            <a:chOff x="739030" y="0"/>
            <a:chExt cx="7665938" cy="1348839"/>
          </a:xfrm>
          <a:scene3d>
            <a:camera prst="orthographicFront">
              <a:rot lat="0" lon="0" rev="0"/>
            </a:camera>
            <a:lightRig rig="contrasting" dir="t">
              <a:rot lat="0" lon="0" rev="1200000"/>
            </a:lightRig>
          </a:scene3d>
        </p:grpSpPr>
        <p:sp>
          <p:nvSpPr>
            <p:cNvPr id="5" name="Rectangle: Rounded Corners 4">
              <a:extLst>
                <a:ext uri="{FF2B5EF4-FFF2-40B4-BE49-F238E27FC236}">
                  <a16:creationId xmlns:a16="http://schemas.microsoft.com/office/drawing/2014/main" id="{775EB7A3-FD6A-432A-AE7B-26552894263B}"/>
                </a:ext>
              </a:extLst>
            </p:cNvPr>
            <p:cNvSpPr/>
            <p:nvPr/>
          </p:nvSpPr>
          <p:spPr>
            <a:xfrm>
              <a:off x="739030" y="0"/>
              <a:ext cx="7665938" cy="1348839"/>
            </a:xfrm>
            <a:prstGeom prst="roundRect">
              <a:avLst/>
            </a:prstGeom>
            <a:sp3d contourW="19050" prstMaterial="metal">
              <a:bevelT w="88900" h="203200"/>
              <a:bevelB w="165100" h="254000"/>
            </a:sp3d>
          </p:spPr>
          <p:style>
            <a:lnRef idx="0">
              <a:schemeClr val="lt1">
                <a:hueOff val="0"/>
                <a:satOff val="0"/>
                <a:lumOff val="0"/>
                <a:alphaOff val="0"/>
              </a:schemeClr>
            </a:lnRef>
            <a:fillRef idx="1">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976AE532-09F0-418F-8791-A0A0AF40B693}"/>
                </a:ext>
              </a:extLst>
            </p:cNvPr>
            <p:cNvSpPr txBox="1"/>
            <p:nvPr/>
          </p:nvSpPr>
          <p:spPr>
            <a:xfrm>
              <a:off x="804875" y="65845"/>
              <a:ext cx="7534248" cy="1217149"/>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8600" tIns="114300" rIns="228600" bIns="114300" numCol="1" spcCol="1270" anchor="ctr" anchorCtr="0">
              <a:noAutofit/>
            </a:bodyPr>
            <a:lstStyle/>
            <a:p>
              <a:pPr algn="ctr" defTabSz="2667000">
                <a:lnSpc>
                  <a:spcPct val="90000"/>
                </a:lnSpc>
                <a:spcBef>
                  <a:spcPct val="0"/>
                </a:spcBef>
                <a:spcAft>
                  <a:spcPct val="35000"/>
                </a:spcAft>
              </a:pPr>
              <a:r>
                <a:rPr lang="en-US" sz="4400" b="1" dirty="0"/>
                <a:t>Ideal case:</a:t>
              </a:r>
              <a:r>
                <a:rPr lang="en-US" sz="4400" dirty="0"/>
                <a:t> low bias and low variance</a:t>
              </a:r>
              <a:endParaRPr lang="en-US" sz="4400" kern="12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89" name="Google Shape;89;p6"/>
          <p:cNvSpPr txBox="1">
            <a:spLocks noGrp="1"/>
          </p:cNvSpPr>
          <p:nvPr>
            <p:ph type="body" idx="1"/>
          </p:nvPr>
        </p:nvSpPr>
        <p:spPr>
          <a:xfrm>
            <a:off x="453005" y="1035083"/>
            <a:ext cx="3469167" cy="531466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1000"/>
              </a:spcBef>
              <a:spcAft>
                <a:spcPts val="0"/>
              </a:spcAft>
              <a:buNone/>
            </a:pPr>
            <a:r>
              <a:rPr lang="en-US" sz="2000" dirty="0"/>
              <a:t>Tradeoff is between </a:t>
            </a:r>
            <a:r>
              <a:rPr lang="en-US" sz="2000" b="1" dirty="0"/>
              <a:t>accuracy</a:t>
            </a:r>
            <a:r>
              <a:rPr lang="en-US" sz="2000" dirty="0"/>
              <a:t> and </a:t>
            </a:r>
            <a:r>
              <a:rPr lang="en-US" sz="2000" b="1" dirty="0"/>
              <a:t>consistency</a:t>
            </a:r>
            <a:endParaRPr sz="2000" b="1" dirty="0"/>
          </a:p>
          <a:p>
            <a:pPr marL="0" lvl="0" indent="0" algn="l" rtl="0">
              <a:lnSpc>
                <a:spcPct val="150000"/>
              </a:lnSpc>
              <a:spcBef>
                <a:spcPts val="1000"/>
              </a:spcBef>
              <a:spcAft>
                <a:spcPts val="1600"/>
              </a:spcAft>
              <a:buNone/>
            </a:pPr>
            <a:r>
              <a:rPr lang="en-US" sz="2000" dirty="0"/>
              <a:t>We want to be consistently accurate (the quadrant with low bias and low variance)</a:t>
            </a:r>
            <a:endParaRPr sz="2000" dirty="0"/>
          </a:p>
        </p:txBody>
      </p:sp>
      <p:pic>
        <p:nvPicPr>
          <p:cNvPr id="90" name="Google Shape;90;p6" descr="Shape, circle&#10;&#10;Description automatically generated"/>
          <p:cNvPicPr preferRelativeResize="0"/>
          <p:nvPr/>
        </p:nvPicPr>
        <p:blipFill rotWithShape="1">
          <a:blip r:embed="rId3">
            <a:alphaModFix/>
          </a:blip>
          <a:srcRect/>
          <a:stretch/>
        </p:blipFill>
        <p:spPr>
          <a:xfrm>
            <a:off x="4061508" y="1530405"/>
            <a:ext cx="4532499" cy="45129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0" indent="0">
              <a:lnSpc>
                <a:spcPct val="115000"/>
              </a:lnSpc>
              <a:spcBef>
                <a:spcPts val="0"/>
              </a:spcBef>
            </a:pPr>
            <a:r>
              <a:rPr lang="en-US" sz="1800" b="1" dirty="0">
                <a:effectLst/>
                <a:latin typeface="Open Sans" panose="020B0606030504020204" pitchFamily="34" charset="0"/>
                <a:ea typeface="Open Sans" panose="020B0606030504020204" pitchFamily="34" charset="0"/>
              </a:rPr>
              <a:t>Underfit:</a:t>
            </a:r>
            <a:r>
              <a:rPr lang="en-US" sz="1800" dirty="0">
                <a:effectLst/>
                <a:latin typeface="Open Sans" panose="020B0606030504020204" pitchFamily="34" charset="0"/>
                <a:ea typeface="Open Sans" panose="020B0606030504020204" pitchFamily="34" charset="0"/>
              </a:rPr>
              <a:t> An </a:t>
            </a:r>
            <a:r>
              <a:rPr lang="en-US" sz="1800" i="1" dirty="0">
                <a:effectLst/>
                <a:latin typeface="Open Sans" panose="020B0606030504020204" pitchFamily="34" charset="0"/>
                <a:ea typeface="Open Sans" panose="020B0606030504020204" pitchFamily="34" charset="0"/>
              </a:rPr>
              <a:t>underfit</a:t>
            </a:r>
            <a:r>
              <a:rPr lang="en-US" sz="1800" dirty="0">
                <a:effectLst/>
                <a:latin typeface="Open Sans" panose="020B0606030504020204" pitchFamily="34" charset="0"/>
                <a:ea typeface="Open Sans" panose="020B0606030504020204" pitchFamily="34" charset="0"/>
              </a:rPr>
              <a:t> model is unable to accurately predict variations in the output. You would realize this when applying the model to a test dataset.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For example, suppose you develop a model designed to predict an automobile’s gas mileage given its weight. Light cars have higher gas mileage while heavy cars have lower gas mileage. If your model shows little variation in its predictions regardless of the cars’ weight, it is probably underfitting.</a:t>
            </a:r>
          </a:p>
          <a:p>
            <a:pPr marL="0" lvl="0" indent="0" algn="l" rtl="0">
              <a:lnSpc>
                <a:spcPct val="115000"/>
              </a:lnSpc>
              <a:spcBef>
                <a:spcPts val="0"/>
              </a:spcBef>
              <a:spcAft>
                <a:spcPts val="0"/>
              </a:spcAft>
              <a:buNone/>
            </a:pPr>
            <a:endParaRPr sz="2200" dirty="0"/>
          </a:p>
        </p:txBody>
      </p:sp>
    </p:spTree>
    <p:extLst>
      <p:ext uri="{BB962C8B-B14F-4D97-AF65-F5344CB8AC3E}">
        <p14:creationId xmlns:p14="http://schemas.microsoft.com/office/powerpoint/2010/main" val="2119975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Business Challenges</a:t>
            </a:r>
            <a:endParaRPr b="0"/>
          </a:p>
        </p:txBody>
      </p:sp>
      <p:sp>
        <p:nvSpPr>
          <p:cNvPr id="108" name="Google Shape;108;p4"/>
          <p:cNvSpPr txBox="1">
            <a:spLocks noGrp="1"/>
          </p:cNvSpPr>
          <p:nvPr>
            <p:ph type="body" idx="1"/>
          </p:nvPr>
        </p:nvSpPr>
        <p:spPr>
          <a:xfrm>
            <a:off x="453000" y="1408700"/>
            <a:ext cx="8253000" cy="5176800"/>
          </a:xfrm>
          <a:prstGeom prst="rect">
            <a:avLst/>
          </a:prstGeom>
          <a:noFill/>
          <a:ln>
            <a:noFill/>
          </a:ln>
        </p:spPr>
        <p:txBody>
          <a:bodyPr spcFirstLastPara="1" wrap="square" lIns="91425" tIns="45700" rIns="91425" bIns="45700" anchor="t" anchorCtr="0">
            <a:normAutofit/>
          </a:bodyPr>
          <a:lstStyle/>
          <a:p>
            <a:pPr marL="0" indent="0">
              <a:lnSpc>
                <a:spcPct val="115000"/>
              </a:lnSpc>
              <a:spcBef>
                <a:spcPts val="0"/>
              </a:spcBef>
            </a:pPr>
            <a:r>
              <a:rPr lang="en-US" sz="1800" b="1" dirty="0">
                <a:effectLst/>
                <a:latin typeface="Open Sans" panose="020B0606030504020204" pitchFamily="34" charset="0"/>
                <a:ea typeface="Open Sans" panose="020B0606030504020204" pitchFamily="34" charset="0"/>
              </a:rPr>
              <a:t>Overfit: </a:t>
            </a:r>
            <a:r>
              <a:rPr lang="en-US" sz="1800" dirty="0">
                <a:effectLst/>
                <a:latin typeface="Open Sans" panose="020B0606030504020204" pitchFamily="34" charset="0"/>
                <a:ea typeface="Open Sans" panose="020B0606030504020204" pitchFamily="34" charset="0"/>
              </a:rPr>
              <a:t>In contrast, an overfit model shows variations in the output that are not actually present. </a:t>
            </a: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Again, you would realize this when applying the model to a test dataset.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For instance, suppose you’re developing a model designed to predict a person’s income tax given their income. An overfit model manages to correctly predict each data point. However, this doesn’t necessarily mean that it would be accurate for “new” data (data that the model hasn’t previously “seen”).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In the figure, the model diverges significantly from what you might expect in between the last two data points. </a:t>
            </a:r>
          </a:p>
          <a:p>
            <a:pPr marL="0" indent="0">
              <a:lnSpc>
                <a:spcPct val="115000"/>
              </a:lnSpc>
              <a:spcBef>
                <a:spcPts val="0"/>
              </a:spcBef>
            </a:pPr>
            <a:endParaRPr lang="en-US" dirty="0">
              <a:latin typeface="Open Sans" panose="020B0606030504020204" pitchFamily="34" charset="0"/>
              <a:ea typeface="Open Sans" panose="020B0606030504020204" pitchFamily="34" charset="0"/>
            </a:endParaRPr>
          </a:p>
          <a:p>
            <a:pPr marL="0" indent="0">
              <a:lnSpc>
                <a:spcPct val="115000"/>
              </a:lnSpc>
              <a:spcBef>
                <a:spcPts val="0"/>
              </a:spcBef>
            </a:pPr>
            <a:r>
              <a:rPr lang="en-US" sz="1800" dirty="0">
                <a:effectLst/>
                <a:latin typeface="Open Sans" panose="020B0606030504020204" pitchFamily="34" charset="0"/>
                <a:ea typeface="Open Sans" panose="020B0606030504020204" pitchFamily="34" charset="0"/>
              </a:rPr>
              <a:t>A model that is less complex might actually be more useful and accurate for new data. The figure also shows the output of an underfit model, for comparison.</a:t>
            </a:r>
          </a:p>
          <a:p>
            <a:pPr marL="0" lvl="0" indent="0" algn="l" rtl="0">
              <a:lnSpc>
                <a:spcPct val="115000"/>
              </a:lnSpc>
              <a:spcBef>
                <a:spcPts val="0"/>
              </a:spcBef>
              <a:spcAft>
                <a:spcPts val="0"/>
              </a:spcAft>
              <a:buNone/>
            </a:pPr>
            <a:endParaRPr sz="2200" dirty="0"/>
          </a:p>
        </p:txBody>
      </p:sp>
    </p:spTree>
    <p:extLst>
      <p:ext uri="{BB962C8B-B14F-4D97-AF65-F5344CB8AC3E}">
        <p14:creationId xmlns:p14="http://schemas.microsoft.com/office/powerpoint/2010/main" val="1330149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Bias-Variance Tradeoff (BVT)</a:t>
            </a:r>
            <a:endParaRPr b="0"/>
          </a:p>
        </p:txBody>
      </p:sp>
      <p:sp>
        <p:nvSpPr>
          <p:cNvPr id="96" name="Google Shape;96;p7"/>
          <p:cNvSpPr txBox="1">
            <a:spLocks noGrp="1"/>
          </p:cNvSpPr>
          <p:nvPr>
            <p:ph type="body" idx="1"/>
          </p:nvPr>
        </p:nvSpPr>
        <p:spPr>
          <a:xfrm>
            <a:off x="453005" y="1035082"/>
            <a:ext cx="8384648" cy="532394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2000" b="1"/>
              <a:t>Over</a:t>
            </a:r>
            <a:r>
              <a:rPr lang="en-US" sz="2000"/>
              <a:t>fitting/training vs </a:t>
            </a:r>
            <a:r>
              <a:rPr lang="en-US" sz="2000" b="1"/>
              <a:t>under</a:t>
            </a:r>
            <a:r>
              <a:rPr lang="en-US" sz="2000"/>
              <a:t>fitting/training</a:t>
            </a:r>
            <a:endParaRPr sz="2000"/>
          </a:p>
          <a:p>
            <a:pPr marL="0" lvl="0" indent="0" algn="l" rtl="0">
              <a:lnSpc>
                <a:spcPct val="90000"/>
              </a:lnSpc>
              <a:spcBef>
                <a:spcPts val="1000"/>
              </a:spcBef>
              <a:spcAft>
                <a:spcPts val="0"/>
              </a:spcAft>
              <a:buNone/>
            </a:pPr>
            <a:r>
              <a:rPr lang="en-US" sz="2000"/>
              <a:t>The goal is to capture the signal and stop the learning before starting to capture the noise.</a:t>
            </a: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endParaRPr sz="2000"/>
          </a:p>
          <a:p>
            <a:pPr marL="0" lvl="0" indent="0" algn="l" rtl="0">
              <a:lnSpc>
                <a:spcPct val="90000"/>
              </a:lnSpc>
              <a:spcBef>
                <a:spcPts val="1000"/>
              </a:spcBef>
              <a:spcAft>
                <a:spcPts val="0"/>
              </a:spcAft>
              <a:buNone/>
            </a:pPr>
            <a:r>
              <a:rPr lang="en-US" sz="2000"/>
              <a:t>Generalizability is needed for predictability </a:t>
            </a:r>
            <a:endParaRPr sz="2000"/>
          </a:p>
          <a:p>
            <a:pPr marL="0" lvl="0" indent="0" algn="l" rtl="0">
              <a:lnSpc>
                <a:spcPct val="90000"/>
              </a:lnSpc>
              <a:spcBef>
                <a:spcPts val="1000"/>
              </a:spcBef>
              <a:spcAft>
                <a:spcPts val="1600"/>
              </a:spcAft>
              <a:buNone/>
            </a:pPr>
            <a:r>
              <a:rPr lang="en-US" sz="2000"/>
              <a:t>Prediction vs curve-fitting </a:t>
            </a:r>
            <a:endParaRPr sz="2000"/>
          </a:p>
        </p:txBody>
      </p:sp>
      <p:pic>
        <p:nvPicPr>
          <p:cNvPr id="97" name="Google Shape;97;p7" descr="Chart, scatter chart&#10;&#10;Description automatically generated"/>
          <p:cNvPicPr preferRelativeResize="0"/>
          <p:nvPr/>
        </p:nvPicPr>
        <p:blipFill rotWithShape="1">
          <a:blip r:embed="rId3">
            <a:alphaModFix/>
          </a:blip>
          <a:srcRect/>
          <a:stretch/>
        </p:blipFill>
        <p:spPr>
          <a:xfrm>
            <a:off x="507608" y="2891533"/>
            <a:ext cx="8384648" cy="192155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453000" y="171975"/>
            <a:ext cx="8275800" cy="885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Linear Regression (LR)</a:t>
            </a:r>
            <a:endParaRPr b="0" dirty="0"/>
          </a:p>
        </p:txBody>
      </p:sp>
      <p:graphicFrame>
        <p:nvGraphicFramePr>
          <p:cNvPr id="2" name="Diagram 1">
            <a:extLst>
              <a:ext uri="{FF2B5EF4-FFF2-40B4-BE49-F238E27FC236}">
                <a16:creationId xmlns:a16="http://schemas.microsoft.com/office/drawing/2014/main" id="{F277B028-C657-4DBB-8A66-E190F89F74E7}"/>
              </a:ext>
            </a:extLst>
          </p:cNvPr>
          <p:cNvGraphicFramePr/>
          <p:nvPr/>
        </p:nvGraphicFramePr>
        <p:xfrm>
          <a:off x="415200" y="1343640"/>
          <a:ext cx="9471795" cy="4692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6" name="Google Shape;146;p19"/>
          <p:cNvSpPr txBox="1">
            <a:spLocks noGrp="1"/>
          </p:cNvSpPr>
          <p:nvPr>
            <p:ph type="ftr" idx="11"/>
          </p:nvPr>
        </p:nvSpPr>
        <p:spPr>
          <a:xfrm>
            <a:off x="7575258" y="6508796"/>
            <a:ext cx="1371599" cy="28666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0070C0"/>
                </a:solidFill>
                <a:latin typeface="Calibri"/>
                <a:ea typeface="Calibri"/>
                <a:cs typeface="Calibri"/>
                <a:sym typeface="Calibri"/>
              </a:rPr>
              <a:t>18</a:t>
            </a:fld>
            <a:endParaRPr sz="1200">
              <a:solidFill>
                <a:srgbClr val="0070C0"/>
              </a:solidFill>
              <a:latin typeface="Calibri"/>
              <a:ea typeface="Calibri"/>
              <a:cs typeface="Calibri"/>
              <a:sym typeface="Calibri"/>
            </a:endParaRPr>
          </a:p>
        </p:txBody>
      </p:sp>
    </p:spTree>
    <p:extLst>
      <p:ext uri="{BB962C8B-B14F-4D97-AF65-F5344CB8AC3E}">
        <p14:creationId xmlns:p14="http://schemas.microsoft.com/office/powerpoint/2010/main" val="1489817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453007" y="171974"/>
            <a:ext cx="8493852" cy="8850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dirty="0"/>
              <a:t>Logistic Regression</a:t>
            </a:r>
            <a:endParaRPr b="0" dirty="0"/>
          </a:p>
        </p:txBody>
      </p:sp>
      <p:sp>
        <p:nvSpPr>
          <p:cNvPr id="168" name="Google Shape;168;p22"/>
          <p:cNvSpPr txBox="1">
            <a:spLocks noGrp="1"/>
          </p:cNvSpPr>
          <p:nvPr>
            <p:ph type="body" idx="1"/>
          </p:nvPr>
        </p:nvSpPr>
        <p:spPr>
          <a:xfrm>
            <a:off x="439800" y="1079101"/>
            <a:ext cx="8264400" cy="2035800"/>
          </a:xfrm>
          <a:prstGeom prst="rect">
            <a:avLst/>
          </a:prstGeom>
          <a:noFill/>
          <a:ln>
            <a:noFill/>
          </a:ln>
        </p:spPr>
        <p:txBody>
          <a:bodyPr spcFirstLastPara="1" wrap="square" lIns="91425" tIns="45700" rIns="91425" bIns="45700" anchor="t" anchorCtr="0">
            <a:normAutofit/>
          </a:bodyPr>
          <a:lstStyle/>
          <a:p>
            <a:pPr marL="457200" lvl="0" indent="-355600" algn="l" rtl="0">
              <a:lnSpc>
                <a:spcPct val="150000"/>
              </a:lnSpc>
              <a:spcBef>
                <a:spcPts val="0"/>
              </a:spcBef>
              <a:spcAft>
                <a:spcPts val="0"/>
              </a:spcAft>
              <a:buSzPts val="2000"/>
              <a:buChar char="●"/>
            </a:pPr>
            <a:r>
              <a:rPr lang="en-US" sz="2000" dirty="0"/>
              <a:t>Most popular statistical technique for </a:t>
            </a:r>
            <a:r>
              <a:rPr lang="en-US" sz="2000" b="1" dirty="0"/>
              <a:t>classification</a:t>
            </a:r>
            <a:r>
              <a:rPr lang="en-US" sz="2000" dirty="0"/>
              <a:t> type prediction problems</a:t>
            </a:r>
            <a:endParaRPr sz="2000" dirty="0"/>
          </a:p>
          <a:p>
            <a:pPr marL="457200" lvl="0" indent="-355600" algn="l" rtl="0">
              <a:lnSpc>
                <a:spcPct val="150000"/>
              </a:lnSpc>
              <a:spcBef>
                <a:spcPts val="0"/>
              </a:spcBef>
              <a:spcAft>
                <a:spcPts val="0"/>
              </a:spcAft>
              <a:buSzPts val="2000"/>
              <a:buChar char="●"/>
            </a:pPr>
            <a:r>
              <a:rPr lang="en-US" sz="2000" dirty="0"/>
              <a:t>Developed in 1940s</a:t>
            </a:r>
            <a:endParaRPr sz="2000" dirty="0"/>
          </a:p>
          <a:p>
            <a:pPr marL="457200" lvl="0" indent="-355600" algn="l" rtl="0">
              <a:lnSpc>
                <a:spcPct val="150000"/>
              </a:lnSpc>
              <a:spcBef>
                <a:spcPts val="0"/>
              </a:spcBef>
              <a:spcAft>
                <a:spcPts val="0"/>
              </a:spcAft>
              <a:buSzPts val="2000"/>
              <a:buChar char="●"/>
            </a:pPr>
            <a:r>
              <a:rPr lang="en-US" sz="2000" dirty="0"/>
              <a:t>It calculates the </a:t>
            </a:r>
            <a:r>
              <a:rPr lang="en-US" sz="2000" b="1" dirty="0"/>
              <a:t>probability</a:t>
            </a:r>
            <a:r>
              <a:rPr lang="en-US" sz="2000" dirty="0"/>
              <a:t> of the outcomes</a:t>
            </a:r>
            <a:endParaRPr sz="2000" dirty="0"/>
          </a:p>
        </p:txBody>
      </p:sp>
      <p:pic>
        <p:nvPicPr>
          <p:cNvPr id="169" name="Google Shape;169;p22" descr="Chart, histogram&#10;&#10;Description automatically generated"/>
          <p:cNvPicPr preferRelativeResize="0"/>
          <p:nvPr/>
        </p:nvPicPr>
        <p:blipFill rotWithShape="1">
          <a:blip r:embed="rId3">
            <a:alphaModFix/>
          </a:blip>
          <a:srcRect/>
          <a:stretch/>
        </p:blipFill>
        <p:spPr>
          <a:xfrm>
            <a:off x="2230300" y="3201930"/>
            <a:ext cx="4683400" cy="3219837"/>
          </a:xfrm>
          <a:prstGeom prst="rect">
            <a:avLst/>
          </a:prstGeom>
          <a:noFill/>
          <a:ln>
            <a:noFill/>
          </a:ln>
        </p:spPr>
      </p:pic>
      <p:sp>
        <p:nvSpPr>
          <p:cNvPr id="170" name="Google Shape;170;p22"/>
          <p:cNvSpPr txBox="1">
            <a:spLocks noGrp="1"/>
          </p:cNvSpPr>
          <p:nvPr>
            <p:ph type="ftr" idx="11"/>
          </p:nvPr>
        </p:nvSpPr>
        <p:spPr>
          <a:xfrm>
            <a:off x="7575258" y="6508796"/>
            <a:ext cx="1371599" cy="28666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0070C0"/>
                </a:solidFill>
                <a:latin typeface="Calibri"/>
                <a:ea typeface="Calibri"/>
                <a:cs typeface="Calibri"/>
                <a:sym typeface="Calibri"/>
              </a:rPr>
              <a:t>19</a:t>
            </a:fld>
            <a:endParaRPr sz="1200">
              <a:solidFill>
                <a:srgbClr val="0070C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bb4b8342d_0_32"/>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4761"/>
              <a:buFont typeface="Calibri"/>
              <a:buNone/>
            </a:pPr>
            <a:r>
              <a:rPr lang="en-US" b="0"/>
              <a:t>Achieving Business Goals with Predictive Analytics</a:t>
            </a:r>
            <a:endParaRPr b="0"/>
          </a:p>
        </p:txBody>
      </p:sp>
      <p:sp>
        <p:nvSpPr>
          <p:cNvPr id="114" name="Google Shape;114;g10bb4b8342d_0_32"/>
          <p:cNvSpPr txBox="1">
            <a:spLocks noGrp="1"/>
          </p:cNvSpPr>
          <p:nvPr>
            <p:ph type="body" idx="1"/>
          </p:nvPr>
        </p:nvSpPr>
        <p:spPr>
          <a:xfrm>
            <a:off x="154060" y="916331"/>
            <a:ext cx="8536939" cy="2389577"/>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b="1" dirty="0"/>
              <a:t>Discussion</a:t>
            </a:r>
            <a:r>
              <a:rPr lang="en-US" sz="2200" dirty="0"/>
              <a:t>:  C</a:t>
            </a:r>
            <a:r>
              <a:rPr lang="en-US" sz="1800" dirty="0">
                <a:effectLst/>
                <a:latin typeface="Open Sans" panose="020B0606030504020204" pitchFamily="34" charset="0"/>
                <a:ea typeface="Open Sans" panose="020B0606030504020204" pitchFamily="34" charset="0"/>
              </a:rPr>
              <a:t>onsider education in the country of Cameroon. If you are a government official responsible for ensuring that schools have sufficient resources, it would obviously be very useful to be able to predict the number of school-age children that could potentially be attending school in the future so you can ensure that resources are available.</a:t>
            </a:r>
            <a:endParaRPr sz="2200" dirty="0"/>
          </a:p>
        </p:txBody>
      </p:sp>
      <p:pic>
        <p:nvPicPr>
          <p:cNvPr id="115" name="Google Shape;115;g10bb4b8342d_0_32"/>
          <p:cNvPicPr preferRelativeResize="0"/>
          <p:nvPr/>
        </p:nvPicPr>
        <p:blipFill>
          <a:blip r:embed="rId3">
            <a:alphaModFix/>
          </a:blip>
          <a:stretch>
            <a:fillRect/>
          </a:stretch>
        </p:blipFill>
        <p:spPr>
          <a:xfrm>
            <a:off x="803218" y="2774688"/>
            <a:ext cx="7250536" cy="3617320"/>
          </a:xfrm>
          <a:prstGeom prst="rect">
            <a:avLst/>
          </a:prstGeom>
          <a:noFill/>
          <a:ln>
            <a:noFill/>
          </a:ln>
        </p:spPr>
      </p:pic>
      <p:sp>
        <p:nvSpPr>
          <p:cNvPr id="116" name="Google Shape;116;g10bb4b8342d_0_32"/>
          <p:cNvSpPr txBox="1"/>
          <p:nvPr/>
        </p:nvSpPr>
        <p:spPr>
          <a:xfrm>
            <a:off x="1090246" y="6049090"/>
            <a:ext cx="3164287" cy="777612"/>
          </a:xfrm>
          <a:prstGeom prst="rect">
            <a:avLst/>
          </a:prstGeom>
          <a:noFill/>
          <a:ln>
            <a:noFill/>
          </a:ln>
        </p:spPr>
        <p:txBody>
          <a:bodyPr spcFirstLastPara="1" wrap="square" lIns="91425" tIns="91425" rIns="91425" bIns="91425" anchor="ctr" anchorCtr="0">
            <a:noAutofit/>
          </a:bodyPr>
          <a:lstStyle/>
          <a:p>
            <a:pPr marL="0" lvl="0" indent="0" algn="l" rtl="0">
              <a:lnSpc>
                <a:spcPct val="113000"/>
              </a:lnSpc>
              <a:spcBef>
                <a:spcPts val="0"/>
              </a:spcBef>
              <a:spcAft>
                <a:spcPts val="0"/>
              </a:spcAft>
              <a:buNone/>
            </a:pPr>
            <a:endParaRPr sz="1100" dirty="0">
              <a:latin typeface="Open Sans"/>
              <a:ea typeface="Open Sans"/>
              <a:cs typeface="Open Sans"/>
              <a:sym typeface="Open Sans"/>
            </a:endParaRPr>
          </a:p>
          <a:p>
            <a:pPr marL="0" lvl="0" indent="0" algn="l" rtl="0">
              <a:spcBef>
                <a:spcPts val="0"/>
              </a:spcBef>
              <a:spcAft>
                <a:spcPts val="0"/>
              </a:spcAft>
              <a:buNone/>
            </a:pPr>
            <a:r>
              <a:rPr lang="en-US" sz="1000" i="1" dirty="0">
                <a:latin typeface="Open Sans"/>
                <a:ea typeface="Open Sans"/>
                <a:cs typeface="Open Sans"/>
                <a:sym typeface="Open Sans"/>
              </a:rPr>
              <a:t>Figure 5: School-age population for Cameroon</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bb4b8342d_0_32"/>
          <p:cNvSpPr txBox="1">
            <a:spLocks noGrp="1"/>
          </p:cNvSpPr>
          <p:nvPr>
            <p:ph type="title"/>
          </p:nvPr>
        </p:nvSpPr>
        <p:spPr>
          <a:xfrm>
            <a:off x="453000" y="171975"/>
            <a:ext cx="8253000" cy="885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4761"/>
              <a:buFont typeface="Calibri"/>
              <a:buNone/>
            </a:pPr>
            <a:r>
              <a:rPr lang="en-US" b="0"/>
              <a:t>Achieving Business Goals with Predictive Analytics</a:t>
            </a:r>
            <a:endParaRPr b="0"/>
          </a:p>
        </p:txBody>
      </p:sp>
      <p:pic>
        <p:nvPicPr>
          <p:cNvPr id="8" name="image4.png">
            <a:extLst>
              <a:ext uri="{FF2B5EF4-FFF2-40B4-BE49-F238E27FC236}">
                <a16:creationId xmlns:a16="http://schemas.microsoft.com/office/drawing/2014/main" id="{B9010D13-C302-4579-9057-3FCAE928E1CD}"/>
              </a:ext>
            </a:extLst>
          </p:cNvPr>
          <p:cNvPicPr/>
          <p:nvPr/>
        </p:nvPicPr>
        <p:blipFill>
          <a:blip r:embed="rId3"/>
          <a:srcRect/>
          <a:stretch>
            <a:fillRect/>
          </a:stretch>
        </p:blipFill>
        <p:spPr>
          <a:xfrm>
            <a:off x="453000" y="1312007"/>
            <a:ext cx="8128292" cy="4701931"/>
          </a:xfrm>
          <a:prstGeom prst="rect">
            <a:avLst/>
          </a:prstGeom>
          <a:ln/>
        </p:spPr>
      </p:pic>
    </p:spTree>
    <p:extLst>
      <p:ext uri="{BB962C8B-B14F-4D97-AF65-F5344CB8AC3E}">
        <p14:creationId xmlns:p14="http://schemas.microsoft.com/office/powerpoint/2010/main" val="3581033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470001" y="231776"/>
            <a:ext cx="8528084" cy="8966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0"/>
              <a:t>Advanced Topics in Predictive Modeling</a:t>
            </a:r>
            <a:endParaRPr b="0">
              <a:latin typeface="Calibri"/>
              <a:ea typeface="Calibri"/>
              <a:cs typeface="Calibri"/>
              <a:sym typeface="Calibri"/>
            </a:endParaRPr>
          </a:p>
        </p:txBody>
      </p:sp>
      <p:sp>
        <p:nvSpPr>
          <p:cNvPr id="123" name="Google Shape;123;p3"/>
          <p:cNvSpPr txBox="1">
            <a:spLocks noGrp="1"/>
          </p:cNvSpPr>
          <p:nvPr>
            <p:ph type="body" idx="1"/>
          </p:nvPr>
        </p:nvSpPr>
        <p:spPr>
          <a:xfrm>
            <a:off x="337500" y="1128400"/>
            <a:ext cx="8368500" cy="5477100"/>
          </a:xfrm>
          <a:prstGeom prst="rect">
            <a:avLst/>
          </a:prstGeom>
          <a:noFill/>
          <a:ln>
            <a:noFill/>
          </a:ln>
        </p:spPr>
        <p:txBody>
          <a:bodyPr spcFirstLastPara="1" wrap="square" lIns="91425" tIns="45700" rIns="91425" bIns="45700" anchor="t" anchorCtr="0">
            <a:normAutofit/>
          </a:bodyPr>
          <a:lstStyle/>
          <a:p>
            <a:pPr marL="457200" lvl="0" indent="-355600" algn="l" rtl="0">
              <a:lnSpc>
                <a:spcPct val="115000"/>
              </a:lnSpc>
              <a:spcBef>
                <a:spcPts val="0"/>
              </a:spcBef>
              <a:spcAft>
                <a:spcPts val="0"/>
              </a:spcAft>
              <a:buSzPts val="2000"/>
              <a:buChar char="●"/>
            </a:pPr>
            <a:r>
              <a:rPr lang="en-US" sz="2000" dirty="0"/>
              <a:t>Predictive analytics is still a mix of art and science </a:t>
            </a:r>
            <a:endParaRPr sz="2000" dirty="0"/>
          </a:p>
          <a:p>
            <a:pPr marL="914400" lvl="1" indent="-355600" algn="l" rtl="0">
              <a:lnSpc>
                <a:spcPct val="115000"/>
              </a:lnSpc>
              <a:spcBef>
                <a:spcPts val="0"/>
              </a:spcBef>
              <a:spcAft>
                <a:spcPts val="0"/>
              </a:spcAft>
              <a:buSzPts val="2000"/>
              <a:buChar char="○"/>
            </a:pPr>
            <a:r>
              <a:rPr lang="en-US" sz="2000" dirty="0"/>
              <a:t>Experimentation and heuristics (Algorithms) dominate the process</a:t>
            </a:r>
            <a:endParaRPr sz="2000" dirty="0"/>
          </a:p>
          <a:p>
            <a:pPr marL="457200" lvl="0" indent="-355600" algn="l" rtl="0">
              <a:lnSpc>
                <a:spcPct val="115000"/>
              </a:lnSpc>
              <a:spcBef>
                <a:spcPts val="0"/>
              </a:spcBef>
              <a:spcAft>
                <a:spcPts val="0"/>
              </a:spcAft>
              <a:buSzPts val="2000"/>
              <a:buChar char="●"/>
            </a:pPr>
            <a:r>
              <a:rPr lang="en-US" sz="2000" dirty="0"/>
              <a:t>In predictive analytics, the goal is to develop models that are</a:t>
            </a:r>
            <a:endParaRPr sz="2000" dirty="0"/>
          </a:p>
          <a:p>
            <a:pPr marL="914400" lvl="1" indent="-355600" algn="l" rtl="0">
              <a:lnSpc>
                <a:spcPct val="115000"/>
              </a:lnSpc>
              <a:spcBef>
                <a:spcPts val="0"/>
              </a:spcBef>
              <a:spcAft>
                <a:spcPts val="0"/>
              </a:spcAft>
              <a:buSzPts val="2000"/>
              <a:buChar char="○"/>
            </a:pPr>
            <a:r>
              <a:rPr lang="en-US" sz="2000" dirty="0"/>
              <a:t>Highly predictive (on holdout data)</a:t>
            </a:r>
            <a:endParaRPr sz="2000" dirty="0"/>
          </a:p>
          <a:p>
            <a:pPr marL="914400" lvl="1" indent="-355600" algn="l" rtl="0">
              <a:lnSpc>
                <a:spcPct val="115000"/>
              </a:lnSpc>
              <a:spcBef>
                <a:spcPts val="0"/>
              </a:spcBef>
              <a:spcAft>
                <a:spcPts val="0"/>
              </a:spcAft>
              <a:buSzPts val="2000"/>
              <a:buChar char="○"/>
            </a:pPr>
            <a:r>
              <a:rPr lang="en-US" sz="2000" dirty="0"/>
              <a:t>Unbiased (objective for all outcomes)</a:t>
            </a:r>
            <a:endParaRPr sz="2000" dirty="0"/>
          </a:p>
          <a:p>
            <a:pPr marL="914400" lvl="1" indent="-355600" algn="l" rtl="0">
              <a:lnSpc>
                <a:spcPct val="115000"/>
              </a:lnSpc>
              <a:spcBef>
                <a:spcPts val="0"/>
              </a:spcBef>
              <a:spcAft>
                <a:spcPts val="0"/>
              </a:spcAft>
              <a:buSzPts val="2000"/>
              <a:buChar char="○"/>
            </a:pPr>
            <a:r>
              <a:rPr lang="en-US" sz="2000" dirty="0"/>
              <a:t>Interpretable (transparent and explainable)</a:t>
            </a:r>
            <a:endParaRPr sz="2000" dirty="0"/>
          </a:p>
          <a:p>
            <a:pPr marL="914400" lvl="1" indent="-355600" algn="l" rtl="0">
              <a:lnSpc>
                <a:spcPct val="115000"/>
              </a:lnSpc>
              <a:spcBef>
                <a:spcPts val="0"/>
              </a:spcBef>
              <a:spcAft>
                <a:spcPts val="0"/>
              </a:spcAft>
              <a:buSzPts val="2000"/>
              <a:buChar char="○"/>
            </a:pPr>
            <a:r>
              <a:rPr lang="en-US" sz="2000" dirty="0"/>
              <a:t>Computationally efficient </a:t>
            </a:r>
            <a:endParaRPr sz="2000" dirty="0"/>
          </a:p>
          <a:p>
            <a:pPr marL="914400" lvl="1" indent="-355600" algn="l" rtl="0">
              <a:lnSpc>
                <a:spcPct val="115000"/>
              </a:lnSpc>
              <a:spcBef>
                <a:spcPts val="0"/>
              </a:spcBef>
              <a:spcAft>
                <a:spcPts val="0"/>
              </a:spcAft>
              <a:buSzPts val="2000"/>
              <a:buChar char="○"/>
            </a:pPr>
            <a:r>
              <a:rPr lang="en-US" sz="2000" dirty="0"/>
              <a:t>Robust and scalable</a:t>
            </a:r>
            <a:endParaRPr sz="2000" dirty="0"/>
          </a:p>
          <a:p>
            <a:pPr marL="914400" lvl="1" indent="-355600" algn="l" rtl="0">
              <a:lnSpc>
                <a:spcPct val="115000"/>
              </a:lnSpc>
              <a:spcBef>
                <a:spcPts val="0"/>
              </a:spcBef>
              <a:spcAft>
                <a:spcPts val="0"/>
              </a:spcAft>
              <a:buSzPts val="2000"/>
              <a:buChar char="○"/>
            </a:pPr>
            <a:r>
              <a:rPr lang="en-US" sz="2000" dirty="0"/>
              <a:t>Easily deployable</a:t>
            </a:r>
            <a:endParaRPr sz="2000" dirty="0"/>
          </a:p>
          <a:p>
            <a:pPr marL="457200" lvl="0" indent="-355600" algn="l" rtl="0">
              <a:lnSpc>
                <a:spcPct val="115000"/>
              </a:lnSpc>
              <a:spcBef>
                <a:spcPts val="0"/>
              </a:spcBef>
              <a:spcAft>
                <a:spcPts val="0"/>
              </a:spcAft>
              <a:buSzPts val="2000"/>
              <a:buChar char="●"/>
            </a:pPr>
            <a:r>
              <a:rPr lang="en-US" sz="2000" dirty="0"/>
              <a:t>Standardized processes and methodologies helped predictive analytics to become a scientific practice</a:t>
            </a:r>
            <a:endParaRPr sz="2000" dirty="0"/>
          </a:p>
          <a:p>
            <a:pPr marL="457200" lvl="0" indent="-355600" algn="l" rtl="0">
              <a:lnSpc>
                <a:spcPct val="115000"/>
              </a:lnSpc>
              <a:spcBef>
                <a:spcPts val="0"/>
              </a:spcBef>
              <a:spcAft>
                <a:spcPts val="0"/>
              </a:spcAft>
              <a:buSzPts val="2000"/>
              <a:buChar char="●"/>
            </a:pPr>
            <a:r>
              <a:rPr lang="en-US" sz="2000" dirty="0"/>
              <a:t>Much more is needed to reach the scientific state</a:t>
            </a:r>
            <a:endParaRPr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0"/>
          <p:cNvSpPr txBox="1"/>
          <p:nvPr/>
        </p:nvSpPr>
        <p:spPr>
          <a:xfrm>
            <a:off x="453007" y="171975"/>
            <a:ext cx="82128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Q&amp;A</a:t>
            </a:r>
            <a:endParaRPr sz="4200" b="0" i="0" u="none" strike="noStrike" cap="none">
              <a:solidFill>
                <a:srgbClr val="0064A4"/>
              </a:solidFill>
              <a:latin typeface="Economica"/>
              <a:ea typeface="Economica"/>
              <a:cs typeface="Economica"/>
              <a:sym typeface="Economica"/>
            </a:endParaRPr>
          </a:p>
        </p:txBody>
      </p:sp>
      <p:sp>
        <p:nvSpPr>
          <p:cNvPr id="141" name="Google Shape;141;p30"/>
          <p:cNvSpPr txBox="1"/>
          <p:nvPr/>
        </p:nvSpPr>
        <p:spPr>
          <a:xfrm>
            <a:off x="453000" y="1323026"/>
            <a:ext cx="3441000" cy="5069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rgbClr val="000000"/>
              </a:buClr>
              <a:buSzPts val="2800"/>
              <a:buFont typeface="Arial"/>
              <a:buNone/>
            </a:pPr>
            <a:r>
              <a:rPr lang="en-US" sz="2800" b="0" i="0" u="none" strike="noStrike" cap="none">
                <a:solidFill>
                  <a:srgbClr val="000000"/>
                </a:solidFill>
                <a:latin typeface="Open Sans"/>
                <a:ea typeface="Open Sans"/>
                <a:cs typeface="Open Sans"/>
                <a:sym typeface="Open Sans"/>
              </a:rPr>
              <a:t>What questions and comments do you have?</a:t>
            </a:r>
            <a:endParaRPr sz="2800" b="0" i="0" u="none" strike="noStrike" cap="none">
              <a:solidFill>
                <a:srgbClr val="000000"/>
              </a:solidFill>
              <a:latin typeface="Open Sans"/>
              <a:ea typeface="Open Sans"/>
              <a:cs typeface="Open Sans"/>
              <a:sym typeface="Open Sans"/>
            </a:endParaRPr>
          </a:p>
        </p:txBody>
      </p:sp>
      <p:pic>
        <p:nvPicPr>
          <p:cNvPr id="142" name="Google Shape;142;p30"/>
          <p:cNvPicPr preferRelativeResize="0"/>
          <p:nvPr/>
        </p:nvPicPr>
        <p:blipFill rotWithShape="1">
          <a:blip r:embed="rId3">
            <a:alphaModFix/>
          </a:blip>
          <a:srcRect/>
          <a:stretch/>
        </p:blipFill>
        <p:spPr>
          <a:xfrm>
            <a:off x="3914796" y="1590414"/>
            <a:ext cx="4278656" cy="442499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6"/>
          <p:cNvSpPr txBox="1">
            <a:spLocks noGrp="1"/>
          </p:cNvSpPr>
          <p:nvPr>
            <p:ph type="title"/>
          </p:nvPr>
        </p:nvSpPr>
        <p:spPr>
          <a:xfrm>
            <a:off x="453000" y="171975"/>
            <a:ext cx="8241900" cy="1572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100000"/>
              <a:buFont typeface="Calibri"/>
              <a:buNone/>
            </a:pPr>
            <a:r>
              <a:rPr lang="en-US" sz="4400" b="0" dirty="0">
                <a:solidFill>
                  <a:srgbClr val="0064A4"/>
                </a:solidFill>
                <a:highlight>
                  <a:srgbClr val="FFC000"/>
                </a:highlight>
              </a:rPr>
              <a:t>Application Case:</a:t>
            </a:r>
            <a:br>
              <a:rPr lang="en-US" sz="4400" b="0" dirty="0">
                <a:solidFill>
                  <a:srgbClr val="0064A4"/>
                </a:solidFill>
                <a:highlight>
                  <a:srgbClr val="FFC000"/>
                </a:highlight>
              </a:rPr>
            </a:br>
            <a:r>
              <a:rPr lang="en-US" sz="4000" b="0" dirty="0">
                <a:solidFill>
                  <a:srgbClr val="0064A4"/>
                </a:solidFill>
                <a:highlight>
                  <a:srgbClr val="FFC000"/>
                </a:highlight>
              </a:rPr>
              <a:t>To Imprison or Not to Imprison—A Predictive Analytics-Based DSS for Drug Courts</a:t>
            </a:r>
            <a:endParaRPr b="0" dirty="0">
              <a:solidFill>
                <a:srgbClr val="0064A4"/>
              </a:solidFill>
              <a:highlight>
                <a:srgbClr val="FFC000"/>
              </a:highlight>
            </a:endParaRPr>
          </a:p>
        </p:txBody>
      </p:sp>
      <p:sp>
        <p:nvSpPr>
          <p:cNvPr id="129" name="Google Shape;129;p26"/>
          <p:cNvSpPr txBox="1">
            <a:spLocks noGrp="1"/>
          </p:cNvSpPr>
          <p:nvPr>
            <p:ph type="body" idx="1"/>
          </p:nvPr>
        </p:nvSpPr>
        <p:spPr>
          <a:xfrm>
            <a:off x="453000" y="2025000"/>
            <a:ext cx="8493900" cy="4390500"/>
          </a:xfrm>
          <a:prstGeom prst="rect">
            <a:avLst/>
          </a:prstGeom>
          <a:noFill/>
          <a:ln>
            <a:noFill/>
          </a:ln>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SzPts val="2200"/>
              <a:buChar char="●"/>
            </a:pPr>
            <a:r>
              <a:rPr lang="en-US" sz="2200" dirty="0"/>
              <a:t>Use of predictive analytic in social context for behavioral problems has been rare, at best</a:t>
            </a:r>
            <a:endParaRPr sz="2200" dirty="0"/>
          </a:p>
          <a:p>
            <a:pPr marL="457200" lvl="0" indent="-368300" algn="l" rtl="0">
              <a:lnSpc>
                <a:spcPct val="115000"/>
              </a:lnSpc>
              <a:spcBef>
                <a:spcPts val="0"/>
              </a:spcBef>
              <a:spcAft>
                <a:spcPts val="0"/>
              </a:spcAft>
              <a:buSzPts val="2200"/>
              <a:buChar char="●"/>
            </a:pPr>
            <a:r>
              <a:rPr lang="en-US" sz="2200" dirty="0"/>
              <a:t>As the digitized data become readily available, these domains have also ventured into discovering new and actionable insight via predictive analytics and data science</a:t>
            </a:r>
            <a:endParaRPr sz="2200" dirty="0"/>
          </a:p>
          <a:p>
            <a:pPr marL="457200" lvl="0" indent="-368300" algn="l" rtl="0">
              <a:lnSpc>
                <a:spcPct val="115000"/>
              </a:lnSpc>
              <a:spcBef>
                <a:spcPts val="0"/>
              </a:spcBef>
              <a:spcAft>
                <a:spcPts val="0"/>
              </a:spcAft>
              <a:buSzPts val="2200"/>
              <a:buChar char="●"/>
            </a:pPr>
            <a:r>
              <a:rPr lang="en-US" sz="2200" dirty="0"/>
              <a:t>In this application case, a large and feature rich data is used to develop decision support systems for drug courts</a:t>
            </a:r>
            <a:endParaRPr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9"/>
          <p:cNvSpPr txBox="1"/>
          <p:nvPr/>
        </p:nvSpPr>
        <p:spPr>
          <a:xfrm>
            <a:off x="453000" y="171975"/>
            <a:ext cx="8261400" cy="8850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200"/>
              <a:buFont typeface="Arial"/>
              <a:buNone/>
            </a:pPr>
            <a:r>
              <a:rPr lang="en-US" sz="4200" b="0" i="0" u="none" strike="noStrike" cap="none">
                <a:solidFill>
                  <a:srgbClr val="0064A4"/>
                </a:solidFill>
                <a:latin typeface="Economica"/>
                <a:ea typeface="Economica"/>
                <a:cs typeface="Economica"/>
                <a:sym typeface="Economica"/>
              </a:rPr>
              <a:t>Demo: </a:t>
            </a:r>
            <a:endParaRPr sz="4200" b="0" i="0" u="none" strike="noStrike" cap="none">
              <a:solidFill>
                <a:srgbClr val="0064A4"/>
              </a:solidFill>
              <a:latin typeface="Economica"/>
              <a:ea typeface="Economica"/>
              <a:cs typeface="Economica"/>
              <a:sym typeface="Economica"/>
            </a:endParaRPr>
          </a:p>
        </p:txBody>
      </p:sp>
      <p:sp>
        <p:nvSpPr>
          <p:cNvPr id="135" name="Google Shape;135;p29"/>
          <p:cNvSpPr txBox="1"/>
          <p:nvPr/>
        </p:nvSpPr>
        <p:spPr>
          <a:xfrm>
            <a:off x="453000" y="1308075"/>
            <a:ext cx="8238600" cy="50844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1800"/>
              </a:spcBef>
              <a:spcAft>
                <a:spcPts val="0"/>
              </a:spcAft>
              <a:buClr>
                <a:srgbClr val="000000"/>
              </a:buClr>
              <a:buSzPts val="2200"/>
              <a:buFont typeface="Arial"/>
              <a:buNone/>
            </a:pPr>
            <a:r>
              <a:rPr lang="en-US" sz="2200" b="1" i="0" u="none" strike="noStrike" cap="none">
                <a:solidFill>
                  <a:srgbClr val="000000"/>
                </a:solidFill>
                <a:latin typeface="Open Sans"/>
                <a:ea typeface="Open Sans"/>
                <a:cs typeface="Open Sans"/>
                <a:sym typeface="Open Sans"/>
              </a:rPr>
              <a:t>Topics</a:t>
            </a:r>
            <a:endParaRPr sz="2200" b="1" i="0" u="none" strike="noStrike" cap="none">
              <a:solidFill>
                <a:srgbClr val="000000"/>
              </a:solidFill>
              <a:latin typeface="Open Sans"/>
              <a:ea typeface="Open Sans"/>
              <a:cs typeface="Open Sans"/>
              <a:sym typeface="Open Sans"/>
            </a:endParaRPr>
          </a:p>
          <a:p>
            <a:pPr marL="88900" marR="0" lvl="0" indent="-88900" algn="l" rtl="0">
              <a:lnSpc>
                <a:spcPct val="115000"/>
              </a:lnSpc>
              <a:spcBef>
                <a:spcPts val="0"/>
              </a:spcBef>
              <a:spcAft>
                <a:spcPts val="0"/>
              </a:spcAft>
              <a:buClr>
                <a:schemeClr val="dk1"/>
              </a:buClr>
              <a:buSzPts val="2200"/>
              <a:buFont typeface="Open Sans"/>
              <a:buChar char="●"/>
            </a:pPr>
            <a:endParaRPr sz="2200" b="0" i="0" u="none" strike="noStrike" cap="none">
              <a:solidFill>
                <a:schemeClr val="dk1"/>
              </a:solidFill>
              <a:latin typeface="Open Sans"/>
              <a:ea typeface="Open Sans"/>
              <a:cs typeface="Open Sans"/>
              <a:sym typeface="Open Sans"/>
            </a:endParaRPr>
          </a:p>
          <a:p>
            <a:pPr marL="88900" marR="0" lvl="0" indent="-88900" algn="l" rtl="0">
              <a:lnSpc>
                <a:spcPct val="115000"/>
              </a:lnSpc>
              <a:spcBef>
                <a:spcPts val="600"/>
              </a:spcBef>
              <a:spcAft>
                <a:spcPts val="60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Student Q&amp;A</a:t>
            </a:r>
            <a:endParaRPr sz="2200" b="0" i="0" u="none" strike="noStrike" cap="non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1301</Words>
  <Application>Microsoft Office PowerPoint</Application>
  <PresentationFormat>On-screen Show (4:3)</PresentationFormat>
  <Paragraphs>185</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Calibri</vt:lpstr>
      <vt:lpstr>charter</vt:lpstr>
      <vt:lpstr>Economica</vt:lpstr>
      <vt:lpstr>Arial</vt:lpstr>
      <vt:lpstr>Verdana</vt:lpstr>
      <vt:lpstr>Open Sans</vt:lpstr>
      <vt:lpstr>Wingdings</vt:lpstr>
      <vt:lpstr>luxe</vt:lpstr>
      <vt:lpstr>Introduction to Predictive Analytics</vt:lpstr>
      <vt:lpstr>Learning Goals</vt:lpstr>
      <vt:lpstr>Predictive Analytics</vt:lpstr>
      <vt:lpstr>Example Questions Across Industry</vt:lpstr>
      <vt:lpstr>Business Questions to Answer </vt:lpstr>
      <vt:lpstr>Predictive Analytics - Techniques &amp; Methodologies</vt:lpstr>
      <vt:lpstr>Predictive Analytics - Techniques &amp; Methodologies</vt:lpstr>
      <vt:lpstr>Regression VS Classification</vt:lpstr>
      <vt:lpstr>Regression VS Classification</vt:lpstr>
      <vt:lpstr>Predictive Analytics - Techniques &amp; Methodologies</vt:lpstr>
      <vt:lpstr>Good Reference</vt:lpstr>
      <vt:lpstr>Business Challenges</vt:lpstr>
      <vt:lpstr>Bias-Variance Tradeoff (BVT)</vt:lpstr>
      <vt:lpstr>Bias-Variance Tradeoff (BVT)</vt:lpstr>
      <vt:lpstr>Business Challenges</vt:lpstr>
      <vt:lpstr>Business Challenges</vt:lpstr>
      <vt:lpstr>Bias-Variance Tradeoff (BVT)</vt:lpstr>
      <vt:lpstr>Linear Regression (LR)</vt:lpstr>
      <vt:lpstr>Logistic Regression</vt:lpstr>
      <vt:lpstr>Achieving Business Goals with Predictive Analytics</vt:lpstr>
      <vt:lpstr>Achieving Business Goals with Predictive Analytics</vt:lpstr>
      <vt:lpstr>Advanced Topics in Predictive Modeling</vt:lpstr>
      <vt:lpstr>PowerPoint Presentation</vt:lpstr>
      <vt:lpstr>Application Case: To Imprison or Not to Imprison—A Predictive Analytics-Based DSS for Drug Courts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Predictive Analytics</dc:title>
  <dc:creator>Delen, Dursun</dc:creator>
  <cp:lastModifiedBy>Hasan Hboubati</cp:lastModifiedBy>
  <cp:revision>1</cp:revision>
  <dcterms:created xsi:type="dcterms:W3CDTF">2020-12-30T20:16:28Z</dcterms:created>
  <dcterms:modified xsi:type="dcterms:W3CDTF">2022-01-09T19:47:38Z</dcterms:modified>
</cp:coreProperties>
</file>