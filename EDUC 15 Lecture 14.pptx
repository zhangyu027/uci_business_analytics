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1"/>
  </p:notesMasterIdLst>
  <p:handoutMasterIdLst>
    <p:handoutMasterId r:id="rId22"/>
  </p:handoutMasterIdLst>
  <p:sldIdLst>
    <p:sldId id="343" r:id="rId2"/>
    <p:sldId id="414" r:id="rId3"/>
    <p:sldId id="429" r:id="rId4"/>
    <p:sldId id="430" r:id="rId5"/>
    <p:sldId id="431" r:id="rId6"/>
    <p:sldId id="432" r:id="rId7"/>
    <p:sldId id="433" r:id="rId8"/>
    <p:sldId id="435" r:id="rId9"/>
    <p:sldId id="437" r:id="rId10"/>
    <p:sldId id="438" r:id="rId11"/>
    <p:sldId id="440" r:id="rId12"/>
    <p:sldId id="439" r:id="rId13"/>
    <p:sldId id="443" r:id="rId14"/>
    <p:sldId id="444" r:id="rId15"/>
    <p:sldId id="445" r:id="rId16"/>
    <p:sldId id="446" r:id="rId17"/>
    <p:sldId id="448" r:id="rId18"/>
    <p:sldId id="450" r:id="rId19"/>
    <p:sldId id="452"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713D032-AA24-8E4D-BF03-2344AF116CEE}">
          <p14:sldIdLst>
            <p14:sldId id="343"/>
            <p14:sldId id="414"/>
            <p14:sldId id="429"/>
            <p14:sldId id="430"/>
            <p14:sldId id="431"/>
            <p14:sldId id="432"/>
            <p14:sldId id="433"/>
            <p14:sldId id="435"/>
            <p14:sldId id="437"/>
            <p14:sldId id="438"/>
            <p14:sldId id="440"/>
            <p14:sldId id="439"/>
            <p14:sldId id="443"/>
            <p14:sldId id="444"/>
            <p14:sldId id="445"/>
            <p14:sldId id="446"/>
            <p14:sldId id="448"/>
            <p14:sldId id="450"/>
            <p14:sldId id="452"/>
          </p14:sldIdLst>
        </p14:section>
      </p14:sectionLst>
    </p:ext>
    <p:ext uri="{EFAFB233-063F-42B5-8137-9DF3F51BA10A}">
      <p15:sldGuideLst xmlns:p15="http://schemas.microsoft.com/office/powerpoint/2012/main">
        <p15:guide id="1" orient="horz" pos="2160">
          <p15:clr>
            <a:srgbClr val="A4A3A4"/>
          </p15:clr>
        </p15:guide>
        <p15:guide id="2" pos="249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55"/>
    <p:restoredTop sz="85822" autoAdjust="0"/>
  </p:normalViewPr>
  <p:slideViewPr>
    <p:cSldViewPr snapToObjects="1">
      <p:cViewPr varScale="1">
        <p:scale>
          <a:sx n="97" d="100"/>
          <a:sy n="97" d="100"/>
        </p:scale>
        <p:origin x="2024" y="200"/>
      </p:cViewPr>
      <p:guideLst>
        <p:guide orient="horz" pos="2160"/>
        <p:guide pos="249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961FEE5-1305-784E-BA62-113D72704B0B}" type="datetimeFigureOut">
              <a:rPr lang="en-US" smtClean="0"/>
              <a:t>6/25/22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05CA512-04E1-8342-A675-F2A097BC78D2}" type="slidenum">
              <a:rPr lang="en-US" smtClean="0"/>
              <a:t>‹#›</a:t>
            </a:fld>
            <a:endParaRPr lang="en-US"/>
          </a:p>
        </p:txBody>
      </p:sp>
    </p:spTree>
    <p:extLst>
      <p:ext uri="{BB962C8B-B14F-4D97-AF65-F5344CB8AC3E}">
        <p14:creationId xmlns:p14="http://schemas.microsoft.com/office/powerpoint/2010/main" val="4084510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3642C3C-A442-6749-909E-00F0618618A4}" type="datetimeFigureOut">
              <a:rPr lang="en-US" smtClean="0"/>
              <a:t>6/25/22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15970D5-5BB9-7D45-B0E8-45D02E74FB57}" type="slidenum">
              <a:rPr lang="en-US" smtClean="0"/>
              <a:t>‹#›</a:t>
            </a:fld>
            <a:endParaRPr lang="en-US"/>
          </a:p>
        </p:txBody>
      </p:sp>
    </p:spTree>
    <p:extLst>
      <p:ext uri="{BB962C8B-B14F-4D97-AF65-F5344CB8AC3E}">
        <p14:creationId xmlns:p14="http://schemas.microsoft.com/office/powerpoint/2010/main" val="6791761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www.pewresearch.org</a:t>
            </a:r>
            <a:r>
              <a:rPr lang="en-US" dirty="0"/>
              <a:t>/fact-tank/2016/11/09/why-2016-election-polls-missed-their-mark/</a:t>
            </a:r>
          </a:p>
        </p:txBody>
      </p:sp>
      <p:sp>
        <p:nvSpPr>
          <p:cNvPr id="4" name="Slide Number Placeholder 3"/>
          <p:cNvSpPr>
            <a:spLocks noGrp="1"/>
          </p:cNvSpPr>
          <p:nvPr>
            <p:ph type="sldNum" sz="quarter" idx="10"/>
          </p:nvPr>
        </p:nvSpPr>
        <p:spPr/>
        <p:txBody>
          <a:bodyPr/>
          <a:lstStyle/>
          <a:p>
            <a:fld id="{D15970D5-5BB9-7D45-B0E8-45D02E74FB57}" type="slidenum">
              <a:rPr lang="en-US" smtClean="0"/>
              <a:t>1</a:t>
            </a:fld>
            <a:endParaRPr lang="en-US"/>
          </a:p>
        </p:txBody>
      </p:sp>
    </p:spTree>
    <p:extLst>
      <p:ext uri="{BB962C8B-B14F-4D97-AF65-F5344CB8AC3E}">
        <p14:creationId xmlns:p14="http://schemas.microsoft.com/office/powerpoint/2010/main" val="2393682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11115458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15970D5-5BB9-7D45-B0E8-45D02E74FB57}" type="slidenum">
              <a:rPr lang="en-US" smtClean="0"/>
              <a:t>4</a:t>
            </a:fld>
            <a:endParaRPr lang="en-US"/>
          </a:p>
        </p:txBody>
      </p:sp>
    </p:spTree>
    <p:extLst>
      <p:ext uri="{BB962C8B-B14F-4D97-AF65-F5344CB8AC3E}">
        <p14:creationId xmlns:p14="http://schemas.microsoft.com/office/powerpoint/2010/main" val="1917491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15970D5-5BB9-7D45-B0E8-45D02E74FB57}" type="slidenum">
              <a:rPr lang="en-US" smtClean="0"/>
              <a:t>5</a:t>
            </a:fld>
            <a:endParaRPr lang="en-US"/>
          </a:p>
        </p:txBody>
      </p:sp>
    </p:spTree>
    <p:extLst>
      <p:ext uri="{BB962C8B-B14F-4D97-AF65-F5344CB8AC3E}">
        <p14:creationId xmlns:p14="http://schemas.microsoft.com/office/powerpoint/2010/main" val="11816614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21737239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15970D5-5BB9-7D45-B0E8-45D02E74FB57}" type="slidenum">
              <a:rPr lang="en-US" smtClean="0"/>
              <a:t>14</a:t>
            </a:fld>
            <a:endParaRPr lang="en-US"/>
          </a:p>
        </p:txBody>
      </p:sp>
    </p:spTree>
    <p:extLst>
      <p:ext uri="{BB962C8B-B14F-4D97-AF65-F5344CB8AC3E}">
        <p14:creationId xmlns:p14="http://schemas.microsoft.com/office/powerpoint/2010/main" val="24652967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15970D5-5BB9-7D45-B0E8-45D02E74FB57}" type="slidenum">
              <a:rPr lang="en-US" smtClean="0"/>
              <a:t>15</a:t>
            </a:fld>
            <a:endParaRPr lang="en-US"/>
          </a:p>
        </p:txBody>
      </p:sp>
    </p:spTree>
    <p:extLst>
      <p:ext uri="{BB962C8B-B14F-4D97-AF65-F5344CB8AC3E}">
        <p14:creationId xmlns:p14="http://schemas.microsoft.com/office/powerpoint/2010/main" val="28915798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15970D5-5BB9-7D45-B0E8-45D02E74FB57}" type="slidenum">
              <a:rPr lang="en-US" smtClean="0"/>
              <a:t>16</a:t>
            </a:fld>
            <a:endParaRPr lang="en-US"/>
          </a:p>
        </p:txBody>
      </p:sp>
    </p:spTree>
    <p:extLst>
      <p:ext uri="{BB962C8B-B14F-4D97-AF65-F5344CB8AC3E}">
        <p14:creationId xmlns:p14="http://schemas.microsoft.com/office/powerpoint/2010/main" val="26968388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15970D5-5BB9-7D45-B0E8-45D02E74FB57}" type="slidenum">
              <a:rPr lang="en-US" smtClean="0"/>
              <a:t>17</a:t>
            </a:fld>
            <a:endParaRPr lang="en-US"/>
          </a:p>
        </p:txBody>
      </p:sp>
    </p:spTree>
    <p:extLst>
      <p:ext uri="{BB962C8B-B14F-4D97-AF65-F5344CB8AC3E}">
        <p14:creationId xmlns:p14="http://schemas.microsoft.com/office/powerpoint/2010/main" val="520358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15970D5-5BB9-7D45-B0E8-45D02E74FB57}" type="slidenum">
              <a:rPr lang="en-US" smtClean="0"/>
              <a:t>19</a:t>
            </a:fld>
            <a:endParaRPr lang="en-US"/>
          </a:p>
        </p:txBody>
      </p:sp>
    </p:spTree>
    <p:extLst>
      <p:ext uri="{BB962C8B-B14F-4D97-AF65-F5344CB8AC3E}">
        <p14:creationId xmlns:p14="http://schemas.microsoft.com/office/powerpoint/2010/main" val="1944493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8466E6-B2FB-AE46-8302-5AA2D9A54148}" type="datetimeFigureOut">
              <a:rPr lang="en-US" smtClean="0"/>
              <a:t>6/25/22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4F3DB5-2667-AB47-8E6C-FDA5276CAE7D}" type="slidenum">
              <a:rPr lang="en-US" smtClean="0"/>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8466E6-B2FB-AE46-8302-5AA2D9A54148}" type="datetimeFigureOut">
              <a:rPr lang="en-US" smtClean="0"/>
              <a:t>6/25/22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4F3DB5-2667-AB47-8E6C-FDA5276CAE7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8466E6-B2FB-AE46-8302-5AA2D9A54148}" type="datetimeFigureOut">
              <a:rPr lang="en-US" smtClean="0"/>
              <a:t>6/25/22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4F3DB5-2667-AB47-8E6C-FDA5276CAE7D}" type="slidenum">
              <a:rPr lang="en-US" smtClean="0"/>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8466E6-B2FB-AE46-8302-5AA2D9A54148}" type="datetimeFigureOut">
              <a:rPr lang="en-US" smtClean="0"/>
              <a:t>6/25/22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4F3DB5-2667-AB47-8E6C-FDA5276CAE7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8466E6-B2FB-AE46-8302-5AA2D9A54148}" type="datetimeFigureOut">
              <a:rPr lang="en-US" smtClean="0"/>
              <a:t>6/25/22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4F3DB5-2667-AB47-8E6C-FDA5276CAE7D}" type="slidenum">
              <a:rPr lang="en-US" smtClean="0"/>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8466E6-B2FB-AE46-8302-5AA2D9A54148}" type="datetimeFigureOut">
              <a:rPr lang="en-US" smtClean="0"/>
              <a:t>6/25/22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4F3DB5-2667-AB47-8E6C-FDA5276CAE7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8466E6-B2FB-AE46-8302-5AA2D9A54148}" type="datetimeFigureOut">
              <a:rPr lang="en-US" smtClean="0"/>
              <a:t>6/25/22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4F3DB5-2667-AB47-8E6C-FDA5276CAE7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8466E6-B2FB-AE46-8302-5AA2D9A54148}" type="datetimeFigureOut">
              <a:rPr lang="en-US" smtClean="0"/>
              <a:t>6/25/22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4F3DB5-2667-AB47-8E6C-FDA5276CAE7D}" type="slidenum">
              <a:rPr lang="en-US" smtClean="0"/>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8466E6-B2FB-AE46-8302-5AA2D9A54148}" type="datetimeFigureOut">
              <a:rPr lang="en-US" smtClean="0"/>
              <a:t>6/25/22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4F3DB5-2667-AB47-8E6C-FDA5276CAE7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8466E6-B2FB-AE46-8302-5AA2D9A54148}" type="datetimeFigureOut">
              <a:rPr lang="en-US" smtClean="0"/>
              <a:t>6/25/22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4F3DB5-2667-AB47-8E6C-FDA5276CAE7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8466E6-B2FB-AE46-8302-5AA2D9A54148}" type="datetimeFigureOut">
              <a:rPr lang="en-US" smtClean="0"/>
              <a:t>6/25/22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4F3DB5-2667-AB47-8E6C-FDA5276CAE7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628466E6-B2FB-AE46-8302-5AA2D9A54148}" type="datetimeFigureOut">
              <a:rPr lang="en-US" smtClean="0"/>
              <a:t>6/25/22</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9C4F3DB5-2667-AB47-8E6C-FDA5276CAE7D}" type="slidenum">
              <a:rPr lang="en-US" smtClean="0"/>
              <a:t>‹#›</a:t>
            </a:fld>
            <a:endParaRPr lang="en-US"/>
          </a:p>
        </p:txBody>
      </p:sp>
      <p:pic>
        <p:nvPicPr>
          <p:cNvPr id="8" name="Picture 7">
            <a:extLst>
              <a:ext uri="{FF2B5EF4-FFF2-40B4-BE49-F238E27FC236}">
                <a16:creationId xmlns:a16="http://schemas.microsoft.com/office/drawing/2014/main" id="{470285FF-448B-0C4F-9845-81EB04BBCEC7}"/>
              </a:ext>
            </a:extLst>
          </p:cNvPr>
          <p:cNvPicPr>
            <a:picLocks noChangeAspect="1"/>
          </p:cNvPicPr>
          <p:nvPr userDrawn="1"/>
        </p:nvPicPr>
        <p:blipFill>
          <a:blip r:embed="rId13"/>
          <a:stretch>
            <a:fillRect/>
          </a:stretch>
        </p:blipFill>
        <p:spPr>
          <a:xfrm>
            <a:off x="7647344" y="6588699"/>
            <a:ext cx="1467612" cy="189159"/>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youtu.be/mJ63-bQc9Xg?t=3m4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400" dirty="0"/>
              <a:t>EDUC 15: Statistics for education research</a:t>
            </a:r>
          </a:p>
        </p:txBody>
      </p:sp>
      <p:sp>
        <p:nvSpPr>
          <p:cNvPr id="3" name="Subtitle 2"/>
          <p:cNvSpPr>
            <a:spLocks noGrp="1"/>
          </p:cNvSpPr>
          <p:nvPr>
            <p:ph type="subTitle" idx="1"/>
          </p:nvPr>
        </p:nvSpPr>
        <p:spPr>
          <a:xfrm>
            <a:off x="595947" y="4533659"/>
            <a:ext cx="7997825" cy="932688"/>
          </a:xfrm>
        </p:spPr>
        <p:txBody>
          <a:bodyPr>
            <a:normAutofit fontScale="25000" lnSpcReduction="20000"/>
          </a:bodyPr>
          <a:lstStyle/>
          <a:p>
            <a:pPr algn="ctr"/>
            <a:r>
              <a:rPr lang="en-US" sz="7200" b="1" dirty="0">
                <a:solidFill>
                  <a:schemeClr val="accent5"/>
                </a:solidFill>
              </a:rPr>
              <a:t>Lecture 16</a:t>
            </a:r>
          </a:p>
          <a:p>
            <a:pPr algn="ctr"/>
            <a:r>
              <a:rPr lang="en-US" sz="7200" b="1" dirty="0">
                <a:solidFill>
                  <a:schemeClr val="accent5"/>
                </a:solidFill>
              </a:rPr>
              <a:t>School of Education</a:t>
            </a:r>
          </a:p>
          <a:p>
            <a:pPr algn="ctr"/>
            <a:r>
              <a:rPr lang="en-US" sz="7200" b="1" dirty="0">
                <a:solidFill>
                  <a:schemeClr val="accent5"/>
                </a:solidFill>
              </a:rPr>
              <a:t>UCI</a:t>
            </a:r>
          </a:p>
          <a:p>
            <a:pPr algn="ctr"/>
            <a:endParaRPr lang="en-US" dirty="0"/>
          </a:p>
        </p:txBody>
      </p:sp>
    </p:spTree>
    <p:extLst>
      <p:ext uri="{BB962C8B-B14F-4D97-AF65-F5344CB8AC3E}">
        <p14:creationId xmlns:p14="http://schemas.microsoft.com/office/powerpoint/2010/main" val="2286323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Regression Equation </a:t>
            </a:r>
            <a:br>
              <a:rPr lang="en-US" dirty="0"/>
            </a:br>
            <a:r>
              <a:rPr lang="en-US" dirty="0"/>
              <a:t>with One Predictor</a:t>
            </a:r>
          </a:p>
        </p:txBody>
      </p:sp>
      <p:sp>
        <p:nvSpPr>
          <p:cNvPr id="3" name="Content Placeholder 2"/>
          <p:cNvSpPr>
            <a:spLocks noGrp="1"/>
          </p:cNvSpPr>
          <p:nvPr>
            <p:ph idx="1"/>
          </p:nvPr>
        </p:nvSpPr>
        <p:spPr/>
        <p:txBody>
          <a:bodyPr>
            <a:noAutofit/>
          </a:bodyPr>
          <a:lstStyle/>
          <a:p>
            <a:pPr>
              <a:buNone/>
            </a:pPr>
            <a:r>
              <a:rPr lang="en-US" sz="2400" dirty="0"/>
              <a:t>A </a:t>
            </a:r>
            <a:r>
              <a:rPr lang="en-US" sz="2400" dirty="0" err="1"/>
              <a:t>bivariate</a:t>
            </a:r>
            <a:r>
              <a:rPr lang="en-US" sz="2400" dirty="0"/>
              <a:t> or simple regression is used when one predictor variable is used to predict the criterion variable.</a:t>
            </a:r>
          </a:p>
          <a:p>
            <a:pPr algn="ctr">
              <a:buNone/>
            </a:pPr>
            <a:endParaRPr lang="en-US" sz="2400" i="1" dirty="0"/>
          </a:p>
          <a:p>
            <a:pPr algn="ctr">
              <a:buNone/>
            </a:pPr>
            <a:r>
              <a:rPr lang="en-US" sz="3600" i="1" dirty="0"/>
              <a:t>y’ = a + </a:t>
            </a:r>
            <a:r>
              <a:rPr lang="en-US" sz="3600" i="1" dirty="0" err="1"/>
              <a:t>bx</a:t>
            </a:r>
            <a:endParaRPr lang="en-US" sz="2400" i="1" dirty="0"/>
          </a:p>
          <a:p>
            <a:pPr>
              <a:buNone/>
            </a:pPr>
            <a:endParaRPr lang="en-US" sz="2400" b="1" dirty="0"/>
          </a:p>
          <a:p>
            <a:pPr>
              <a:buNone/>
            </a:pPr>
            <a:r>
              <a:rPr lang="en-US" sz="2400" dirty="0"/>
              <a:t>Where </a:t>
            </a:r>
            <a:r>
              <a:rPr lang="en-US" sz="2400" i="1" dirty="0"/>
              <a:t>y’</a:t>
            </a:r>
            <a:r>
              <a:rPr lang="en-US" sz="2400" dirty="0"/>
              <a:t> = the predicted value of the criterion variable</a:t>
            </a:r>
          </a:p>
          <a:p>
            <a:pPr>
              <a:buNone/>
            </a:pPr>
            <a:r>
              <a:rPr lang="en-US" sz="2400" i="1" dirty="0"/>
              <a:t>	a</a:t>
            </a:r>
            <a:r>
              <a:rPr lang="en-US" sz="2400" dirty="0"/>
              <a:t> = the intercept</a:t>
            </a:r>
          </a:p>
          <a:p>
            <a:pPr>
              <a:buNone/>
            </a:pPr>
            <a:r>
              <a:rPr lang="en-US" sz="2400" i="1" dirty="0"/>
              <a:t>	b</a:t>
            </a:r>
            <a:r>
              <a:rPr lang="en-US" sz="2400" dirty="0"/>
              <a:t> = the slope of the regression line</a:t>
            </a:r>
          </a:p>
          <a:p>
            <a:pPr>
              <a:buNone/>
            </a:pPr>
            <a:r>
              <a:rPr lang="en-US" sz="2400" i="1" dirty="0"/>
              <a:t>	x</a:t>
            </a:r>
            <a:r>
              <a:rPr lang="en-US" sz="2400" dirty="0"/>
              <a:t> = the value of the predictor variable</a:t>
            </a:r>
          </a:p>
        </p:txBody>
      </p:sp>
    </p:spTree>
    <p:extLst>
      <p:ext uri="{BB962C8B-B14F-4D97-AF65-F5344CB8AC3E}">
        <p14:creationId xmlns:p14="http://schemas.microsoft.com/office/powerpoint/2010/main" val="3941287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Regression</a:t>
            </a:r>
          </a:p>
        </p:txBody>
      </p:sp>
      <p:sp>
        <p:nvSpPr>
          <p:cNvPr id="3" name="Content Placeholder 2"/>
          <p:cNvSpPr>
            <a:spLocks noGrp="1"/>
          </p:cNvSpPr>
          <p:nvPr>
            <p:ph idx="1"/>
          </p:nvPr>
        </p:nvSpPr>
        <p:spPr>
          <a:xfrm>
            <a:off x="457200" y="1447800"/>
            <a:ext cx="8229600" cy="4876800"/>
          </a:xfrm>
        </p:spPr>
        <p:txBody>
          <a:bodyPr/>
          <a:lstStyle/>
          <a:p>
            <a:r>
              <a:rPr lang="en-US" dirty="0"/>
              <a:t>Adds predictors to “control” for additional sources of variation</a:t>
            </a:r>
          </a:p>
        </p:txBody>
      </p:sp>
      <p:sp>
        <p:nvSpPr>
          <p:cNvPr id="4" name="Oval 3"/>
          <p:cNvSpPr/>
          <p:nvPr/>
        </p:nvSpPr>
        <p:spPr>
          <a:xfrm>
            <a:off x="3200400" y="2286000"/>
            <a:ext cx="2514600" cy="25146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2696584" y="3086100"/>
            <a:ext cx="2286000" cy="2286000"/>
          </a:xfrm>
          <a:prstGeom prst="ellipse">
            <a:avLst/>
          </a:prstGeom>
          <a:solidFill>
            <a:srgbClr val="FFFF00">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3839584" y="2623066"/>
            <a:ext cx="1600200" cy="369332"/>
          </a:xfrm>
          <a:prstGeom prst="rect">
            <a:avLst/>
          </a:prstGeom>
          <a:noFill/>
        </p:spPr>
        <p:txBody>
          <a:bodyPr wrap="square" rtlCol="0">
            <a:spAutoFit/>
          </a:bodyPr>
          <a:lstStyle/>
          <a:p>
            <a:r>
              <a:rPr lang="en-US" dirty="0"/>
              <a:t>Y (outcome)</a:t>
            </a:r>
          </a:p>
        </p:txBody>
      </p:sp>
      <p:sp>
        <p:nvSpPr>
          <p:cNvPr id="8" name="TextBox 7"/>
          <p:cNvSpPr txBox="1"/>
          <p:nvPr/>
        </p:nvSpPr>
        <p:spPr>
          <a:xfrm>
            <a:off x="2971800" y="4800600"/>
            <a:ext cx="1600200" cy="369332"/>
          </a:xfrm>
          <a:prstGeom prst="rect">
            <a:avLst/>
          </a:prstGeom>
          <a:noFill/>
        </p:spPr>
        <p:txBody>
          <a:bodyPr wrap="square" rtlCol="0">
            <a:spAutoFit/>
          </a:bodyPr>
          <a:lstStyle/>
          <a:p>
            <a:r>
              <a:rPr lang="en-US" dirty="0"/>
              <a:t>Predictor 1</a:t>
            </a:r>
          </a:p>
        </p:txBody>
      </p:sp>
    </p:spTree>
    <p:extLst>
      <p:ext uri="{BB962C8B-B14F-4D97-AF65-F5344CB8AC3E}">
        <p14:creationId xmlns:p14="http://schemas.microsoft.com/office/powerpoint/2010/main" val="1721404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Regression</a:t>
            </a:r>
          </a:p>
        </p:txBody>
      </p:sp>
      <p:sp>
        <p:nvSpPr>
          <p:cNvPr id="3" name="Content Placeholder 2"/>
          <p:cNvSpPr>
            <a:spLocks noGrp="1"/>
          </p:cNvSpPr>
          <p:nvPr>
            <p:ph idx="1"/>
          </p:nvPr>
        </p:nvSpPr>
        <p:spPr>
          <a:xfrm>
            <a:off x="457200" y="1447800"/>
            <a:ext cx="8229600" cy="4876800"/>
          </a:xfrm>
        </p:spPr>
        <p:txBody>
          <a:bodyPr/>
          <a:lstStyle/>
          <a:p>
            <a:r>
              <a:rPr lang="en-US" dirty="0"/>
              <a:t>Adds predictors to “control” for additional sources of variation</a:t>
            </a:r>
          </a:p>
        </p:txBody>
      </p:sp>
      <p:sp>
        <p:nvSpPr>
          <p:cNvPr id="4" name="Oval 3"/>
          <p:cNvSpPr/>
          <p:nvPr/>
        </p:nvSpPr>
        <p:spPr>
          <a:xfrm>
            <a:off x="3200400" y="2286000"/>
            <a:ext cx="2514600" cy="25146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2696584" y="3086100"/>
            <a:ext cx="2286000" cy="2286000"/>
          </a:xfrm>
          <a:prstGeom prst="ellipse">
            <a:avLst/>
          </a:prstGeom>
          <a:solidFill>
            <a:srgbClr val="FFFF00">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3839584" y="2623066"/>
            <a:ext cx="1600200" cy="369332"/>
          </a:xfrm>
          <a:prstGeom prst="rect">
            <a:avLst/>
          </a:prstGeom>
          <a:noFill/>
        </p:spPr>
        <p:txBody>
          <a:bodyPr wrap="square" rtlCol="0">
            <a:spAutoFit/>
          </a:bodyPr>
          <a:lstStyle/>
          <a:p>
            <a:r>
              <a:rPr lang="en-US" dirty="0"/>
              <a:t>Y (outcome)</a:t>
            </a:r>
          </a:p>
        </p:txBody>
      </p:sp>
      <p:sp>
        <p:nvSpPr>
          <p:cNvPr id="8" name="TextBox 7"/>
          <p:cNvSpPr txBox="1"/>
          <p:nvPr/>
        </p:nvSpPr>
        <p:spPr>
          <a:xfrm>
            <a:off x="2971800" y="4800600"/>
            <a:ext cx="1676400" cy="369332"/>
          </a:xfrm>
          <a:prstGeom prst="rect">
            <a:avLst/>
          </a:prstGeom>
          <a:noFill/>
        </p:spPr>
        <p:txBody>
          <a:bodyPr wrap="square" rtlCol="0">
            <a:spAutoFit/>
          </a:bodyPr>
          <a:lstStyle/>
          <a:p>
            <a:r>
              <a:rPr lang="en-US" dirty="0"/>
              <a:t>Predictor 1 (x)</a:t>
            </a:r>
          </a:p>
        </p:txBody>
      </p:sp>
      <p:sp>
        <p:nvSpPr>
          <p:cNvPr id="6" name="Rectangle 5"/>
          <p:cNvSpPr/>
          <p:nvPr/>
        </p:nvSpPr>
        <p:spPr>
          <a:xfrm>
            <a:off x="457200" y="2330678"/>
            <a:ext cx="2077621" cy="584775"/>
          </a:xfrm>
          <a:prstGeom prst="rect">
            <a:avLst/>
          </a:prstGeom>
        </p:spPr>
        <p:txBody>
          <a:bodyPr wrap="none">
            <a:spAutoFit/>
          </a:bodyPr>
          <a:lstStyle/>
          <a:p>
            <a:pPr algn="ctr">
              <a:buNone/>
            </a:pPr>
            <a:r>
              <a:rPr lang="en-US" sz="3200" i="1" dirty="0"/>
              <a:t>y’ = a + </a:t>
            </a:r>
            <a:r>
              <a:rPr lang="en-US" sz="3200" b="1" i="1" u="sng" dirty="0" err="1">
                <a:solidFill>
                  <a:srgbClr val="00B050"/>
                </a:solidFill>
              </a:rPr>
              <a:t>b</a:t>
            </a:r>
            <a:r>
              <a:rPr lang="en-US" sz="3200" i="1" dirty="0" err="1"/>
              <a:t>x</a:t>
            </a:r>
            <a:endParaRPr lang="en-US" sz="3200" i="1" dirty="0"/>
          </a:p>
        </p:txBody>
      </p:sp>
      <p:sp>
        <p:nvSpPr>
          <p:cNvPr id="9" name="Rectangle 8"/>
          <p:cNvSpPr/>
          <p:nvPr/>
        </p:nvSpPr>
        <p:spPr>
          <a:xfrm>
            <a:off x="3843618" y="3546574"/>
            <a:ext cx="804582" cy="584775"/>
          </a:xfrm>
          <a:prstGeom prst="rect">
            <a:avLst/>
          </a:prstGeom>
        </p:spPr>
        <p:txBody>
          <a:bodyPr wrap="square">
            <a:spAutoFit/>
          </a:bodyPr>
          <a:lstStyle/>
          <a:p>
            <a:r>
              <a:rPr lang="en-US" sz="3200" b="1" i="1" u="sng" dirty="0"/>
              <a:t>b</a:t>
            </a:r>
            <a:endParaRPr lang="en-US" sz="3200" dirty="0"/>
          </a:p>
        </p:txBody>
      </p:sp>
    </p:spTree>
    <p:extLst>
      <p:ext uri="{BB962C8B-B14F-4D97-AF65-F5344CB8AC3E}">
        <p14:creationId xmlns:p14="http://schemas.microsoft.com/office/powerpoint/2010/main" val="3598351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Regression</a:t>
            </a:r>
          </a:p>
        </p:txBody>
      </p:sp>
      <p:sp>
        <p:nvSpPr>
          <p:cNvPr id="3" name="Content Placeholder 2"/>
          <p:cNvSpPr>
            <a:spLocks noGrp="1"/>
          </p:cNvSpPr>
          <p:nvPr>
            <p:ph idx="1"/>
          </p:nvPr>
        </p:nvSpPr>
        <p:spPr>
          <a:xfrm>
            <a:off x="457200" y="1447800"/>
            <a:ext cx="8229600" cy="4876800"/>
          </a:xfrm>
        </p:spPr>
        <p:txBody>
          <a:bodyPr/>
          <a:lstStyle/>
          <a:p>
            <a:r>
              <a:rPr lang="en-US" dirty="0"/>
              <a:t>Adds predictors to “control” for additional sources of variation</a:t>
            </a:r>
          </a:p>
        </p:txBody>
      </p:sp>
      <p:sp>
        <p:nvSpPr>
          <p:cNvPr id="4" name="Oval 3"/>
          <p:cNvSpPr/>
          <p:nvPr/>
        </p:nvSpPr>
        <p:spPr>
          <a:xfrm>
            <a:off x="3200400" y="2286000"/>
            <a:ext cx="2514600" cy="25146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2696584" y="3086100"/>
            <a:ext cx="2286000" cy="2286000"/>
          </a:xfrm>
          <a:prstGeom prst="ellipse">
            <a:avLst/>
          </a:prstGeom>
          <a:solidFill>
            <a:srgbClr val="FFFF00">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3839584" y="2623066"/>
            <a:ext cx="1600200" cy="369332"/>
          </a:xfrm>
          <a:prstGeom prst="rect">
            <a:avLst/>
          </a:prstGeom>
          <a:noFill/>
        </p:spPr>
        <p:txBody>
          <a:bodyPr wrap="square" rtlCol="0">
            <a:spAutoFit/>
          </a:bodyPr>
          <a:lstStyle/>
          <a:p>
            <a:r>
              <a:rPr lang="en-US" dirty="0"/>
              <a:t>Y (outcome)</a:t>
            </a:r>
          </a:p>
        </p:txBody>
      </p:sp>
      <p:sp>
        <p:nvSpPr>
          <p:cNvPr id="8" name="TextBox 7"/>
          <p:cNvSpPr txBox="1"/>
          <p:nvPr/>
        </p:nvSpPr>
        <p:spPr>
          <a:xfrm>
            <a:off x="2872740" y="4725769"/>
            <a:ext cx="1820507" cy="646331"/>
          </a:xfrm>
          <a:prstGeom prst="rect">
            <a:avLst/>
          </a:prstGeom>
          <a:noFill/>
        </p:spPr>
        <p:txBody>
          <a:bodyPr wrap="square" rtlCol="0">
            <a:spAutoFit/>
          </a:bodyPr>
          <a:lstStyle/>
          <a:p>
            <a:r>
              <a:rPr lang="en-US" dirty="0"/>
              <a:t>Predictor 1 (x</a:t>
            </a:r>
            <a:r>
              <a:rPr lang="en-US" baseline="-25000" dirty="0"/>
              <a:t>1</a:t>
            </a:r>
            <a:r>
              <a:rPr lang="en-US" dirty="0"/>
              <a:t>)</a:t>
            </a:r>
          </a:p>
          <a:p>
            <a:endParaRPr lang="en-US" dirty="0"/>
          </a:p>
        </p:txBody>
      </p:sp>
      <p:sp>
        <p:nvSpPr>
          <p:cNvPr id="6" name="Rectangle 5"/>
          <p:cNvSpPr/>
          <p:nvPr/>
        </p:nvSpPr>
        <p:spPr>
          <a:xfrm>
            <a:off x="-152400" y="2373097"/>
            <a:ext cx="3571614" cy="523220"/>
          </a:xfrm>
          <a:prstGeom prst="rect">
            <a:avLst/>
          </a:prstGeom>
        </p:spPr>
        <p:txBody>
          <a:bodyPr wrap="square">
            <a:spAutoFit/>
          </a:bodyPr>
          <a:lstStyle/>
          <a:p>
            <a:pPr algn="ctr">
              <a:buNone/>
            </a:pPr>
            <a:r>
              <a:rPr lang="en-US" sz="2800" i="1" dirty="0"/>
              <a:t>y’ = a + </a:t>
            </a:r>
            <a:r>
              <a:rPr lang="en-US" sz="2800" b="1" i="1" u="sng" dirty="0">
                <a:solidFill>
                  <a:srgbClr val="00B050"/>
                </a:solidFill>
              </a:rPr>
              <a:t>b</a:t>
            </a:r>
            <a:r>
              <a:rPr lang="en-US" sz="2800" b="1" i="1" u="sng" baseline="-25000" dirty="0">
                <a:solidFill>
                  <a:srgbClr val="00B050"/>
                </a:solidFill>
              </a:rPr>
              <a:t>1</a:t>
            </a:r>
            <a:r>
              <a:rPr lang="en-US" sz="2800" i="1" dirty="0"/>
              <a:t>x</a:t>
            </a:r>
            <a:r>
              <a:rPr lang="en-US" sz="2800" i="1" baseline="-25000" dirty="0"/>
              <a:t>1</a:t>
            </a:r>
            <a:r>
              <a:rPr lang="en-US" sz="2800" i="1" dirty="0"/>
              <a:t> + </a:t>
            </a:r>
            <a:r>
              <a:rPr lang="en-US" sz="2800" b="1" i="1" u="sng" dirty="0">
                <a:solidFill>
                  <a:schemeClr val="accent4"/>
                </a:solidFill>
              </a:rPr>
              <a:t>b</a:t>
            </a:r>
            <a:r>
              <a:rPr lang="en-US" sz="2800" b="1" i="1" u="sng" baseline="-25000" dirty="0">
                <a:solidFill>
                  <a:schemeClr val="accent4"/>
                </a:solidFill>
              </a:rPr>
              <a:t>2</a:t>
            </a:r>
            <a:r>
              <a:rPr lang="en-US" sz="2800" i="1" dirty="0"/>
              <a:t>x</a:t>
            </a:r>
            <a:r>
              <a:rPr lang="en-US" sz="2800" i="1" baseline="-25000" dirty="0"/>
              <a:t>2</a:t>
            </a:r>
          </a:p>
        </p:txBody>
      </p:sp>
      <p:sp>
        <p:nvSpPr>
          <p:cNvPr id="9" name="Rectangle 8"/>
          <p:cNvSpPr/>
          <p:nvPr/>
        </p:nvSpPr>
        <p:spPr>
          <a:xfrm>
            <a:off x="3492202" y="3523388"/>
            <a:ext cx="804582" cy="584775"/>
          </a:xfrm>
          <a:prstGeom prst="rect">
            <a:avLst/>
          </a:prstGeom>
        </p:spPr>
        <p:txBody>
          <a:bodyPr wrap="square">
            <a:spAutoFit/>
          </a:bodyPr>
          <a:lstStyle/>
          <a:p>
            <a:r>
              <a:rPr lang="en-US" sz="3200" b="1" i="1" u="sng" dirty="0"/>
              <a:t>b</a:t>
            </a:r>
            <a:r>
              <a:rPr lang="en-US" sz="3200" b="1" i="1" u="sng" baseline="-25000" dirty="0"/>
              <a:t>1</a:t>
            </a:r>
            <a:endParaRPr lang="en-US" sz="3200" dirty="0"/>
          </a:p>
        </p:txBody>
      </p:sp>
      <p:sp>
        <p:nvSpPr>
          <p:cNvPr id="10" name="Oval 9"/>
          <p:cNvSpPr/>
          <p:nvPr/>
        </p:nvSpPr>
        <p:spPr>
          <a:xfrm>
            <a:off x="4296784" y="3174423"/>
            <a:ext cx="2286000" cy="2286000"/>
          </a:xfrm>
          <a:prstGeom prst="ellipse">
            <a:avLst/>
          </a:prstGeom>
          <a:solidFill>
            <a:srgbClr val="FF0000">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014185" y="3521981"/>
            <a:ext cx="804582" cy="584775"/>
          </a:xfrm>
          <a:prstGeom prst="rect">
            <a:avLst/>
          </a:prstGeom>
        </p:spPr>
        <p:txBody>
          <a:bodyPr wrap="square">
            <a:spAutoFit/>
          </a:bodyPr>
          <a:lstStyle/>
          <a:p>
            <a:r>
              <a:rPr lang="en-US" sz="3200" b="1" i="1" u="sng" dirty="0"/>
              <a:t>b</a:t>
            </a:r>
            <a:r>
              <a:rPr lang="en-US" sz="3200" b="1" i="1" u="sng" baseline="-25000" dirty="0"/>
              <a:t>2</a:t>
            </a:r>
            <a:endParaRPr lang="en-US" sz="3200" dirty="0"/>
          </a:p>
        </p:txBody>
      </p:sp>
      <p:sp>
        <p:nvSpPr>
          <p:cNvPr id="12" name="TextBox 11"/>
          <p:cNvSpPr txBox="1"/>
          <p:nvPr/>
        </p:nvSpPr>
        <p:spPr>
          <a:xfrm>
            <a:off x="4697954" y="4761179"/>
            <a:ext cx="1884830" cy="369332"/>
          </a:xfrm>
          <a:prstGeom prst="rect">
            <a:avLst/>
          </a:prstGeom>
          <a:noFill/>
        </p:spPr>
        <p:txBody>
          <a:bodyPr wrap="square" rtlCol="0">
            <a:spAutoFit/>
          </a:bodyPr>
          <a:lstStyle/>
          <a:p>
            <a:r>
              <a:rPr lang="en-US" dirty="0"/>
              <a:t>Predictor 2 (x</a:t>
            </a:r>
            <a:r>
              <a:rPr lang="en-US" baseline="-25000" dirty="0"/>
              <a:t>2</a:t>
            </a:r>
            <a:r>
              <a:rPr lang="en-US" dirty="0"/>
              <a:t>)</a:t>
            </a:r>
          </a:p>
        </p:txBody>
      </p:sp>
    </p:spTree>
    <p:extLst>
      <p:ext uri="{BB962C8B-B14F-4D97-AF65-F5344CB8AC3E}">
        <p14:creationId xmlns:p14="http://schemas.microsoft.com/office/powerpoint/2010/main" val="292557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a:t>
            </a:r>
          </a:p>
        </p:txBody>
      </p:sp>
      <p:sp>
        <p:nvSpPr>
          <p:cNvPr id="3" name="Content Placeholder 2"/>
          <p:cNvSpPr>
            <a:spLocks noGrp="1"/>
          </p:cNvSpPr>
          <p:nvPr>
            <p:ph idx="1"/>
          </p:nvPr>
        </p:nvSpPr>
        <p:spPr/>
        <p:txBody>
          <a:bodyPr/>
          <a:lstStyle/>
          <a:p>
            <a:r>
              <a:rPr lang="en-US" dirty="0"/>
              <a:t>Multiple regression uses additional predictors to explain more variation in the outcome variable</a:t>
            </a:r>
          </a:p>
          <a:p>
            <a:pPr lvl="1"/>
            <a:r>
              <a:rPr lang="en-US" dirty="0"/>
              <a:t>Increases R-squared</a:t>
            </a:r>
          </a:p>
          <a:p>
            <a:pPr lvl="1"/>
            <a:r>
              <a:rPr lang="en-US" dirty="0"/>
              <a:t>Increases our precision</a:t>
            </a:r>
          </a:p>
          <a:p>
            <a:pPr lvl="1"/>
            <a:r>
              <a:rPr lang="en-US" dirty="0"/>
              <a:t>Helps us make better predications</a:t>
            </a:r>
          </a:p>
          <a:p>
            <a:r>
              <a:rPr lang="en-US" dirty="0"/>
              <a:t>Reduces </a:t>
            </a:r>
            <a:r>
              <a:rPr lang="en-US" b="1" dirty="0"/>
              <a:t>bias</a:t>
            </a:r>
            <a:r>
              <a:rPr lang="en-US" dirty="0"/>
              <a:t> in a predictor variable</a:t>
            </a:r>
          </a:p>
          <a:p>
            <a:pPr lvl="1"/>
            <a:r>
              <a:rPr lang="en-US" dirty="0"/>
              <a:t>Helps us estimate a better effect</a:t>
            </a:r>
          </a:p>
          <a:p>
            <a:pPr lvl="1"/>
            <a:r>
              <a:rPr lang="en-US" dirty="0"/>
              <a:t>Is it now causal?</a:t>
            </a:r>
          </a:p>
        </p:txBody>
      </p:sp>
    </p:spTree>
    <p:extLst>
      <p:ext uri="{BB962C8B-B14F-4D97-AF65-F5344CB8AC3E}">
        <p14:creationId xmlns:p14="http://schemas.microsoft.com/office/powerpoint/2010/main" val="910095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Consider the teacher value added example from last class</a:t>
            </a:r>
          </a:p>
        </p:txBody>
      </p:sp>
      <p:sp>
        <p:nvSpPr>
          <p:cNvPr id="3" name="Content Placeholder 2"/>
          <p:cNvSpPr>
            <a:spLocks noGrp="1"/>
          </p:cNvSpPr>
          <p:nvPr>
            <p:ph idx="1"/>
          </p:nvPr>
        </p:nvSpPr>
        <p:spPr/>
        <p:txBody>
          <a:bodyPr/>
          <a:lstStyle/>
          <a:p>
            <a:r>
              <a:rPr lang="en-US" dirty="0"/>
              <a:t>Back to </a:t>
            </a:r>
            <a:r>
              <a:rPr lang="en-US" dirty="0" err="1"/>
              <a:t>stata</a:t>
            </a:r>
            <a:r>
              <a:rPr lang="en-US" dirty="0"/>
              <a:t> output….</a:t>
            </a:r>
          </a:p>
        </p:txBody>
      </p:sp>
    </p:spTree>
    <p:extLst>
      <p:ext uri="{BB962C8B-B14F-4D97-AF65-F5344CB8AC3E}">
        <p14:creationId xmlns:p14="http://schemas.microsoft.com/office/powerpoint/2010/main" val="200317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Recall the marshmallow study</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49" y="1350917"/>
            <a:ext cx="7975419" cy="5432532"/>
          </a:xfrm>
          <a:prstGeom prst="rect">
            <a:avLst/>
          </a:prstGeom>
        </p:spPr>
      </p:pic>
      <p:sp>
        <p:nvSpPr>
          <p:cNvPr id="6" name="TextBox 5"/>
          <p:cNvSpPr txBox="1"/>
          <p:nvPr/>
        </p:nvSpPr>
        <p:spPr>
          <a:xfrm>
            <a:off x="5599613" y="6488668"/>
            <a:ext cx="4058194" cy="369332"/>
          </a:xfrm>
          <a:prstGeom prst="rect">
            <a:avLst/>
          </a:prstGeom>
          <a:noFill/>
        </p:spPr>
        <p:txBody>
          <a:bodyPr wrap="square" rtlCol="0">
            <a:spAutoFit/>
          </a:bodyPr>
          <a:lstStyle/>
          <a:p>
            <a:r>
              <a:rPr lang="en-US" dirty="0"/>
              <a:t>From </a:t>
            </a:r>
            <a:r>
              <a:rPr lang="en-US" dirty="0" err="1"/>
              <a:t>Shoda</a:t>
            </a:r>
            <a:r>
              <a:rPr lang="en-US" dirty="0"/>
              <a:t>, </a:t>
            </a:r>
            <a:r>
              <a:rPr lang="en-US" dirty="0" err="1"/>
              <a:t>Mischel</a:t>
            </a:r>
            <a:r>
              <a:rPr lang="en-US" dirty="0"/>
              <a:t>, &amp; Peake, 1990</a:t>
            </a:r>
          </a:p>
        </p:txBody>
      </p:sp>
      <p:sp>
        <p:nvSpPr>
          <p:cNvPr id="3" name="Oval 2"/>
          <p:cNvSpPr/>
          <p:nvPr/>
        </p:nvSpPr>
        <p:spPr>
          <a:xfrm>
            <a:off x="5281126" y="3217655"/>
            <a:ext cx="830425" cy="3354988"/>
          </a:xfrm>
          <a:prstGeom prst="ellipse">
            <a:avLst/>
          </a:prstGeom>
          <a:noFill/>
          <a:ln w="44450">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024514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 have tried to replicate…</a:t>
            </a:r>
          </a:p>
        </p:txBody>
      </p:sp>
      <p:sp>
        <p:nvSpPr>
          <p:cNvPr id="3" name="Content Placeholder 2"/>
          <p:cNvSpPr>
            <a:spLocks noGrp="1"/>
          </p:cNvSpPr>
          <p:nvPr>
            <p:ph idx="1"/>
          </p:nvPr>
        </p:nvSpPr>
        <p:spPr/>
        <p:txBody>
          <a:bodyPr/>
          <a:lstStyle/>
          <a:p>
            <a:r>
              <a:rPr lang="en-US" dirty="0"/>
              <a:t>Tony </a:t>
            </a:r>
            <a:r>
              <a:rPr lang="en-US" dirty="0" err="1"/>
              <a:t>Quan</a:t>
            </a:r>
            <a:r>
              <a:rPr lang="en-US" dirty="0"/>
              <a:t> (undergraduate) and Greg Duncan (professor)</a:t>
            </a:r>
          </a:p>
          <a:p>
            <a:r>
              <a:rPr lang="en-US" dirty="0"/>
              <a:t>New sample</a:t>
            </a:r>
          </a:p>
          <a:p>
            <a:pPr lvl="1"/>
            <a:r>
              <a:rPr lang="en-US" dirty="0"/>
              <a:t>Study of Early Childcare and Youth Development</a:t>
            </a:r>
          </a:p>
          <a:p>
            <a:r>
              <a:rPr lang="en-US" dirty="0"/>
              <a:t>Gratification Delay measured at age 4</a:t>
            </a:r>
          </a:p>
          <a:p>
            <a:r>
              <a:rPr lang="en-US" dirty="0"/>
              <a:t>Limited the sample to mothers that did not go to college</a:t>
            </a:r>
          </a:p>
          <a:p>
            <a:r>
              <a:rPr lang="en-US" dirty="0"/>
              <a:t>Started with bivariate regression, then added controls</a:t>
            </a:r>
          </a:p>
        </p:txBody>
      </p:sp>
    </p:spTree>
    <p:extLst>
      <p:ext uri="{BB962C8B-B14F-4D97-AF65-F5344CB8AC3E}">
        <p14:creationId xmlns:p14="http://schemas.microsoft.com/office/powerpoint/2010/main" val="816157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Latest results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666004273"/>
              </p:ext>
            </p:extLst>
          </p:nvPr>
        </p:nvGraphicFramePr>
        <p:xfrm>
          <a:off x="759311" y="1044836"/>
          <a:ext cx="7315201" cy="5574030"/>
        </p:xfrm>
        <a:graphic>
          <a:graphicData uri="http://schemas.openxmlformats.org/drawingml/2006/table">
            <a:tbl>
              <a:tblPr/>
              <a:tblGrid>
                <a:gridCol w="433492">
                  <a:extLst>
                    <a:ext uri="{9D8B030D-6E8A-4147-A177-3AD203B41FA5}">
                      <a16:colId xmlns:a16="http://schemas.microsoft.com/office/drawing/2014/main" val="20000"/>
                    </a:ext>
                  </a:extLst>
                </a:gridCol>
                <a:gridCol w="2817707">
                  <a:extLst>
                    <a:ext uri="{9D8B030D-6E8A-4147-A177-3AD203B41FA5}">
                      <a16:colId xmlns:a16="http://schemas.microsoft.com/office/drawing/2014/main" val="20001"/>
                    </a:ext>
                  </a:extLst>
                </a:gridCol>
                <a:gridCol w="601471">
                  <a:extLst>
                    <a:ext uri="{9D8B030D-6E8A-4147-A177-3AD203B41FA5}">
                      <a16:colId xmlns:a16="http://schemas.microsoft.com/office/drawing/2014/main" val="20002"/>
                    </a:ext>
                  </a:extLst>
                </a:gridCol>
                <a:gridCol w="715265">
                  <a:extLst>
                    <a:ext uri="{9D8B030D-6E8A-4147-A177-3AD203B41FA5}">
                      <a16:colId xmlns:a16="http://schemas.microsoft.com/office/drawing/2014/main" val="20003"/>
                    </a:ext>
                  </a:extLst>
                </a:gridCol>
                <a:gridCol w="715265">
                  <a:extLst>
                    <a:ext uri="{9D8B030D-6E8A-4147-A177-3AD203B41FA5}">
                      <a16:colId xmlns:a16="http://schemas.microsoft.com/office/drawing/2014/main" val="20004"/>
                    </a:ext>
                  </a:extLst>
                </a:gridCol>
                <a:gridCol w="601471">
                  <a:extLst>
                    <a:ext uri="{9D8B030D-6E8A-4147-A177-3AD203B41FA5}">
                      <a16:colId xmlns:a16="http://schemas.microsoft.com/office/drawing/2014/main" val="20005"/>
                    </a:ext>
                  </a:extLst>
                </a:gridCol>
                <a:gridCol w="715265">
                  <a:extLst>
                    <a:ext uri="{9D8B030D-6E8A-4147-A177-3AD203B41FA5}">
                      <a16:colId xmlns:a16="http://schemas.microsoft.com/office/drawing/2014/main" val="20006"/>
                    </a:ext>
                  </a:extLst>
                </a:gridCol>
                <a:gridCol w="715265">
                  <a:extLst>
                    <a:ext uri="{9D8B030D-6E8A-4147-A177-3AD203B41FA5}">
                      <a16:colId xmlns:a16="http://schemas.microsoft.com/office/drawing/2014/main" val="20007"/>
                    </a:ext>
                  </a:extLst>
                </a:gridCol>
              </a:tblGrid>
              <a:tr h="234244">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gridSpan="6">
                  <a:txBody>
                    <a:bodyPr/>
                    <a:lstStyle/>
                    <a:p>
                      <a:pPr algn="ctr" fontAlgn="b"/>
                      <a:r>
                        <a:rPr lang="en-US" sz="1600" b="1" i="0" u="none" strike="noStrike" dirty="0">
                          <a:solidFill>
                            <a:srgbClr val="000000"/>
                          </a:solidFill>
                          <a:effectLst/>
                          <a:latin typeface="Calibri" panose="020F0502020204030204" pitchFamily="34" charset="0"/>
                        </a:rPr>
                        <a:t>Achievement</a:t>
                      </a:r>
                    </a:p>
                  </a:txBody>
                  <a:tcPr marL="9525" marR="9525" marT="9525"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34244">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gridSpan="3">
                  <a:txBody>
                    <a:bodyPr/>
                    <a:lstStyle/>
                    <a:p>
                      <a:pPr algn="ctr" fontAlgn="b"/>
                      <a:r>
                        <a:rPr lang="en-US" sz="1600" b="0" i="0" u="none" strike="noStrike">
                          <a:solidFill>
                            <a:srgbClr val="000000"/>
                          </a:solidFill>
                          <a:effectLst/>
                          <a:latin typeface="Calibri" panose="020F0502020204030204" pitchFamily="34" charset="0"/>
                        </a:rPr>
                        <a:t>First Grade</a:t>
                      </a:r>
                    </a:p>
                  </a:txBody>
                  <a:tcPr marL="9525" marR="9525" marT="9525" marB="0" anchor="b">
                    <a:lnL>
                      <a:noFill/>
                    </a:lnL>
                    <a:lnR>
                      <a:noFill/>
                    </a:lnR>
                    <a:lnT>
                      <a:noFill/>
                    </a:lnT>
                    <a:lnB>
                      <a:noFill/>
                    </a:lnB>
                  </a:tcPr>
                </a:tc>
                <a:tc hMerge="1">
                  <a:txBody>
                    <a:bodyPr/>
                    <a:lstStyle/>
                    <a:p>
                      <a:endParaRPr lang="en-US"/>
                    </a:p>
                  </a:txBody>
                  <a:tcPr/>
                </a:tc>
                <a:tc hMerge="1">
                  <a:txBody>
                    <a:bodyPr/>
                    <a:lstStyle/>
                    <a:p>
                      <a:endParaRPr lang="en-US"/>
                    </a:p>
                  </a:txBody>
                  <a:tcPr/>
                </a:tc>
                <a:tc gridSpan="3">
                  <a:txBody>
                    <a:bodyPr/>
                    <a:lstStyle/>
                    <a:p>
                      <a:pPr algn="ctr" fontAlgn="b"/>
                      <a:r>
                        <a:rPr lang="en-US" sz="1600" b="0" i="0" u="none" strike="noStrike" dirty="0">
                          <a:solidFill>
                            <a:srgbClr val="000000"/>
                          </a:solidFill>
                          <a:effectLst/>
                          <a:latin typeface="Calibri" panose="020F0502020204030204" pitchFamily="34" charset="0"/>
                        </a:rPr>
                        <a:t>Age 15</a:t>
                      </a:r>
                    </a:p>
                  </a:txBody>
                  <a:tcPr marL="9525" marR="9525" marT="9525" marB="0" anchor="b">
                    <a:lnL>
                      <a:noFill/>
                    </a:lnL>
                    <a:lnR>
                      <a:noFill/>
                    </a:lnR>
                    <a:lnT>
                      <a:noFill/>
                    </a:lnT>
                    <a:lnB>
                      <a:noFill/>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34244">
                <a:tc>
                  <a:txBody>
                    <a:bodyPr/>
                    <a:lstStyle/>
                    <a:p>
                      <a:pPr algn="ctr" fontAlgn="b"/>
                      <a:r>
                        <a:rPr lang="en-US" sz="1600" b="0" i="0" u="none" strike="noStrike">
                          <a:solidFill>
                            <a:srgbClr val="000000"/>
                          </a:solidFill>
                          <a:effectLst/>
                          <a:latin typeface="Calibri" panose="020F0502020204030204" pitchFamily="34" charset="0"/>
                        </a:rPr>
                        <a:t> </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panose="020F0502020204030204" pitchFamily="34" charset="0"/>
                        </a:rPr>
                        <a:t> </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[2]</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Calibri" panose="020F0502020204030204" pitchFamily="34" charset="0"/>
                        </a:rPr>
                        <a:t>[3]</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[4]</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[5]</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Calibri" panose="020F0502020204030204" pitchFamily="34" charset="0"/>
                        </a:rPr>
                        <a:t>[6]</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34244">
                <a:tc gridSpan="2">
                  <a:txBody>
                    <a:bodyPr/>
                    <a:lstStyle/>
                    <a:p>
                      <a:pPr algn="l" fontAlgn="b"/>
                      <a:r>
                        <a:rPr lang="en-US" sz="1600" b="0" i="1" u="none" strike="noStrike" dirty="0">
                          <a:solidFill>
                            <a:srgbClr val="000000"/>
                          </a:solidFill>
                          <a:effectLst/>
                          <a:latin typeface="Calibri" panose="020F0502020204030204" pitchFamily="34" charset="0"/>
                        </a:rPr>
                        <a:t>Continuous Variable</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a:txBody>
                    <a:body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3"/>
                  </a:ext>
                </a:extLst>
              </a:tr>
              <a:tr h="234244">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r>
                        <a:rPr lang="en-US" sz="1600" b="0" i="0" u="none" strike="noStrike">
                          <a:solidFill>
                            <a:srgbClr val="000000"/>
                          </a:solidFill>
                          <a:effectLst/>
                          <a:latin typeface="Calibri" panose="020F0502020204030204" pitchFamily="34" charset="0"/>
                        </a:rPr>
                        <a:t>Minutes Waited</a:t>
                      </a:r>
                    </a:p>
                  </a:txBody>
                  <a:tcPr marL="9525" marR="9525" marT="9525" marB="0" anchor="b">
                    <a:lnL>
                      <a:noFill/>
                    </a:lnL>
                    <a:lnR>
                      <a:noFill/>
                    </a:lnR>
                    <a:lnT>
                      <a:noFill/>
                    </a:lnT>
                    <a:lnB>
                      <a:noFill/>
                    </a:lnB>
                  </a:tcPr>
                </a:tc>
                <a:tc>
                  <a:txBody>
                    <a:bodyPr/>
                    <a:lstStyle/>
                    <a:p>
                      <a:pPr algn="r" fontAlgn="b"/>
                      <a:r>
                        <a:rPr lang="en-US" sz="1600" b="1" i="0" u="none" strike="noStrike" dirty="0">
                          <a:solidFill>
                            <a:srgbClr val="000000"/>
                          </a:solidFill>
                          <a:effectLst/>
                          <a:latin typeface="Calibri" panose="020F0502020204030204" pitchFamily="34" charset="0"/>
                        </a:rPr>
                        <a:t>0.279</a:t>
                      </a:r>
                    </a:p>
                  </a:txBody>
                  <a:tcPr marL="9525" marR="9525" marT="9525" marB="0" anchor="b">
                    <a:lnL>
                      <a:noFill/>
                    </a:lnL>
                    <a:lnR>
                      <a:noFill/>
                    </a:lnR>
                    <a:lnT>
                      <a:noFill/>
                    </a:lnT>
                    <a:lnB>
                      <a:noFill/>
                    </a:lnB>
                  </a:tcPr>
                </a:tc>
                <a:tc>
                  <a:txBody>
                    <a:bodyPr/>
                    <a:lstStyle/>
                    <a:p>
                      <a:pPr algn="r" fontAlgn="b"/>
                      <a:r>
                        <a:rPr lang="en-US" sz="1600" b="1" i="0" u="none" strike="noStrike" dirty="0">
                          <a:solidFill>
                            <a:srgbClr val="000000"/>
                          </a:solidFill>
                          <a:effectLst/>
                          <a:latin typeface="Calibri" panose="020F0502020204030204" pitchFamily="34" charset="0"/>
                        </a:rPr>
                        <a:t>0.099</a:t>
                      </a:r>
                    </a:p>
                  </a:txBody>
                  <a:tcPr marL="9525" marR="9525" marT="9525" marB="0" anchor="b">
                    <a:lnL>
                      <a:noFill/>
                    </a:lnL>
                    <a:lnR>
                      <a:noFill/>
                    </a:lnR>
                    <a:lnT>
                      <a:noFill/>
                    </a:lnT>
                    <a:lnB>
                      <a:noFill/>
                    </a:lnB>
                  </a:tcPr>
                </a:tc>
                <a:tc>
                  <a:txBody>
                    <a:bodyPr/>
                    <a:lstStyle/>
                    <a:p>
                      <a:pPr algn="r" fontAlgn="b"/>
                      <a:r>
                        <a:rPr lang="en-US" sz="1600" b="1" i="0" u="none" strike="noStrike" dirty="0">
                          <a:solidFill>
                            <a:srgbClr val="000000"/>
                          </a:solidFill>
                          <a:effectLst/>
                          <a:latin typeface="Calibri" panose="020F0502020204030204" pitchFamily="34" charset="0"/>
                        </a:rPr>
                        <a:t>0.047</a:t>
                      </a:r>
                    </a:p>
                  </a:txBody>
                  <a:tcPr marL="9525" marR="9525" marT="9525" marB="0" anchor="b">
                    <a:lnL>
                      <a:noFill/>
                    </a:lnL>
                    <a:lnR>
                      <a:noFill/>
                    </a:lnR>
                    <a:lnT>
                      <a:noFill/>
                    </a:lnT>
                    <a:lnB>
                      <a:noFill/>
                    </a:lnB>
                  </a:tcPr>
                </a:tc>
                <a:tc>
                  <a:txBody>
                    <a:bodyPr/>
                    <a:lstStyle/>
                    <a:p>
                      <a:pPr algn="r" fontAlgn="b"/>
                      <a:r>
                        <a:rPr lang="en-US" sz="1600" b="1" i="0" u="none" strike="noStrike" dirty="0">
                          <a:solidFill>
                            <a:srgbClr val="000000"/>
                          </a:solidFill>
                          <a:effectLst/>
                          <a:latin typeface="Calibri" panose="020F0502020204030204" pitchFamily="34" charset="0"/>
                        </a:rPr>
                        <a:t>0.237</a:t>
                      </a:r>
                    </a:p>
                  </a:txBody>
                  <a:tcPr marL="9525" marR="9525" marT="9525" marB="0" anchor="b">
                    <a:lnL>
                      <a:noFill/>
                    </a:lnL>
                    <a:lnR>
                      <a:noFill/>
                    </a:lnR>
                    <a:lnT>
                      <a:noFill/>
                    </a:lnT>
                    <a:lnB>
                      <a:noFill/>
                    </a:lnB>
                  </a:tcPr>
                </a:tc>
                <a:tc>
                  <a:txBody>
                    <a:bodyPr/>
                    <a:lstStyle/>
                    <a:p>
                      <a:pPr algn="r" fontAlgn="b"/>
                      <a:r>
                        <a:rPr lang="en-US" sz="1600" b="1" i="0" u="none" strike="noStrike" dirty="0">
                          <a:solidFill>
                            <a:srgbClr val="000000"/>
                          </a:solidFill>
                          <a:effectLst/>
                          <a:latin typeface="Calibri" panose="020F0502020204030204" pitchFamily="34" charset="0"/>
                        </a:rPr>
                        <a:t>0.083</a:t>
                      </a:r>
                    </a:p>
                  </a:txBody>
                  <a:tcPr marL="9525" marR="9525" marT="9525" marB="0" anchor="b">
                    <a:lnL>
                      <a:noFill/>
                    </a:lnL>
                    <a:lnR>
                      <a:noFill/>
                    </a:lnR>
                    <a:lnT>
                      <a:noFill/>
                    </a:lnT>
                    <a:lnB>
                      <a:noFill/>
                    </a:lnB>
                  </a:tcPr>
                </a:tc>
                <a:tc>
                  <a:txBody>
                    <a:bodyPr/>
                    <a:lstStyle/>
                    <a:p>
                      <a:pPr algn="r" fontAlgn="b"/>
                      <a:r>
                        <a:rPr lang="en-US" sz="1600" b="1" i="0" u="none" strike="noStrike" dirty="0">
                          <a:solidFill>
                            <a:srgbClr val="000000"/>
                          </a:solidFill>
                          <a:effectLst/>
                          <a:latin typeface="Calibri" panose="020F0502020204030204" pitchFamily="34" charset="0"/>
                        </a:rPr>
                        <a:t>0.050</a:t>
                      </a:r>
                    </a:p>
                  </a:txBody>
                  <a:tcPr marL="9525" marR="9525" marT="9525" marB="0" anchor="b">
                    <a:lnL>
                      <a:noFill/>
                    </a:lnL>
                    <a:lnR>
                      <a:noFill/>
                    </a:lnR>
                    <a:lnT>
                      <a:noFill/>
                    </a:lnT>
                    <a:lnB>
                      <a:noFill/>
                    </a:lnB>
                  </a:tcPr>
                </a:tc>
                <a:extLst>
                  <a:ext uri="{0D108BD9-81ED-4DB2-BD59-A6C34878D82A}">
                    <a16:rowId xmlns:a16="http://schemas.microsoft.com/office/drawing/2014/main" val="10004"/>
                  </a:ext>
                </a:extLst>
              </a:tr>
              <a:tr h="234244">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panose="020F0502020204030204" pitchFamily="34" charset="0"/>
                        </a:rPr>
                        <a:t>0.038</a:t>
                      </a:r>
                    </a:p>
                  </a:txBody>
                  <a:tcPr marL="9525" marR="9525" marT="9525"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panose="020F0502020204030204" pitchFamily="34" charset="0"/>
                        </a:rPr>
                        <a:t>0.033</a:t>
                      </a:r>
                    </a:p>
                  </a:txBody>
                  <a:tcPr marL="9525" marR="9525" marT="9525"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panose="020F0502020204030204" pitchFamily="34" charset="0"/>
                        </a:rPr>
                        <a:t>0.030</a:t>
                      </a:r>
                    </a:p>
                  </a:txBody>
                  <a:tcPr marL="9525" marR="9525" marT="9525"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panose="020F0502020204030204" pitchFamily="34" charset="0"/>
                        </a:rPr>
                        <a:t>0.037</a:t>
                      </a:r>
                    </a:p>
                  </a:txBody>
                  <a:tcPr marL="9525" marR="9525" marT="9525"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panose="020F0502020204030204" pitchFamily="34" charset="0"/>
                        </a:rPr>
                        <a:t>0.034</a:t>
                      </a:r>
                    </a:p>
                  </a:txBody>
                  <a:tcPr marL="9525" marR="9525" marT="9525"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panose="020F0502020204030204" pitchFamily="34" charset="0"/>
                        </a:rPr>
                        <a:t>0.032</a:t>
                      </a:r>
                    </a:p>
                  </a:txBody>
                  <a:tcPr marL="9525" marR="9525" marT="9525" marB="0" anchor="b">
                    <a:lnL>
                      <a:noFill/>
                    </a:lnL>
                    <a:lnR>
                      <a:noFill/>
                    </a:lnR>
                    <a:lnT>
                      <a:noFill/>
                    </a:lnT>
                    <a:lnB>
                      <a:noFill/>
                    </a:lnB>
                  </a:tcPr>
                </a:tc>
                <a:extLst>
                  <a:ext uri="{0D108BD9-81ED-4DB2-BD59-A6C34878D82A}">
                    <a16:rowId xmlns:a16="http://schemas.microsoft.com/office/drawing/2014/main" val="10005"/>
                  </a:ext>
                </a:extLst>
              </a:tr>
              <a:tr h="234244">
                <a:tc gridSpan="2">
                  <a:txBody>
                    <a:bodyPr/>
                    <a:lstStyle/>
                    <a:p>
                      <a:pPr algn="l" fontAlgn="b"/>
                      <a:r>
                        <a:rPr lang="en-US" sz="1600" b="0" i="1" u="none" strike="noStrike">
                          <a:solidFill>
                            <a:srgbClr val="000000"/>
                          </a:solidFill>
                          <a:effectLst/>
                          <a:latin typeface="Calibri" panose="020F0502020204030204" pitchFamily="34" charset="0"/>
                        </a:rPr>
                        <a:t>Demographic Control</a:t>
                      </a:r>
                    </a:p>
                  </a:txBody>
                  <a:tcPr marL="9525" marR="9525" marT="9525" marB="0" anchor="b">
                    <a:lnL>
                      <a:noFill/>
                    </a:lnL>
                    <a:lnR>
                      <a:noFill/>
                    </a:lnR>
                    <a:lnT>
                      <a:noFill/>
                    </a:lnT>
                    <a:lnB>
                      <a:noFill/>
                    </a:lnB>
                  </a:tcPr>
                </a:tc>
                <a:tc hMerge="1">
                  <a:txBody>
                    <a:bodyPr/>
                    <a:lstStyle/>
                    <a:p>
                      <a:endParaRPr lang="en-US"/>
                    </a:p>
                  </a:txBody>
                  <a:tcPr/>
                </a:tc>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10006"/>
                  </a:ext>
                </a:extLst>
              </a:tr>
              <a:tr h="234244">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r>
                        <a:rPr lang="en-US" sz="1600" b="0" i="0" u="none" strike="noStrike" dirty="0">
                          <a:solidFill>
                            <a:srgbClr val="000000"/>
                          </a:solidFill>
                          <a:effectLst/>
                          <a:latin typeface="Calibri" panose="020F0502020204030204" pitchFamily="34" charset="0"/>
                        </a:rPr>
                        <a:t>Male</a:t>
                      </a:r>
                    </a:p>
                  </a:txBody>
                  <a:tcPr marL="9525" marR="9525" marT="9525" marB="0" anchor="b">
                    <a:lnL>
                      <a:noFill/>
                    </a:lnL>
                    <a:lnR>
                      <a:noFill/>
                    </a:lnR>
                    <a:lnT>
                      <a:noFill/>
                    </a:lnT>
                    <a:lnB>
                      <a:noFill/>
                    </a:lnB>
                  </a:tcPr>
                </a:tc>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r" fontAlgn="b"/>
                      <a:r>
                        <a:rPr lang="en-US" sz="1600" b="0" i="0" u="none" strike="noStrike">
                          <a:solidFill>
                            <a:srgbClr val="000000"/>
                          </a:solidFill>
                          <a:effectLst/>
                          <a:latin typeface="Calibri" panose="020F0502020204030204" pitchFamily="34" charset="0"/>
                        </a:rPr>
                        <a:t>0.198</a:t>
                      </a:r>
                    </a:p>
                  </a:txBody>
                  <a:tcPr marL="9525" marR="9525" marT="9525" marB="0" anchor="b">
                    <a:lnL>
                      <a:noFill/>
                    </a:lnL>
                    <a:lnR>
                      <a:noFill/>
                    </a:lnR>
                    <a:lnT>
                      <a:noFill/>
                    </a:lnT>
                    <a:lnB>
                      <a:noFill/>
                    </a:lnB>
                  </a:tcPr>
                </a:tc>
                <a:tc>
                  <a:txBody>
                    <a:bodyPr/>
                    <a:lstStyle/>
                    <a:p>
                      <a:pPr algn="r" fontAlgn="b"/>
                      <a:r>
                        <a:rPr lang="en-US" sz="1600" b="0" i="0" u="none" strike="noStrike">
                          <a:solidFill>
                            <a:srgbClr val="000000"/>
                          </a:solidFill>
                          <a:effectLst/>
                          <a:latin typeface="Calibri" panose="020F0502020204030204" pitchFamily="34" charset="0"/>
                        </a:rPr>
                        <a:t>0.223</a:t>
                      </a:r>
                    </a:p>
                  </a:txBody>
                  <a:tcPr marL="9525" marR="9525" marT="9525" marB="0" anchor="b">
                    <a:lnL>
                      <a:noFill/>
                    </a:lnL>
                    <a:lnR>
                      <a:noFill/>
                    </a:lnR>
                    <a:lnT>
                      <a:noFill/>
                    </a:lnT>
                    <a:lnB>
                      <a:noFill/>
                    </a:lnB>
                  </a:tcPr>
                </a:tc>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r" fontAlgn="b"/>
                      <a:r>
                        <a:rPr lang="en-US" sz="1600" b="0" i="0" u="none" strike="noStrike">
                          <a:solidFill>
                            <a:srgbClr val="000000"/>
                          </a:solidFill>
                          <a:effectLst/>
                          <a:latin typeface="Calibri" panose="020F0502020204030204" pitchFamily="34" charset="0"/>
                        </a:rPr>
                        <a:t>0.291</a:t>
                      </a:r>
                    </a:p>
                  </a:txBody>
                  <a:tcPr marL="9525" marR="9525" marT="9525" marB="0" anchor="b">
                    <a:lnL>
                      <a:noFill/>
                    </a:lnL>
                    <a:lnR>
                      <a:noFill/>
                    </a:lnR>
                    <a:lnT>
                      <a:noFill/>
                    </a:lnT>
                    <a:lnB>
                      <a:noFill/>
                    </a:lnB>
                  </a:tcPr>
                </a:tc>
                <a:tc>
                  <a:txBody>
                    <a:bodyPr/>
                    <a:lstStyle/>
                    <a:p>
                      <a:pPr algn="r" fontAlgn="b"/>
                      <a:r>
                        <a:rPr lang="en-US" sz="1600" b="0" i="0" u="none" strike="noStrike">
                          <a:solidFill>
                            <a:srgbClr val="000000"/>
                          </a:solidFill>
                          <a:effectLst/>
                          <a:latin typeface="Calibri" panose="020F0502020204030204" pitchFamily="34" charset="0"/>
                        </a:rPr>
                        <a:t>0.252</a:t>
                      </a:r>
                    </a:p>
                  </a:txBody>
                  <a:tcPr marL="9525" marR="9525" marT="9525" marB="0" anchor="b">
                    <a:lnL>
                      <a:noFill/>
                    </a:lnL>
                    <a:lnR>
                      <a:noFill/>
                    </a:lnR>
                    <a:lnT>
                      <a:noFill/>
                    </a:lnT>
                    <a:lnB>
                      <a:noFill/>
                    </a:lnB>
                  </a:tcPr>
                </a:tc>
                <a:extLst>
                  <a:ext uri="{0D108BD9-81ED-4DB2-BD59-A6C34878D82A}">
                    <a16:rowId xmlns:a16="http://schemas.microsoft.com/office/drawing/2014/main" val="10007"/>
                  </a:ext>
                </a:extLst>
              </a:tr>
              <a:tr h="234244">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panose="020F0502020204030204" pitchFamily="34" charset="0"/>
                        </a:rPr>
                        <a:t>0.066</a:t>
                      </a:r>
                    </a:p>
                  </a:txBody>
                  <a:tcPr marL="9525" marR="9525" marT="9525"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panose="020F0502020204030204" pitchFamily="34" charset="0"/>
                        </a:rPr>
                        <a:t>0.061</a:t>
                      </a:r>
                    </a:p>
                  </a:txBody>
                  <a:tcPr marL="9525" marR="9525" marT="9525" marB="0" anchor="b">
                    <a:lnL>
                      <a:noFill/>
                    </a:lnL>
                    <a:lnR>
                      <a:noFill/>
                    </a:lnR>
                    <a:lnT>
                      <a:noFill/>
                    </a:lnT>
                    <a:lnB>
                      <a:noFill/>
                    </a:lnB>
                  </a:tcPr>
                </a:tc>
                <a:tc>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panose="020F0502020204030204" pitchFamily="34" charset="0"/>
                        </a:rPr>
                        <a:t>0.066</a:t>
                      </a:r>
                    </a:p>
                  </a:txBody>
                  <a:tcPr marL="9525" marR="9525" marT="9525"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panose="020F0502020204030204" pitchFamily="34" charset="0"/>
                        </a:rPr>
                        <a:t>0.066</a:t>
                      </a:r>
                    </a:p>
                  </a:txBody>
                  <a:tcPr marL="9525" marR="9525" marT="9525" marB="0" anchor="b">
                    <a:lnL>
                      <a:noFill/>
                    </a:lnL>
                    <a:lnR>
                      <a:noFill/>
                    </a:lnR>
                    <a:lnT>
                      <a:noFill/>
                    </a:lnT>
                    <a:lnB>
                      <a:noFill/>
                    </a:lnB>
                  </a:tcPr>
                </a:tc>
                <a:extLst>
                  <a:ext uri="{0D108BD9-81ED-4DB2-BD59-A6C34878D82A}">
                    <a16:rowId xmlns:a16="http://schemas.microsoft.com/office/drawing/2014/main" val="10008"/>
                  </a:ext>
                </a:extLst>
              </a:tr>
              <a:tr h="234244">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r>
                        <a:rPr lang="en-US" sz="1600" b="0" i="0" u="none" strike="noStrike" dirty="0">
                          <a:solidFill>
                            <a:srgbClr val="000000"/>
                          </a:solidFill>
                          <a:effectLst/>
                          <a:latin typeface="Calibri" panose="020F0502020204030204" pitchFamily="34" charset="0"/>
                        </a:rPr>
                        <a:t>Black</a:t>
                      </a:r>
                    </a:p>
                  </a:txBody>
                  <a:tcPr marL="9525" marR="9525" marT="9525" marB="0" anchor="b">
                    <a:lnL>
                      <a:noFill/>
                    </a:lnL>
                    <a:lnR>
                      <a:noFill/>
                    </a:lnR>
                    <a:lnT>
                      <a:noFill/>
                    </a:lnT>
                    <a:lnB>
                      <a:noFill/>
                    </a:lnB>
                  </a:tcPr>
                </a:tc>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r" fontAlgn="b"/>
                      <a:r>
                        <a:rPr lang="en-US" sz="1600" b="0" i="0" u="none" strike="noStrike">
                          <a:solidFill>
                            <a:srgbClr val="000000"/>
                          </a:solidFill>
                          <a:effectLst/>
                          <a:latin typeface="Calibri" panose="020F0502020204030204" pitchFamily="34" charset="0"/>
                        </a:rPr>
                        <a:t>-0.021</a:t>
                      </a:r>
                    </a:p>
                  </a:txBody>
                  <a:tcPr marL="9525" marR="9525" marT="9525" marB="0" anchor="b">
                    <a:lnL>
                      <a:noFill/>
                    </a:lnL>
                    <a:lnR>
                      <a:noFill/>
                    </a:lnR>
                    <a:lnT>
                      <a:noFill/>
                    </a:lnT>
                    <a:lnB>
                      <a:noFill/>
                    </a:lnB>
                  </a:tcPr>
                </a:tc>
                <a:tc>
                  <a:txBody>
                    <a:bodyPr/>
                    <a:lstStyle/>
                    <a:p>
                      <a:pPr algn="r" fontAlgn="b"/>
                      <a:r>
                        <a:rPr lang="en-US" sz="1600" b="0" i="0" u="none" strike="noStrike" dirty="0">
                          <a:solidFill>
                            <a:srgbClr val="000000"/>
                          </a:solidFill>
                          <a:effectLst/>
                          <a:latin typeface="Calibri" panose="020F0502020204030204" pitchFamily="34" charset="0"/>
                        </a:rPr>
                        <a:t>-0.130</a:t>
                      </a:r>
                    </a:p>
                  </a:txBody>
                  <a:tcPr marL="9525" marR="9525" marT="9525" marB="0" anchor="b">
                    <a:lnL>
                      <a:noFill/>
                    </a:lnL>
                    <a:lnR>
                      <a:noFill/>
                    </a:lnR>
                    <a:lnT>
                      <a:noFill/>
                    </a:lnT>
                    <a:lnB>
                      <a:noFill/>
                    </a:lnB>
                  </a:tcPr>
                </a:tc>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r" fontAlgn="b"/>
                      <a:r>
                        <a:rPr lang="en-US" sz="1600" b="0" i="0" u="none" strike="noStrike" dirty="0">
                          <a:solidFill>
                            <a:srgbClr val="000000"/>
                          </a:solidFill>
                          <a:effectLst/>
                          <a:latin typeface="Calibri" panose="020F0502020204030204" pitchFamily="34" charset="0"/>
                        </a:rPr>
                        <a:t>-0.066</a:t>
                      </a:r>
                    </a:p>
                  </a:txBody>
                  <a:tcPr marL="9525" marR="9525" marT="9525" marB="0" anchor="b">
                    <a:lnL>
                      <a:noFill/>
                    </a:lnL>
                    <a:lnR>
                      <a:noFill/>
                    </a:lnR>
                    <a:lnT>
                      <a:noFill/>
                    </a:lnT>
                    <a:lnB>
                      <a:noFill/>
                    </a:lnB>
                  </a:tcPr>
                </a:tc>
                <a:tc>
                  <a:txBody>
                    <a:bodyPr/>
                    <a:lstStyle/>
                    <a:p>
                      <a:pPr algn="r" fontAlgn="b"/>
                      <a:r>
                        <a:rPr lang="en-US" sz="1600" b="0" i="0" u="none" strike="noStrike" dirty="0">
                          <a:solidFill>
                            <a:srgbClr val="000000"/>
                          </a:solidFill>
                          <a:effectLst/>
                          <a:latin typeface="Calibri" panose="020F0502020204030204" pitchFamily="34" charset="0"/>
                        </a:rPr>
                        <a:t>-0.097</a:t>
                      </a:r>
                    </a:p>
                  </a:txBody>
                  <a:tcPr marL="9525" marR="9525" marT="9525" marB="0" anchor="b">
                    <a:lnL>
                      <a:noFill/>
                    </a:lnL>
                    <a:lnR>
                      <a:noFill/>
                    </a:lnR>
                    <a:lnT>
                      <a:noFill/>
                    </a:lnT>
                    <a:lnB>
                      <a:noFill/>
                    </a:lnB>
                  </a:tcPr>
                </a:tc>
                <a:extLst>
                  <a:ext uri="{0D108BD9-81ED-4DB2-BD59-A6C34878D82A}">
                    <a16:rowId xmlns:a16="http://schemas.microsoft.com/office/drawing/2014/main" val="10009"/>
                  </a:ext>
                </a:extLst>
              </a:tr>
              <a:tr h="234244">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marL="0" algn="r" defTabSz="914400" rtl="0" eaLnBrk="1" fontAlgn="b" latinLnBrk="0" hangingPunct="1"/>
                      <a:endParaRPr lang="en-US" sz="1200" b="0" i="0" u="none" strike="noStrike" kern="1200" dirty="0">
                        <a:solidFill>
                          <a:srgbClr val="000000"/>
                        </a:solidFill>
                        <a:effectLst/>
                        <a:latin typeface="Calibri" panose="020F0502020204030204" pitchFamily="34" charset="0"/>
                        <a:ea typeface="+mn-ea"/>
                        <a:cs typeface="+mn-cs"/>
                      </a:endParaRPr>
                    </a:p>
                  </a:txBody>
                  <a:tcPr marL="9525" marR="9525" marT="9525" marB="0" anchor="b">
                    <a:lnL>
                      <a:noFill/>
                    </a:lnL>
                    <a:lnR>
                      <a:noFill/>
                    </a:lnR>
                    <a:lnT>
                      <a:noFill/>
                    </a:lnT>
                    <a:lnB>
                      <a:noFill/>
                    </a:lnB>
                  </a:tcPr>
                </a:tc>
                <a:tc>
                  <a:txBody>
                    <a:bodyPr/>
                    <a:lstStyle/>
                    <a:p>
                      <a:pPr marL="0" algn="r" defTabSz="914400" rtl="0" eaLnBrk="1" fontAlgn="b" latinLnBrk="0" hangingPunct="1"/>
                      <a:endParaRPr lang="en-US" sz="1200" b="0" i="0" u="none" strike="noStrike" kern="1200" dirty="0">
                        <a:solidFill>
                          <a:srgbClr val="000000"/>
                        </a:solidFill>
                        <a:effectLst/>
                        <a:latin typeface="Calibri" panose="020F0502020204030204" pitchFamily="34" charset="0"/>
                        <a:ea typeface="+mn-ea"/>
                        <a:cs typeface="+mn-cs"/>
                      </a:endParaRP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dirty="0">
                          <a:solidFill>
                            <a:srgbClr val="000000"/>
                          </a:solidFill>
                          <a:effectLst/>
                          <a:latin typeface="Calibri" panose="020F0502020204030204" pitchFamily="34" charset="0"/>
                          <a:ea typeface="+mn-ea"/>
                          <a:cs typeface="+mn-cs"/>
                        </a:rPr>
                        <a:t>0.109</a:t>
                      </a: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dirty="0">
                          <a:solidFill>
                            <a:srgbClr val="000000"/>
                          </a:solidFill>
                          <a:effectLst/>
                          <a:latin typeface="Calibri" panose="020F0502020204030204" pitchFamily="34" charset="0"/>
                          <a:ea typeface="+mn-ea"/>
                          <a:cs typeface="+mn-cs"/>
                        </a:rPr>
                        <a:t>0.098</a:t>
                      </a:r>
                    </a:p>
                  </a:txBody>
                  <a:tcPr marL="9525" marR="9525" marT="9525" marB="0" anchor="b">
                    <a:lnL>
                      <a:noFill/>
                    </a:lnL>
                    <a:lnR>
                      <a:noFill/>
                    </a:lnR>
                    <a:lnT>
                      <a:noFill/>
                    </a:lnT>
                    <a:lnB>
                      <a:noFill/>
                    </a:lnB>
                  </a:tcPr>
                </a:tc>
                <a:tc>
                  <a:txBody>
                    <a:bodyPr/>
                    <a:lstStyle/>
                    <a:p>
                      <a:pPr marL="0" algn="r" defTabSz="914400" rtl="0" eaLnBrk="1" fontAlgn="b" latinLnBrk="0" hangingPunct="1"/>
                      <a:endParaRPr lang="en-US" sz="1200" b="0" i="0" u="none" strike="noStrike" kern="1200" dirty="0">
                        <a:solidFill>
                          <a:srgbClr val="000000"/>
                        </a:solidFill>
                        <a:effectLst/>
                        <a:latin typeface="Calibri" panose="020F0502020204030204" pitchFamily="34" charset="0"/>
                        <a:ea typeface="+mn-ea"/>
                        <a:cs typeface="+mn-cs"/>
                      </a:endParaRP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dirty="0">
                          <a:solidFill>
                            <a:srgbClr val="000000"/>
                          </a:solidFill>
                          <a:effectLst/>
                          <a:latin typeface="Calibri" panose="020F0502020204030204" pitchFamily="34" charset="0"/>
                          <a:ea typeface="+mn-ea"/>
                          <a:cs typeface="+mn-cs"/>
                        </a:rPr>
                        <a:t>0.110</a:t>
                      </a: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dirty="0">
                          <a:solidFill>
                            <a:srgbClr val="000000"/>
                          </a:solidFill>
                          <a:effectLst/>
                          <a:latin typeface="Calibri" panose="020F0502020204030204" pitchFamily="34" charset="0"/>
                          <a:ea typeface="+mn-ea"/>
                          <a:cs typeface="+mn-cs"/>
                        </a:rPr>
                        <a:t>0.106</a:t>
                      </a:r>
                    </a:p>
                  </a:txBody>
                  <a:tcPr marL="9525" marR="9525" marT="9525" marB="0" anchor="b">
                    <a:lnL>
                      <a:noFill/>
                    </a:lnL>
                    <a:lnR>
                      <a:noFill/>
                    </a:lnR>
                    <a:lnT>
                      <a:noFill/>
                    </a:lnT>
                    <a:lnB>
                      <a:noFill/>
                    </a:lnB>
                  </a:tcPr>
                </a:tc>
                <a:extLst>
                  <a:ext uri="{0D108BD9-81ED-4DB2-BD59-A6C34878D82A}">
                    <a16:rowId xmlns:a16="http://schemas.microsoft.com/office/drawing/2014/main" val="10010"/>
                  </a:ext>
                </a:extLst>
              </a:tr>
              <a:tr h="234244">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r>
                        <a:rPr lang="en-US" sz="1600" b="0" i="0" u="none" strike="noStrike" dirty="0">
                          <a:solidFill>
                            <a:srgbClr val="000000"/>
                          </a:solidFill>
                          <a:effectLst/>
                          <a:latin typeface="Calibri" panose="020F0502020204030204" pitchFamily="34" charset="0"/>
                        </a:rPr>
                        <a:t>Hispanic</a:t>
                      </a:r>
                    </a:p>
                  </a:txBody>
                  <a:tcPr marL="9525" marR="9525" marT="9525" marB="0" anchor="b">
                    <a:lnL>
                      <a:noFill/>
                    </a:lnL>
                    <a:lnR>
                      <a:noFill/>
                    </a:lnR>
                    <a:lnT>
                      <a:noFill/>
                    </a:lnT>
                    <a:lnB>
                      <a:noFill/>
                    </a:lnB>
                  </a:tcPr>
                </a:tc>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r" fontAlgn="b"/>
                      <a:r>
                        <a:rPr lang="en-US" sz="1600" b="0" i="0" u="none" strike="noStrike">
                          <a:solidFill>
                            <a:srgbClr val="000000"/>
                          </a:solidFill>
                          <a:effectLst/>
                          <a:latin typeface="Calibri" panose="020F0502020204030204" pitchFamily="34" charset="0"/>
                        </a:rPr>
                        <a:t>0.025</a:t>
                      </a:r>
                    </a:p>
                  </a:txBody>
                  <a:tcPr marL="9525" marR="9525" marT="9525" marB="0" anchor="b">
                    <a:lnL>
                      <a:noFill/>
                    </a:lnL>
                    <a:lnR>
                      <a:noFill/>
                    </a:lnR>
                    <a:lnT>
                      <a:noFill/>
                    </a:lnT>
                    <a:lnB>
                      <a:noFill/>
                    </a:lnB>
                  </a:tcPr>
                </a:tc>
                <a:tc>
                  <a:txBody>
                    <a:bodyPr/>
                    <a:lstStyle/>
                    <a:p>
                      <a:pPr algn="r" fontAlgn="b"/>
                      <a:r>
                        <a:rPr lang="en-US" sz="1600" b="0" i="0" u="none" strike="noStrike">
                          <a:solidFill>
                            <a:srgbClr val="000000"/>
                          </a:solidFill>
                          <a:effectLst/>
                          <a:latin typeface="Calibri" panose="020F0502020204030204" pitchFamily="34" charset="0"/>
                        </a:rPr>
                        <a:t>0.091</a:t>
                      </a:r>
                    </a:p>
                  </a:txBody>
                  <a:tcPr marL="9525" marR="9525" marT="9525" marB="0" anchor="b">
                    <a:lnL>
                      <a:noFill/>
                    </a:lnL>
                    <a:lnR>
                      <a:noFill/>
                    </a:lnR>
                    <a:lnT>
                      <a:noFill/>
                    </a:lnT>
                    <a:lnB>
                      <a:noFill/>
                    </a:lnB>
                  </a:tcPr>
                </a:tc>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r" fontAlgn="b"/>
                      <a:r>
                        <a:rPr lang="en-US" sz="1600" b="0" i="0" u="none" strike="noStrike" dirty="0">
                          <a:solidFill>
                            <a:srgbClr val="000000"/>
                          </a:solidFill>
                          <a:effectLst/>
                          <a:latin typeface="Calibri" panose="020F0502020204030204" pitchFamily="34" charset="0"/>
                        </a:rPr>
                        <a:t>0.042</a:t>
                      </a:r>
                    </a:p>
                  </a:txBody>
                  <a:tcPr marL="9525" marR="9525" marT="9525" marB="0" anchor="b">
                    <a:lnL>
                      <a:noFill/>
                    </a:lnL>
                    <a:lnR>
                      <a:noFill/>
                    </a:lnR>
                    <a:lnT>
                      <a:noFill/>
                    </a:lnT>
                    <a:lnB>
                      <a:noFill/>
                    </a:lnB>
                  </a:tcPr>
                </a:tc>
                <a:tc>
                  <a:txBody>
                    <a:bodyPr/>
                    <a:lstStyle/>
                    <a:p>
                      <a:pPr algn="r" fontAlgn="b"/>
                      <a:r>
                        <a:rPr lang="en-US" sz="1600" b="0" i="0" u="none" strike="noStrike" dirty="0">
                          <a:solidFill>
                            <a:srgbClr val="000000"/>
                          </a:solidFill>
                          <a:effectLst/>
                          <a:latin typeface="Calibri" panose="020F0502020204030204" pitchFamily="34" charset="0"/>
                        </a:rPr>
                        <a:t>0.169</a:t>
                      </a:r>
                    </a:p>
                  </a:txBody>
                  <a:tcPr marL="9525" marR="9525" marT="9525" marB="0" anchor="b">
                    <a:lnL>
                      <a:noFill/>
                    </a:lnL>
                    <a:lnR>
                      <a:noFill/>
                    </a:lnR>
                    <a:lnT>
                      <a:noFill/>
                    </a:lnT>
                    <a:lnB>
                      <a:noFill/>
                    </a:lnB>
                  </a:tcPr>
                </a:tc>
                <a:extLst>
                  <a:ext uri="{0D108BD9-81ED-4DB2-BD59-A6C34878D82A}">
                    <a16:rowId xmlns:a16="http://schemas.microsoft.com/office/drawing/2014/main" val="10011"/>
                  </a:ext>
                </a:extLst>
              </a:tr>
              <a:tr h="234244">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marL="0" algn="r" defTabSz="914400" rtl="0" eaLnBrk="1" fontAlgn="b" latinLnBrk="0" hangingPunct="1"/>
                      <a:endParaRPr lang="en-US" sz="1200" b="0" i="0" u="none" strike="noStrike" kern="1200" dirty="0">
                        <a:solidFill>
                          <a:srgbClr val="000000"/>
                        </a:solidFill>
                        <a:effectLst/>
                        <a:latin typeface="Calibri" panose="020F0502020204030204" pitchFamily="34" charset="0"/>
                        <a:ea typeface="+mn-ea"/>
                        <a:cs typeface="+mn-cs"/>
                      </a:endParaRPr>
                    </a:p>
                  </a:txBody>
                  <a:tcPr marL="9525" marR="9525" marT="9525" marB="0" anchor="b">
                    <a:lnL>
                      <a:noFill/>
                    </a:lnL>
                    <a:lnR>
                      <a:noFill/>
                    </a:lnR>
                    <a:lnT>
                      <a:noFill/>
                    </a:lnT>
                    <a:lnB>
                      <a:noFill/>
                    </a:lnB>
                  </a:tcPr>
                </a:tc>
                <a:tc>
                  <a:txBody>
                    <a:bodyPr/>
                    <a:lstStyle/>
                    <a:p>
                      <a:pPr marL="0" algn="r" defTabSz="914400" rtl="0" eaLnBrk="1" fontAlgn="b" latinLnBrk="0" hangingPunct="1"/>
                      <a:endParaRPr lang="en-US" sz="1200" b="0" i="0" u="none" strike="noStrike" kern="1200" dirty="0">
                        <a:solidFill>
                          <a:srgbClr val="000000"/>
                        </a:solidFill>
                        <a:effectLst/>
                        <a:latin typeface="Calibri" panose="020F0502020204030204" pitchFamily="34" charset="0"/>
                        <a:ea typeface="+mn-ea"/>
                        <a:cs typeface="+mn-cs"/>
                      </a:endParaRP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dirty="0">
                          <a:solidFill>
                            <a:srgbClr val="000000"/>
                          </a:solidFill>
                          <a:effectLst/>
                          <a:latin typeface="Calibri" panose="020F0502020204030204" pitchFamily="34" charset="0"/>
                          <a:ea typeface="+mn-ea"/>
                          <a:cs typeface="+mn-cs"/>
                        </a:rPr>
                        <a:t>0.139</a:t>
                      </a: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dirty="0">
                          <a:solidFill>
                            <a:srgbClr val="000000"/>
                          </a:solidFill>
                          <a:effectLst/>
                          <a:latin typeface="Calibri" panose="020F0502020204030204" pitchFamily="34" charset="0"/>
                          <a:ea typeface="+mn-ea"/>
                          <a:cs typeface="+mn-cs"/>
                        </a:rPr>
                        <a:t>0.125</a:t>
                      </a:r>
                    </a:p>
                  </a:txBody>
                  <a:tcPr marL="9525" marR="9525" marT="9525" marB="0" anchor="b">
                    <a:lnL>
                      <a:noFill/>
                    </a:lnL>
                    <a:lnR>
                      <a:noFill/>
                    </a:lnR>
                    <a:lnT>
                      <a:noFill/>
                    </a:lnT>
                    <a:lnB>
                      <a:noFill/>
                    </a:lnB>
                  </a:tcPr>
                </a:tc>
                <a:tc>
                  <a:txBody>
                    <a:bodyPr/>
                    <a:lstStyle/>
                    <a:p>
                      <a:pPr marL="0" algn="r" defTabSz="914400" rtl="0" eaLnBrk="1" fontAlgn="b" latinLnBrk="0" hangingPunct="1"/>
                      <a:endParaRPr lang="en-US" sz="1200" b="0" i="0" u="none" strike="noStrike" kern="1200" dirty="0">
                        <a:solidFill>
                          <a:srgbClr val="000000"/>
                        </a:solidFill>
                        <a:effectLst/>
                        <a:latin typeface="Calibri" panose="020F0502020204030204" pitchFamily="34" charset="0"/>
                        <a:ea typeface="+mn-ea"/>
                        <a:cs typeface="+mn-cs"/>
                      </a:endParaRP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dirty="0">
                          <a:solidFill>
                            <a:srgbClr val="000000"/>
                          </a:solidFill>
                          <a:effectLst/>
                          <a:latin typeface="Calibri" panose="020F0502020204030204" pitchFamily="34" charset="0"/>
                          <a:ea typeface="+mn-ea"/>
                          <a:cs typeface="+mn-cs"/>
                        </a:rPr>
                        <a:t>0.144</a:t>
                      </a: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dirty="0">
                          <a:solidFill>
                            <a:srgbClr val="000000"/>
                          </a:solidFill>
                          <a:effectLst/>
                          <a:latin typeface="Calibri" panose="020F0502020204030204" pitchFamily="34" charset="0"/>
                          <a:ea typeface="+mn-ea"/>
                          <a:cs typeface="+mn-cs"/>
                        </a:rPr>
                        <a:t>0.138</a:t>
                      </a:r>
                    </a:p>
                  </a:txBody>
                  <a:tcPr marL="9525" marR="9525" marT="9525" marB="0" anchor="b">
                    <a:lnL>
                      <a:noFill/>
                    </a:lnL>
                    <a:lnR>
                      <a:noFill/>
                    </a:lnR>
                    <a:lnT>
                      <a:noFill/>
                    </a:lnT>
                    <a:lnB>
                      <a:noFill/>
                    </a:lnB>
                  </a:tcPr>
                </a:tc>
                <a:extLst>
                  <a:ext uri="{0D108BD9-81ED-4DB2-BD59-A6C34878D82A}">
                    <a16:rowId xmlns:a16="http://schemas.microsoft.com/office/drawing/2014/main" val="10012"/>
                  </a:ext>
                </a:extLst>
              </a:tr>
              <a:tr h="234244">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r>
                        <a:rPr lang="en-US" sz="1600" b="0" i="0" u="none" strike="noStrike">
                          <a:solidFill>
                            <a:srgbClr val="000000"/>
                          </a:solidFill>
                          <a:effectLst/>
                          <a:latin typeface="Calibri" panose="020F0502020204030204" pitchFamily="34" charset="0"/>
                        </a:rPr>
                        <a:t>Other</a:t>
                      </a:r>
                    </a:p>
                  </a:txBody>
                  <a:tcPr marL="9525" marR="9525" marT="9525" marB="0" anchor="b">
                    <a:lnL>
                      <a:noFill/>
                    </a:lnL>
                    <a:lnR>
                      <a:noFill/>
                    </a:lnR>
                    <a:lnT>
                      <a:noFill/>
                    </a:lnT>
                    <a:lnB>
                      <a:noFill/>
                    </a:lnB>
                  </a:tcPr>
                </a:tc>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r" fontAlgn="b"/>
                      <a:r>
                        <a:rPr lang="en-US" sz="1600" b="0" i="0" u="none" strike="noStrike">
                          <a:solidFill>
                            <a:srgbClr val="000000"/>
                          </a:solidFill>
                          <a:effectLst/>
                          <a:latin typeface="Calibri" panose="020F0502020204030204" pitchFamily="34" charset="0"/>
                        </a:rPr>
                        <a:t>0.267</a:t>
                      </a:r>
                    </a:p>
                  </a:txBody>
                  <a:tcPr marL="9525" marR="9525" marT="9525" marB="0" anchor="b">
                    <a:lnL>
                      <a:noFill/>
                    </a:lnL>
                    <a:lnR>
                      <a:noFill/>
                    </a:lnR>
                    <a:lnT>
                      <a:noFill/>
                    </a:lnT>
                    <a:lnB>
                      <a:noFill/>
                    </a:lnB>
                  </a:tcPr>
                </a:tc>
                <a:tc>
                  <a:txBody>
                    <a:bodyPr/>
                    <a:lstStyle/>
                    <a:p>
                      <a:pPr algn="r" fontAlgn="b"/>
                      <a:r>
                        <a:rPr lang="en-US" sz="1600" b="0" i="0" u="none" strike="noStrike">
                          <a:solidFill>
                            <a:srgbClr val="000000"/>
                          </a:solidFill>
                          <a:effectLst/>
                          <a:latin typeface="Calibri" panose="020F0502020204030204" pitchFamily="34" charset="0"/>
                        </a:rPr>
                        <a:t>0.067</a:t>
                      </a:r>
                    </a:p>
                  </a:txBody>
                  <a:tcPr marL="9525" marR="9525" marT="9525" marB="0" anchor="b">
                    <a:lnL>
                      <a:noFill/>
                    </a:lnL>
                    <a:lnR>
                      <a:noFill/>
                    </a:lnR>
                    <a:lnT>
                      <a:noFill/>
                    </a:lnT>
                    <a:lnB>
                      <a:noFill/>
                    </a:lnB>
                  </a:tcPr>
                </a:tc>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r" fontAlgn="b"/>
                      <a:r>
                        <a:rPr lang="en-US" sz="1600" b="0" i="0" u="none" strike="noStrike" dirty="0">
                          <a:solidFill>
                            <a:srgbClr val="000000"/>
                          </a:solidFill>
                          <a:effectLst/>
                          <a:latin typeface="Calibri" panose="020F0502020204030204" pitchFamily="34" charset="0"/>
                        </a:rPr>
                        <a:t>0.104</a:t>
                      </a:r>
                    </a:p>
                  </a:txBody>
                  <a:tcPr marL="9525" marR="9525" marT="9525" marB="0" anchor="b">
                    <a:lnL>
                      <a:noFill/>
                    </a:lnL>
                    <a:lnR>
                      <a:noFill/>
                    </a:lnR>
                    <a:lnT>
                      <a:noFill/>
                    </a:lnT>
                    <a:lnB>
                      <a:noFill/>
                    </a:lnB>
                  </a:tcPr>
                </a:tc>
                <a:tc>
                  <a:txBody>
                    <a:bodyPr/>
                    <a:lstStyle/>
                    <a:p>
                      <a:pPr algn="r" fontAlgn="b"/>
                      <a:r>
                        <a:rPr lang="en-US" sz="1600" b="0" i="0" u="none" strike="noStrike">
                          <a:solidFill>
                            <a:srgbClr val="000000"/>
                          </a:solidFill>
                          <a:effectLst/>
                          <a:latin typeface="Calibri" panose="020F0502020204030204" pitchFamily="34" charset="0"/>
                        </a:rPr>
                        <a:t>0.003</a:t>
                      </a:r>
                    </a:p>
                  </a:txBody>
                  <a:tcPr marL="9525" marR="9525" marT="9525" marB="0" anchor="b">
                    <a:lnL>
                      <a:noFill/>
                    </a:lnL>
                    <a:lnR>
                      <a:noFill/>
                    </a:lnR>
                    <a:lnT>
                      <a:noFill/>
                    </a:lnT>
                    <a:lnB>
                      <a:noFill/>
                    </a:lnB>
                  </a:tcPr>
                </a:tc>
                <a:extLst>
                  <a:ext uri="{0D108BD9-81ED-4DB2-BD59-A6C34878D82A}">
                    <a16:rowId xmlns:a16="http://schemas.microsoft.com/office/drawing/2014/main" val="10013"/>
                  </a:ext>
                </a:extLst>
              </a:tr>
              <a:tr h="234244">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marL="0" algn="r" defTabSz="914400" rtl="0" eaLnBrk="1" fontAlgn="b" latinLnBrk="0" hangingPunct="1"/>
                      <a:endParaRPr lang="en-US" sz="1200" b="0" i="0" u="none" strike="noStrike" kern="1200" dirty="0">
                        <a:solidFill>
                          <a:srgbClr val="000000"/>
                        </a:solidFill>
                        <a:effectLst/>
                        <a:latin typeface="Calibri" panose="020F0502020204030204" pitchFamily="34" charset="0"/>
                        <a:ea typeface="+mn-ea"/>
                        <a:cs typeface="+mn-cs"/>
                      </a:endParaRPr>
                    </a:p>
                  </a:txBody>
                  <a:tcPr marL="9525" marR="9525" marT="9525" marB="0" anchor="b">
                    <a:lnL>
                      <a:noFill/>
                    </a:lnL>
                    <a:lnR>
                      <a:noFill/>
                    </a:lnR>
                    <a:lnT>
                      <a:noFill/>
                    </a:lnT>
                    <a:lnB>
                      <a:noFill/>
                    </a:lnB>
                  </a:tcPr>
                </a:tc>
                <a:tc>
                  <a:txBody>
                    <a:bodyPr/>
                    <a:lstStyle/>
                    <a:p>
                      <a:pPr marL="0" algn="r" defTabSz="914400" rtl="0" eaLnBrk="1" fontAlgn="b" latinLnBrk="0" hangingPunct="1"/>
                      <a:endParaRPr lang="en-US" sz="1200" b="0" i="0" u="none" strike="noStrike" kern="1200" dirty="0">
                        <a:solidFill>
                          <a:srgbClr val="000000"/>
                        </a:solidFill>
                        <a:effectLst/>
                        <a:latin typeface="Calibri" panose="020F0502020204030204" pitchFamily="34" charset="0"/>
                        <a:ea typeface="+mn-ea"/>
                        <a:cs typeface="+mn-cs"/>
                      </a:endParaRP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dirty="0">
                          <a:solidFill>
                            <a:srgbClr val="000000"/>
                          </a:solidFill>
                          <a:effectLst/>
                          <a:latin typeface="Calibri" panose="020F0502020204030204" pitchFamily="34" charset="0"/>
                          <a:ea typeface="+mn-ea"/>
                          <a:cs typeface="+mn-cs"/>
                        </a:rPr>
                        <a:t>0.165</a:t>
                      </a: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dirty="0">
                          <a:solidFill>
                            <a:srgbClr val="000000"/>
                          </a:solidFill>
                          <a:effectLst/>
                          <a:latin typeface="Calibri" panose="020F0502020204030204" pitchFamily="34" charset="0"/>
                          <a:ea typeface="+mn-ea"/>
                          <a:cs typeface="+mn-cs"/>
                        </a:rPr>
                        <a:t>0.149</a:t>
                      </a:r>
                    </a:p>
                  </a:txBody>
                  <a:tcPr marL="9525" marR="9525" marT="9525" marB="0" anchor="b">
                    <a:lnL>
                      <a:noFill/>
                    </a:lnL>
                    <a:lnR>
                      <a:noFill/>
                    </a:lnR>
                    <a:lnT>
                      <a:noFill/>
                    </a:lnT>
                    <a:lnB>
                      <a:noFill/>
                    </a:lnB>
                  </a:tcPr>
                </a:tc>
                <a:tc>
                  <a:txBody>
                    <a:bodyPr/>
                    <a:lstStyle/>
                    <a:p>
                      <a:pPr marL="0" algn="r" defTabSz="914400" rtl="0" eaLnBrk="1" fontAlgn="b" latinLnBrk="0" hangingPunct="1"/>
                      <a:endParaRPr lang="en-US" sz="1200" b="0" i="0" u="none" strike="noStrike" kern="1200" dirty="0">
                        <a:solidFill>
                          <a:srgbClr val="000000"/>
                        </a:solidFill>
                        <a:effectLst/>
                        <a:latin typeface="Calibri" panose="020F0502020204030204" pitchFamily="34" charset="0"/>
                        <a:ea typeface="+mn-ea"/>
                        <a:cs typeface="+mn-cs"/>
                      </a:endParaRP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dirty="0">
                          <a:solidFill>
                            <a:srgbClr val="000000"/>
                          </a:solidFill>
                          <a:effectLst/>
                          <a:latin typeface="Calibri" panose="020F0502020204030204" pitchFamily="34" charset="0"/>
                          <a:ea typeface="+mn-ea"/>
                          <a:cs typeface="+mn-cs"/>
                        </a:rPr>
                        <a:t>0.163</a:t>
                      </a: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dirty="0">
                          <a:solidFill>
                            <a:srgbClr val="000000"/>
                          </a:solidFill>
                          <a:effectLst/>
                          <a:latin typeface="Calibri" panose="020F0502020204030204" pitchFamily="34" charset="0"/>
                          <a:ea typeface="+mn-ea"/>
                          <a:cs typeface="+mn-cs"/>
                        </a:rPr>
                        <a:t>0.156</a:t>
                      </a:r>
                    </a:p>
                  </a:txBody>
                  <a:tcPr marL="9525" marR="9525" marT="9525" marB="0" anchor="b">
                    <a:lnL>
                      <a:noFill/>
                    </a:lnL>
                    <a:lnR>
                      <a:noFill/>
                    </a:lnR>
                    <a:lnT>
                      <a:noFill/>
                    </a:lnT>
                    <a:lnB>
                      <a:noFill/>
                    </a:lnB>
                  </a:tcPr>
                </a:tc>
                <a:extLst>
                  <a:ext uri="{0D108BD9-81ED-4DB2-BD59-A6C34878D82A}">
                    <a16:rowId xmlns:a16="http://schemas.microsoft.com/office/drawing/2014/main" val="10014"/>
                  </a:ext>
                </a:extLst>
              </a:tr>
              <a:tr h="234244">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r>
                        <a:rPr lang="en-US" sz="1600" b="0" i="0" u="none" strike="noStrike">
                          <a:solidFill>
                            <a:srgbClr val="000000"/>
                          </a:solidFill>
                          <a:effectLst/>
                          <a:latin typeface="Calibri" panose="020F0502020204030204" pitchFamily="34" charset="0"/>
                        </a:rPr>
                        <a:t>Age in mo.</a:t>
                      </a:r>
                    </a:p>
                  </a:txBody>
                  <a:tcPr marL="9525" marR="9525" marT="9525" marB="0" anchor="b">
                    <a:lnL>
                      <a:noFill/>
                    </a:lnL>
                    <a:lnR>
                      <a:noFill/>
                    </a:lnR>
                    <a:lnT>
                      <a:noFill/>
                    </a:lnT>
                    <a:lnB>
                      <a:noFill/>
                    </a:lnB>
                  </a:tcPr>
                </a:tc>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r" fontAlgn="b"/>
                      <a:r>
                        <a:rPr lang="en-US" sz="1600" b="0" i="0" u="none" strike="noStrike">
                          <a:solidFill>
                            <a:srgbClr val="000000"/>
                          </a:solidFill>
                          <a:effectLst/>
                          <a:latin typeface="Calibri" panose="020F0502020204030204" pitchFamily="34" charset="0"/>
                        </a:rPr>
                        <a:t>0.005</a:t>
                      </a:r>
                    </a:p>
                  </a:txBody>
                  <a:tcPr marL="9525" marR="9525" marT="9525" marB="0" anchor="b">
                    <a:lnL>
                      <a:noFill/>
                    </a:lnL>
                    <a:lnR>
                      <a:noFill/>
                    </a:lnR>
                    <a:lnT>
                      <a:noFill/>
                    </a:lnT>
                    <a:lnB>
                      <a:noFill/>
                    </a:lnB>
                  </a:tcPr>
                </a:tc>
                <a:tc>
                  <a:txBody>
                    <a:bodyPr/>
                    <a:lstStyle/>
                    <a:p>
                      <a:pPr algn="r" fontAlgn="b"/>
                      <a:r>
                        <a:rPr lang="en-US" sz="1600" b="0" i="0" u="none" strike="noStrike">
                          <a:solidFill>
                            <a:srgbClr val="000000"/>
                          </a:solidFill>
                          <a:effectLst/>
                          <a:latin typeface="Calibri" panose="020F0502020204030204" pitchFamily="34" charset="0"/>
                        </a:rPr>
                        <a:t>0.043</a:t>
                      </a:r>
                    </a:p>
                  </a:txBody>
                  <a:tcPr marL="9525" marR="9525" marT="9525" marB="0" anchor="b">
                    <a:lnL>
                      <a:noFill/>
                    </a:lnL>
                    <a:lnR>
                      <a:noFill/>
                    </a:lnR>
                    <a:lnT>
                      <a:noFill/>
                    </a:lnT>
                    <a:lnB>
                      <a:noFill/>
                    </a:lnB>
                  </a:tcPr>
                </a:tc>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r" fontAlgn="b"/>
                      <a:r>
                        <a:rPr lang="en-US" sz="1600" b="0" i="0" u="none" strike="noStrike" dirty="0">
                          <a:solidFill>
                            <a:srgbClr val="000000"/>
                          </a:solidFill>
                          <a:effectLst/>
                          <a:latin typeface="Calibri" panose="020F0502020204030204" pitchFamily="34" charset="0"/>
                        </a:rPr>
                        <a:t>-0.045</a:t>
                      </a:r>
                    </a:p>
                  </a:txBody>
                  <a:tcPr marL="9525" marR="9525" marT="9525" marB="0" anchor="b">
                    <a:lnL>
                      <a:noFill/>
                    </a:lnL>
                    <a:lnR>
                      <a:noFill/>
                    </a:lnR>
                    <a:lnT>
                      <a:noFill/>
                    </a:lnT>
                    <a:lnB>
                      <a:noFill/>
                    </a:lnB>
                  </a:tcPr>
                </a:tc>
                <a:tc>
                  <a:txBody>
                    <a:bodyPr/>
                    <a:lstStyle/>
                    <a:p>
                      <a:pPr algn="r" fontAlgn="b"/>
                      <a:r>
                        <a:rPr lang="en-US" sz="1600" b="0" i="0" u="none" strike="noStrike" dirty="0">
                          <a:solidFill>
                            <a:srgbClr val="000000"/>
                          </a:solidFill>
                          <a:effectLst/>
                          <a:latin typeface="Calibri" panose="020F0502020204030204" pitchFamily="34" charset="0"/>
                        </a:rPr>
                        <a:t>-0.023</a:t>
                      </a:r>
                    </a:p>
                  </a:txBody>
                  <a:tcPr marL="9525" marR="9525" marT="9525" marB="0" anchor="b">
                    <a:lnL>
                      <a:noFill/>
                    </a:lnL>
                    <a:lnR>
                      <a:noFill/>
                    </a:lnR>
                    <a:lnT>
                      <a:noFill/>
                    </a:lnT>
                    <a:lnB>
                      <a:noFill/>
                    </a:lnB>
                  </a:tcPr>
                </a:tc>
                <a:extLst>
                  <a:ext uri="{0D108BD9-81ED-4DB2-BD59-A6C34878D82A}">
                    <a16:rowId xmlns:a16="http://schemas.microsoft.com/office/drawing/2014/main" val="10015"/>
                  </a:ext>
                </a:extLst>
              </a:tr>
              <a:tr h="234244">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marL="0" algn="r" defTabSz="914400" rtl="0" eaLnBrk="1" fontAlgn="b" latinLnBrk="0" hangingPunct="1"/>
                      <a:endParaRPr lang="en-US" sz="1200" b="0" i="0" u="none" strike="noStrike" kern="1200" dirty="0">
                        <a:solidFill>
                          <a:srgbClr val="000000"/>
                        </a:solidFill>
                        <a:effectLst/>
                        <a:latin typeface="Calibri" panose="020F0502020204030204" pitchFamily="34" charset="0"/>
                        <a:ea typeface="+mn-ea"/>
                        <a:cs typeface="+mn-cs"/>
                      </a:endParaRPr>
                    </a:p>
                  </a:txBody>
                  <a:tcPr marL="9525" marR="9525" marT="9525" marB="0" anchor="b">
                    <a:lnL>
                      <a:noFill/>
                    </a:lnL>
                    <a:lnR>
                      <a:noFill/>
                    </a:lnR>
                    <a:lnT>
                      <a:noFill/>
                    </a:lnT>
                    <a:lnB>
                      <a:noFill/>
                    </a:lnB>
                  </a:tcPr>
                </a:tc>
                <a:tc>
                  <a:txBody>
                    <a:bodyPr/>
                    <a:lstStyle/>
                    <a:p>
                      <a:pPr marL="0" algn="r" defTabSz="914400" rtl="0" eaLnBrk="1" fontAlgn="b" latinLnBrk="0" hangingPunct="1"/>
                      <a:endParaRPr lang="en-US" sz="1200" b="0" i="0" u="none" strike="noStrike" kern="1200">
                        <a:solidFill>
                          <a:srgbClr val="000000"/>
                        </a:solidFill>
                        <a:effectLst/>
                        <a:latin typeface="Calibri" panose="020F0502020204030204" pitchFamily="34" charset="0"/>
                        <a:ea typeface="+mn-ea"/>
                        <a:cs typeface="+mn-cs"/>
                      </a:endParaRP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0.034</a:t>
                      </a: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0.031</a:t>
                      </a:r>
                    </a:p>
                  </a:txBody>
                  <a:tcPr marL="9525" marR="9525" marT="9525" marB="0" anchor="b">
                    <a:lnL>
                      <a:noFill/>
                    </a:lnL>
                    <a:lnR>
                      <a:noFill/>
                    </a:lnR>
                    <a:lnT>
                      <a:noFill/>
                    </a:lnT>
                    <a:lnB>
                      <a:noFill/>
                    </a:lnB>
                  </a:tcPr>
                </a:tc>
                <a:tc>
                  <a:txBody>
                    <a:bodyPr/>
                    <a:lstStyle/>
                    <a:p>
                      <a:pPr marL="0" algn="r" defTabSz="914400" rtl="0" eaLnBrk="1" fontAlgn="b" latinLnBrk="0" hangingPunct="1"/>
                      <a:endParaRPr lang="en-US" sz="1200" b="0" i="0" u="none" strike="noStrike" kern="1200">
                        <a:solidFill>
                          <a:srgbClr val="000000"/>
                        </a:solidFill>
                        <a:effectLst/>
                        <a:latin typeface="Calibri" panose="020F0502020204030204" pitchFamily="34" charset="0"/>
                        <a:ea typeface="+mn-ea"/>
                        <a:cs typeface="+mn-cs"/>
                      </a:endParaRP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0.034</a:t>
                      </a: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dirty="0">
                          <a:solidFill>
                            <a:srgbClr val="000000"/>
                          </a:solidFill>
                          <a:effectLst/>
                          <a:latin typeface="Calibri" panose="020F0502020204030204" pitchFamily="34" charset="0"/>
                          <a:ea typeface="+mn-ea"/>
                          <a:cs typeface="+mn-cs"/>
                        </a:rPr>
                        <a:t>0.033</a:t>
                      </a:r>
                    </a:p>
                  </a:txBody>
                  <a:tcPr marL="9525" marR="9525" marT="9525" marB="0" anchor="b">
                    <a:lnL>
                      <a:noFill/>
                    </a:lnL>
                    <a:lnR>
                      <a:noFill/>
                    </a:lnR>
                    <a:lnT>
                      <a:noFill/>
                    </a:lnT>
                    <a:lnB>
                      <a:noFill/>
                    </a:lnB>
                  </a:tcPr>
                </a:tc>
                <a:extLst>
                  <a:ext uri="{0D108BD9-81ED-4DB2-BD59-A6C34878D82A}">
                    <a16:rowId xmlns:a16="http://schemas.microsoft.com/office/drawing/2014/main" val="10016"/>
                  </a:ext>
                </a:extLst>
              </a:tr>
              <a:tr h="234244">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r>
                        <a:rPr lang="en-US" sz="1600" b="0" i="0" u="none" strike="noStrike" dirty="0">
                          <a:solidFill>
                            <a:srgbClr val="000000"/>
                          </a:solidFill>
                          <a:effectLst/>
                          <a:latin typeface="Calibri" panose="020F0502020204030204" pitchFamily="34" charset="0"/>
                        </a:rPr>
                        <a:t>Log of Income</a:t>
                      </a:r>
                    </a:p>
                  </a:txBody>
                  <a:tcPr marL="9525" marR="9525" marT="9525" marB="0" anchor="b">
                    <a:lnL>
                      <a:noFill/>
                    </a:lnL>
                    <a:lnR>
                      <a:noFill/>
                    </a:lnR>
                    <a:lnT>
                      <a:noFill/>
                    </a:lnT>
                    <a:lnB>
                      <a:noFill/>
                    </a:lnB>
                  </a:tcPr>
                </a:tc>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r" fontAlgn="b"/>
                      <a:r>
                        <a:rPr lang="en-US" sz="1600" b="0" i="0" u="none" strike="noStrike" dirty="0">
                          <a:solidFill>
                            <a:srgbClr val="000000"/>
                          </a:solidFill>
                          <a:effectLst/>
                          <a:latin typeface="Calibri" panose="020F0502020204030204" pitchFamily="34" charset="0"/>
                        </a:rPr>
                        <a:t>0.064</a:t>
                      </a:r>
                    </a:p>
                  </a:txBody>
                  <a:tcPr marL="9525" marR="9525" marT="9525" marB="0" anchor="b">
                    <a:lnL>
                      <a:noFill/>
                    </a:lnL>
                    <a:lnR>
                      <a:noFill/>
                    </a:lnR>
                    <a:lnT>
                      <a:noFill/>
                    </a:lnT>
                    <a:lnB>
                      <a:noFill/>
                    </a:lnB>
                  </a:tcPr>
                </a:tc>
                <a:tc>
                  <a:txBody>
                    <a:bodyPr/>
                    <a:lstStyle/>
                    <a:p>
                      <a:pPr algn="r" fontAlgn="b"/>
                      <a:r>
                        <a:rPr lang="en-US" sz="1600" b="0" i="0" u="none" strike="noStrike" dirty="0">
                          <a:solidFill>
                            <a:srgbClr val="000000"/>
                          </a:solidFill>
                          <a:effectLst/>
                          <a:latin typeface="Calibri" panose="020F0502020204030204" pitchFamily="34" charset="0"/>
                        </a:rPr>
                        <a:t>0.020</a:t>
                      </a:r>
                    </a:p>
                  </a:txBody>
                  <a:tcPr marL="9525" marR="9525" marT="9525" marB="0" anchor="b">
                    <a:lnL>
                      <a:noFill/>
                    </a:lnL>
                    <a:lnR>
                      <a:noFill/>
                    </a:lnR>
                    <a:lnT>
                      <a:noFill/>
                    </a:lnT>
                    <a:lnB>
                      <a:noFill/>
                    </a:lnB>
                  </a:tcPr>
                </a:tc>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r" fontAlgn="b"/>
                      <a:r>
                        <a:rPr lang="en-US" sz="1600" b="0" i="0" u="none" strike="noStrike" dirty="0">
                          <a:solidFill>
                            <a:srgbClr val="000000"/>
                          </a:solidFill>
                          <a:effectLst/>
                          <a:latin typeface="Calibri" panose="020F0502020204030204" pitchFamily="34" charset="0"/>
                        </a:rPr>
                        <a:t>-0.003</a:t>
                      </a:r>
                    </a:p>
                  </a:txBody>
                  <a:tcPr marL="9525" marR="9525" marT="9525" marB="0" anchor="b">
                    <a:lnL>
                      <a:noFill/>
                    </a:lnL>
                    <a:lnR>
                      <a:noFill/>
                    </a:lnR>
                    <a:lnT>
                      <a:noFill/>
                    </a:lnT>
                    <a:lnB>
                      <a:noFill/>
                    </a:lnB>
                  </a:tcPr>
                </a:tc>
                <a:tc>
                  <a:txBody>
                    <a:bodyPr/>
                    <a:lstStyle/>
                    <a:p>
                      <a:pPr algn="r" fontAlgn="b"/>
                      <a:r>
                        <a:rPr lang="en-US" sz="1600" b="0" i="0" u="none" strike="noStrike" dirty="0">
                          <a:solidFill>
                            <a:srgbClr val="000000"/>
                          </a:solidFill>
                          <a:effectLst/>
                          <a:latin typeface="Calibri" panose="020F0502020204030204" pitchFamily="34" charset="0"/>
                        </a:rPr>
                        <a:t>-0.031</a:t>
                      </a:r>
                    </a:p>
                  </a:txBody>
                  <a:tcPr marL="9525" marR="9525" marT="9525" marB="0" anchor="b">
                    <a:lnL>
                      <a:noFill/>
                    </a:lnL>
                    <a:lnR>
                      <a:noFill/>
                    </a:lnR>
                    <a:lnT>
                      <a:noFill/>
                    </a:lnT>
                    <a:lnB>
                      <a:noFill/>
                    </a:lnB>
                  </a:tcPr>
                </a:tc>
                <a:extLst>
                  <a:ext uri="{0D108BD9-81ED-4DB2-BD59-A6C34878D82A}">
                    <a16:rowId xmlns:a16="http://schemas.microsoft.com/office/drawing/2014/main" val="10017"/>
                  </a:ext>
                </a:extLst>
              </a:tr>
              <a:tr h="234244">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marL="0" algn="r" defTabSz="914400" rtl="0" eaLnBrk="1" fontAlgn="b" latinLnBrk="0" hangingPunct="1"/>
                      <a:endParaRPr lang="en-US" sz="1200" b="0" i="0" u="none" strike="noStrike" kern="1200" dirty="0">
                        <a:solidFill>
                          <a:srgbClr val="000000"/>
                        </a:solidFill>
                        <a:effectLst/>
                        <a:latin typeface="Calibri" panose="020F0502020204030204" pitchFamily="34" charset="0"/>
                        <a:ea typeface="+mn-ea"/>
                        <a:cs typeface="+mn-cs"/>
                      </a:endParaRPr>
                    </a:p>
                  </a:txBody>
                  <a:tcPr marL="9525" marR="9525" marT="9525" marB="0" anchor="b">
                    <a:lnL>
                      <a:noFill/>
                    </a:lnL>
                    <a:lnR>
                      <a:noFill/>
                    </a:lnR>
                    <a:lnT>
                      <a:noFill/>
                    </a:lnT>
                    <a:lnB>
                      <a:noFill/>
                    </a:lnB>
                  </a:tcPr>
                </a:tc>
                <a:tc>
                  <a:txBody>
                    <a:bodyPr/>
                    <a:lstStyle/>
                    <a:p>
                      <a:pPr marL="0" algn="r" defTabSz="914400" rtl="0" eaLnBrk="1" fontAlgn="b" latinLnBrk="0" hangingPunct="1"/>
                      <a:endParaRPr lang="en-US" sz="1200" b="0" i="0" u="none" strike="noStrike" kern="1200">
                        <a:solidFill>
                          <a:srgbClr val="000000"/>
                        </a:solidFill>
                        <a:effectLst/>
                        <a:latin typeface="Calibri" panose="020F0502020204030204" pitchFamily="34" charset="0"/>
                        <a:ea typeface="+mn-ea"/>
                        <a:cs typeface="+mn-cs"/>
                      </a:endParaRP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0.051</a:t>
                      </a: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a:solidFill>
                            <a:srgbClr val="000000"/>
                          </a:solidFill>
                          <a:effectLst/>
                          <a:latin typeface="Calibri" panose="020F0502020204030204" pitchFamily="34" charset="0"/>
                          <a:ea typeface="+mn-ea"/>
                          <a:cs typeface="+mn-cs"/>
                        </a:rPr>
                        <a:t>0.046</a:t>
                      </a:r>
                    </a:p>
                  </a:txBody>
                  <a:tcPr marL="9525" marR="9525" marT="9525" marB="0" anchor="b">
                    <a:lnL>
                      <a:noFill/>
                    </a:lnL>
                    <a:lnR>
                      <a:noFill/>
                    </a:lnR>
                    <a:lnT>
                      <a:noFill/>
                    </a:lnT>
                    <a:lnB>
                      <a:noFill/>
                    </a:lnB>
                  </a:tcPr>
                </a:tc>
                <a:tc>
                  <a:txBody>
                    <a:bodyPr/>
                    <a:lstStyle/>
                    <a:p>
                      <a:pPr marL="0" algn="r" defTabSz="914400" rtl="0" eaLnBrk="1" fontAlgn="b" latinLnBrk="0" hangingPunct="1"/>
                      <a:endParaRPr lang="en-US" sz="1200" b="0" i="0" u="none" strike="noStrike" kern="1200">
                        <a:solidFill>
                          <a:srgbClr val="000000"/>
                        </a:solidFill>
                        <a:effectLst/>
                        <a:latin typeface="Calibri" panose="020F0502020204030204" pitchFamily="34" charset="0"/>
                        <a:ea typeface="+mn-ea"/>
                        <a:cs typeface="+mn-cs"/>
                      </a:endParaRP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dirty="0">
                          <a:solidFill>
                            <a:srgbClr val="000000"/>
                          </a:solidFill>
                          <a:effectLst/>
                          <a:latin typeface="Calibri" panose="020F0502020204030204" pitchFamily="34" charset="0"/>
                          <a:ea typeface="+mn-ea"/>
                          <a:cs typeface="+mn-cs"/>
                        </a:rPr>
                        <a:t>0.051</a:t>
                      </a: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dirty="0">
                          <a:solidFill>
                            <a:srgbClr val="000000"/>
                          </a:solidFill>
                          <a:effectLst/>
                          <a:latin typeface="Calibri" panose="020F0502020204030204" pitchFamily="34" charset="0"/>
                          <a:ea typeface="+mn-ea"/>
                          <a:cs typeface="+mn-cs"/>
                        </a:rPr>
                        <a:t>0.049</a:t>
                      </a:r>
                    </a:p>
                  </a:txBody>
                  <a:tcPr marL="9525" marR="9525" marT="9525" marB="0" anchor="b">
                    <a:lnL>
                      <a:noFill/>
                    </a:lnL>
                    <a:lnR>
                      <a:noFill/>
                    </a:lnR>
                    <a:lnT>
                      <a:noFill/>
                    </a:lnT>
                    <a:lnB>
                      <a:noFill/>
                    </a:lnB>
                  </a:tcPr>
                </a:tc>
                <a:extLst>
                  <a:ext uri="{0D108BD9-81ED-4DB2-BD59-A6C34878D82A}">
                    <a16:rowId xmlns:a16="http://schemas.microsoft.com/office/drawing/2014/main" val="10018"/>
                  </a:ext>
                </a:extLst>
              </a:tr>
              <a:tr h="234244">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r>
                        <a:rPr lang="en-US" sz="1600" b="0" i="0" u="none" strike="noStrike" dirty="0">
                          <a:solidFill>
                            <a:srgbClr val="000000"/>
                          </a:solidFill>
                          <a:effectLst/>
                          <a:latin typeface="Calibri" panose="020F0502020204030204" pitchFamily="34" charset="0"/>
                        </a:rPr>
                        <a:t>Mother's Age</a:t>
                      </a:r>
                    </a:p>
                  </a:txBody>
                  <a:tcPr marL="9525" marR="9525" marT="9525" marB="0" anchor="b">
                    <a:lnL>
                      <a:noFill/>
                    </a:lnL>
                    <a:lnR>
                      <a:noFill/>
                    </a:lnR>
                    <a:lnT>
                      <a:noFill/>
                    </a:lnT>
                    <a:lnB>
                      <a:noFill/>
                    </a:lnB>
                  </a:tcPr>
                </a:tc>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r" fontAlgn="b"/>
                      <a:r>
                        <a:rPr lang="en-US" sz="1600" b="0" i="0" u="none" strike="noStrike" dirty="0">
                          <a:solidFill>
                            <a:srgbClr val="000000"/>
                          </a:solidFill>
                          <a:effectLst/>
                          <a:latin typeface="Calibri" panose="020F0502020204030204" pitchFamily="34" charset="0"/>
                        </a:rPr>
                        <a:t>-0.022</a:t>
                      </a:r>
                    </a:p>
                  </a:txBody>
                  <a:tcPr marL="9525" marR="9525" marT="9525" marB="0" anchor="b">
                    <a:lnL>
                      <a:noFill/>
                    </a:lnL>
                    <a:lnR>
                      <a:noFill/>
                    </a:lnR>
                    <a:lnT>
                      <a:noFill/>
                    </a:lnT>
                    <a:lnB>
                      <a:noFill/>
                    </a:lnB>
                  </a:tcPr>
                </a:tc>
                <a:tc>
                  <a:txBody>
                    <a:bodyPr/>
                    <a:lstStyle/>
                    <a:p>
                      <a:pPr algn="r" fontAlgn="b"/>
                      <a:r>
                        <a:rPr lang="en-US" sz="1600" b="0" i="0" u="none" strike="noStrike" dirty="0">
                          <a:solidFill>
                            <a:srgbClr val="000000"/>
                          </a:solidFill>
                          <a:effectLst/>
                          <a:latin typeface="Calibri" panose="020F0502020204030204" pitchFamily="34" charset="0"/>
                        </a:rPr>
                        <a:t>0.010</a:t>
                      </a:r>
                    </a:p>
                  </a:txBody>
                  <a:tcPr marL="9525" marR="9525" marT="9525" marB="0" anchor="b">
                    <a:lnL>
                      <a:noFill/>
                    </a:lnL>
                    <a:lnR>
                      <a:noFill/>
                    </a:lnR>
                    <a:lnT>
                      <a:noFill/>
                    </a:lnT>
                    <a:lnB>
                      <a:noFill/>
                    </a:lnB>
                  </a:tcPr>
                </a:tc>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r" fontAlgn="b"/>
                      <a:r>
                        <a:rPr lang="en-US" sz="1600" b="0" i="0" u="none" strike="noStrike" dirty="0">
                          <a:solidFill>
                            <a:srgbClr val="000000"/>
                          </a:solidFill>
                          <a:effectLst/>
                          <a:latin typeface="Calibri" panose="020F0502020204030204" pitchFamily="34" charset="0"/>
                        </a:rPr>
                        <a:t>0.027</a:t>
                      </a:r>
                    </a:p>
                  </a:txBody>
                  <a:tcPr marL="9525" marR="9525" marT="9525" marB="0" anchor="b">
                    <a:lnL>
                      <a:noFill/>
                    </a:lnL>
                    <a:lnR>
                      <a:noFill/>
                    </a:lnR>
                    <a:lnT>
                      <a:noFill/>
                    </a:lnT>
                    <a:lnB>
                      <a:noFill/>
                    </a:lnB>
                  </a:tcPr>
                </a:tc>
                <a:tc>
                  <a:txBody>
                    <a:bodyPr/>
                    <a:lstStyle/>
                    <a:p>
                      <a:pPr algn="r" fontAlgn="b"/>
                      <a:r>
                        <a:rPr lang="en-US" sz="1600" b="0" i="0" u="none" strike="noStrike" dirty="0">
                          <a:solidFill>
                            <a:srgbClr val="000000"/>
                          </a:solidFill>
                          <a:effectLst/>
                          <a:latin typeface="Calibri" panose="020F0502020204030204" pitchFamily="34" charset="0"/>
                        </a:rPr>
                        <a:t>0.032</a:t>
                      </a:r>
                    </a:p>
                  </a:txBody>
                  <a:tcPr marL="9525" marR="9525" marT="9525" marB="0" anchor="b">
                    <a:lnL>
                      <a:noFill/>
                    </a:lnL>
                    <a:lnR>
                      <a:noFill/>
                    </a:lnR>
                    <a:lnT>
                      <a:noFill/>
                    </a:lnT>
                    <a:lnB>
                      <a:noFill/>
                    </a:lnB>
                  </a:tcPr>
                </a:tc>
                <a:extLst>
                  <a:ext uri="{0D108BD9-81ED-4DB2-BD59-A6C34878D82A}">
                    <a16:rowId xmlns:a16="http://schemas.microsoft.com/office/drawing/2014/main" val="10019"/>
                  </a:ext>
                </a:extLst>
              </a:tr>
              <a:tr h="234244">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marL="0" algn="r" defTabSz="914400" rtl="0" eaLnBrk="1" fontAlgn="b" latinLnBrk="0" hangingPunct="1"/>
                      <a:endParaRPr lang="en-US" sz="1200" b="0" i="0" u="none" strike="noStrike" kern="1200" dirty="0">
                        <a:solidFill>
                          <a:srgbClr val="000000"/>
                        </a:solidFill>
                        <a:effectLst/>
                        <a:latin typeface="Calibri" panose="020F0502020204030204" pitchFamily="34" charset="0"/>
                        <a:ea typeface="+mn-ea"/>
                        <a:cs typeface="+mn-cs"/>
                      </a:endParaRPr>
                    </a:p>
                  </a:txBody>
                  <a:tcPr marL="9525" marR="9525" marT="9525" marB="0" anchor="b">
                    <a:lnL>
                      <a:noFill/>
                    </a:lnL>
                    <a:lnR>
                      <a:noFill/>
                    </a:lnR>
                    <a:lnT>
                      <a:noFill/>
                    </a:lnT>
                    <a:lnB>
                      <a:noFill/>
                    </a:lnB>
                  </a:tcPr>
                </a:tc>
                <a:tc>
                  <a:txBody>
                    <a:bodyPr/>
                    <a:lstStyle/>
                    <a:p>
                      <a:pPr marL="0" algn="r" defTabSz="914400" rtl="0" eaLnBrk="1" fontAlgn="b" latinLnBrk="0" hangingPunct="1"/>
                      <a:endParaRPr lang="en-US" sz="1200" b="0" i="0" u="none" strike="noStrike" kern="1200" dirty="0">
                        <a:solidFill>
                          <a:srgbClr val="000000"/>
                        </a:solidFill>
                        <a:effectLst/>
                        <a:latin typeface="Calibri" panose="020F0502020204030204" pitchFamily="34" charset="0"/>
                        <a:ea typeface="+mn-ea"/>
                        <a:cs typeface="+mn-cs"/>
                      </a:endParaRP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dirty="0">
                          <a:solidFill>
                            <a:srgbClr val="000000"/>
                          </a:solidFill>
                          <a:effectLst/>
                          <a:latin typeface="Calibri" panose="020F0502020204030204" pitchFamily="34" charset="0"/>
                          <a:ea typeface="+mn-ea"/>
                          <a:cs typeface="+mn-cs"/>
                        </a:rPr>
                        <a:t>0.038</a:t>
                      </a: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dirty="0">
                          <a:solidFill>
                            <a:srgbClr val="000000"/>
                          </a:solidFill>
                          <a:effectLst/>
                          <a:latin typeface="Calibri" panose="020F0502020204030204" pitchFamily="34" charset="0"/>
                          <a:ea typeface="+mn-ea"/>
                          <a:cs typeface="+mn-cs"/>
                        </a:rPr>
                        <a:t>0.034</a:t>
                      </a:r>
                    </a:p>
                  </a:txBody>
                  <a:tcPr marL="9525" marR="9525" marT="9525" marB="0" anchor="b">
                    <a:lnL>
                      <a:noFill/>
                    </a:lnL>
                    <a:lnR>
                      <a:noFill/>
                    </a:lnR>
                    <a:lnT>
                      <a:noFill/>
                    </a:lnT>
                    <a:lnB>
                      <a:noFill/>
                    </a:lnB>
                  </a:tcPr>
                </a:tc>
                <a:tc>
                  <a:txBody>
                    <a:bodyPr/>
                    <a:lstStyle/>
                    <a:p>
                      <a:pPr marL="0" algn="r" defTabSz="914400" rtl="0" eaLnBrk="1" fontAlgn="b" latinLnBrk="0" hangingPunct="1"/>
                      <a:endParaRPr lang="en-US" sz="1200" b="0" i="0" u="none" strike="noStrike" kern="1200" dirty="0">
                        <a:solidFill>
                          <a:srgbClr val="000000"/>
                        </a:solidFill>
                        <a:effectLst/>
                        <a:latin typeface="Calibri" panose="020F0502020204030204" pitchFamily="34" charset="0"/>
                        <a:ea typeface="+mn-ea"/>
                        <a:cs typeface="+mn-cs"/>
                      </a:endParaRP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dirty="0">
                          <a:solidFill>
                            <a:srgbClr val="000000"/>
                          </a:solidFill>
                          <a:effectLst/>
                          <a:latin typeface="Calibri" panose="020F0502020204030204" pitchFamily="34" charset="0"/>
                          <a:ea typeface="+mn-ea"/>
                          <a:cs typeface="+mn-cs"/>
                        </a:rPr>
                        <a:t>0.038</a:t>
                      </a:r>
                    </a:p>
                  </a:txBody>
                  <a:tcPr marL="9525" marR="9525" marT="9525" marB="0" anchor="b">
                    <a:lnL>
                      <a:noFill/>
                    </a:lnL>
                    <a:lnR>
                      <a:noFill/>
                    </a:lnR>
                    <a:lnT>
                      <a:noFill/>
                    </a:lnT>
                    <a:lnB>
                      <a:noFill/>
                    </a:lnB>
                  </a:tcPr>
                </a:tc>
                <a:tc>
                  <a:txBody>
                    <a:bodyPr/>
                    <a:lstStyle/>
                    <a:p>
                      <a:pPr marL="0" algn="r" defTabSz="914400" rtl="0" eaLnBrk="1" fontAlgn="b" latinLnBrk="0" hangingPunct="1"/>
                      <a:r>
                        <a:rPr lang="en-US" sz="1200" b="0" i="0" u="none" strike="noStrike" kern="1200" dirty="0">
                          <a:solidFill>
                            <a:srgbClr val="000000"/>
                          </a:solidFill>
                          <a:effectLst/>
                          <a:latin typeface="Calibri" panose="020F0502020204030204" pitchFamily="34" charset="0"/>
                          <a:ea typeface="+mn-ea"/>
                          <a:cs typeface="+mn-cs"/>
                        </a:rPr>
                        <a:t>0.037</a:t>
                      </a:r>
                    </a:p>
                  </a:txBody>
                  <a:tcPr marL="9525" marR="9525" marT="9525" marB="0" anchor="b">
                    <a:lnL>
                      <a:noFill/>
                    </a:lnL>
                    <a:lnR>
                      <a:noFill/>
                    </a:lnR>
                    <a:lnT>
                      <a:noFill/>
                    </a:lnT>
                    <a:lnB>
                      <a:noFill/>
                    </a:lnB>
                  </a:tcPr>
                </a:tc>
                <a:extLst>
                  <a:ext uri="{0D108BD9-81ED-4DB2-BD59-A6C34878D82A}">
                    <a16:rowId xmlns:a16="http://schemas.microsoft.com/office/drawing/2014/main" val="10020"/>
                  </a:ext>
                </a:extLst>
              </a:tr>
              <a:tr h="234244">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r>
                        <a:rPr lang="en-US" sz="1600" b="0" i="0" u="none" strike="noStrike">
                          <a:solidFill>
                            <a:srgbClr val="000000"/>
                          </a:solidFill>
                          <a:effectLst/>
                          <a:latin typeface="Calibri" panose="020F0502020204030204" pitchFamily="34" charset="0"/>
                        </a:rPr>
                        <a:t>PPVT Score</a:t>
                      </a:r>
                    </a:p>
                  </a:txBody>
                  <a:tcPr marL="9525" marR="9525" marT="9525" marB="0" anchor="b">
                    <a:lnL>
                      <a:noFill/>
                    </a:lnL>
                    <a:lnR>
                      <a:noFill/>
                    </a:lnR>
                    <a:lnT>
                      <a:noFill/>
                    </a:lnT>
                    <a:lnB>
                      <a:noFill/>
                    </a:lnB>
                  </a:tcPr>
                </a:tc>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r" fontAlgn="b"/>
                      <a:r>
                        <a:rPr lang="en-US" sz="1600" b="0" i="0" u="none" strike="noStrike">
                          <a:solidFill>
                            <a:srgbClr val="000000"/>
                          </a:solidFill>
                          <a:effectLst/>
                          <a:latin typeface="Calibri" panose="020F0502020204030204" pitchFamily="34" charset="0"/>
                        </a:rPr>
                        <a:t>0.110</a:t>
                      </a:r>
                    </a:p>
                  </a:txBody>
                  <a:tcPr marL="9525" marR="9525" marT="9525" marB="0" anchor="b">
                    <a:lnL>
                      <a:noFill/>
                    </a:lnL>
                    <a:lnR>
                      <a:noFill/>
                    </a:lnR>
                    <a:lnT>
                      <a:noFill/>
                    </a:lnT>
                    <a:lnB>
                      <a:noFill/>
                    </a:lnB>
                  </a:tcPr>
                </a:tc>
                <a:tc>
                  <a:txBody>
                    <a:bodyPr/>
                    <a:lstStyle/>
                    <a:p>
                      <a:pPr algn="r" fontAlgn="b"/>
                      <a:r>
                        <a:rPr lang="en-US" sz="1600" b="0" i="0" u="none" strike="noStrike">
                          <a:solidFill>
                            <a:srgbClr val="000000"/>
                          </a:solidFill>
                          <a:effectLst/>
                          <a:latin typeface="Calibri" panose="020F0502020204030204" pitchFamily="34" charset="0"/>
                        </a:rPr>
                        <a:t>0.045</a:t>
                      </a:r>
                    </a:p>
                  </a:txBody>
                  <a:tcPr marL="9525" marR="9525" marT="9525" marB="0" anchor="b">
                    <a:lnL>
                      <a:noFill/>
                    </a:lnL>
                    <a:lnR>
                      <a:noFill/>
                    </a:lnR>
                    <a:lnT>
                      <a:noFill/>
                    </a:lnT>
                    <a:lnB>
                      <a:noFill/>
                    </a:lnB>
                  </a:tcPr>
                </a:tc>
                <a:tc>
                  <a:txBody>
                    <a:bodyPr/>
                    <a:lstStyle/>
                    <a:p>
                      <a:pPr algn="l" fontAlgn="b"/>
                      <a:endParaRPr lang="en-US"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r" fontAlgn="b"/>
                      <a:r>
                        <a:rPr lang="en-US" sz="1600" b="0" i="0" u="none" strike="noStrike">
                          <a:solidFill>
                            <a:srgbClr val="000000"/>
                          </a:solidFill>
                          <a:effectLst/>
                          <a:latin typeface="Calibri" panose="020F0502020204030204" pitchFamily="34" charset="0"/>
                        </a:rPr>
                        <a:t>0.154</a:t>
                      </a:r>
                    </a:p>
                  </a:txBody>
                  <a:tcPr marL="9525" marR="9525" marT="9525" marB="0" anchor="b">
                    <a:lnL>
                      <a:noFill/>
                    </a:lnL>
                    <a:lnR>
                      <a:noFill/>
                    </a:lnR>
                    <a:lnT>
                      <a:noFill/>
                    </a:lnT>
                    <a:lnB>
                      <a:noFill/>
                    </a:lnB>
                  </a:tcPr>
                </a:tc>
                <a:tc>
                  <a:txBody>
                    <a:bodyPr/>
                    <a:lstStyle/>
                    <a:p>
                      <a:pPr algn="r" fontAlgn="b"/>
                      <a:r>
                        <a:rPr lang="en-US" sz="1600" b="0" i="0" u="none" strike="noStrike" dirty="0">
                          <a:solidFill>
                            <a:srgbClr val="000000"/>
                          </a:solidFill>
                          <a:effectLst/>
                          <a:latin typeface="Calibri" panose="020F0502020204030204" pitchFamily="34" charset="0"/>
                        </a:rPr>
                        <a:t>0.097</a:t>
                      </a:r>
                    </a:p>
                  </a:txBody>
                  <a:tcPr marL="9525" marR="9525" marT="9525" marB="0" anchor="b">
                    <a:lnL>
                      <a:noFill/>
                    </a:lnL>
                    <a:lnR>
                      <a:noFill/>
                    </a:lnR>
                    <a:lnT>
                      <a:noFill/>
                    </a:lnT>
                    <a:lnB>
                      <a:noFill/>
                    </a:lnB>
                  </a:tcPr>
                </a:tc>
                <a:extLst>
                  <a:ext uri="{0D108BD9-81ED-4DB2-BD59-A6C34878D82A}">
                    <a16:rowId xmlns:a16="http://schemas.microsoft.com/office/drawing/2014/main" val="10021"/>
                  </a:ext>
                </a:extLst>
              </a:tr>
            </a:tbl>
          </a:graphicData>
        </a:graphic>
      </p:graphicFrame>
    </p:spTree>
    <p:extLst>
      <p:ext uri="{BB962C8B-B14F-4D97-AF65-F5344CB8AC3E}">
        <p14:creationId xmlns:p14="http://schemas.microsoft.com/office/powerpoint/2010/main" val="609922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Practice</a:t>
            </a:r>
          </a:p>
        </p:txBody>
      </p:sp>
      <p:sp>
        <p:nvSpPr>
          <p:cNvPr id="3" name="Content Placeholder 2"/>
          <p:cNvSpPr>
            <a:spLocks noGrp="1"/>
          </p:cNvSpPr>
          <p:nvPr>
            <p:ph idx="1"/>
          </p:nvPr>
        </p:nvSpPr>
        <p:spPr/>
        <p:txBody>
          <a:bodyPr/>
          <a:lstStyle/>
          <a:p>
            <a:r>
              <a:rPr lang="en-US" dirty="0"/>
              <a:t>Do effects generated from regression analyses with control variables allow for causal interpretation?</a:t>
            </a:r>
          </a:p>
          <a:p>
            <a:pPr marL="731520" lvl="1" indent="-457200">
              <a:buFont typeface="+mj-lt"/>
              <a:buAutoNum type="alphaUcPeriod"/>
            </a:pPr>
            <a:r>
              <a:rPr lang="en-US" dirty="0"/>
              <a:t>Yes</a:t>
            </a:r>
          </a:p>
          <a:p>
            <a:pPr marL="731520" lvl="1" indent="-457200">
              <a:buFont typeface="+mj-lt"/>
              <a:buAutoNum type="alphaUcPeriod"/>
            </a:pPr>
            <a:r>
              <a:rPr lang="en-US" dirty="0"/>
              <a:t>No</a:t>
            </a:r>
          </a:p>
          <a:p>
            <a:pPr marL="731520" lvl="1" indent="-457200">
              <a:buFont typeface="+mj-lt"/>
              <a:buAutoNum type="alphaUcPeriod"/>
            </a:pPr>
            <a:r>
              <a:rPr lang="en-US" dirty="0"/>
              <a:t>Maybe</a:t>
            </a:r>
          </a:p>
          <a:p>
            <a:endParaRPr lang="en-US" dirty="0"/>
          </a:p>
        </p:txBody>
      </p:sp>
    </p:spTree>
    <p:extLst>
      <p:ext uri="{BB962C8B-B14F-4D97-AF65-F5344CB8AC3E}">
        <p14:creationId xmlns:p14="http://schemas.microsoft.com/office/powerpoint/2010/main" val="1639194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 these equal </a:t>
            </a:r>
            <a:r>
              <a:rPr lang="en-US" i="1" dirty="0"/>
              <a:t>causal </a:t>
            </a:r>
            <a:r>
              <a:rPr lang="en-US" dirty="0"/>
              <a:t>effects?	</a:t>
            </a:r>
          </a:p>
        </p:txBody>
      </p:sp>
      <p:sp>
        <p:nvSpPr>
          <p:cNvPr id="3" name="Content Placeholder 2"/>
          <p:cNvSpPr>
            <a:spLocks noGrp="1"/>
          </p:cNvSpPr>
          <p:nvPr>
            <p:ph idx="1"/>
          </p:nvPr>
        </p:nvSpPr>
        <p:spPr/>
        <p:txBody>
          <a:bodyPr/>
          <a:lstStyle/>
          <a:p>
            <a:r>
              <a:rPr lang="en-US" dirty="0"/>
              <a:t>Causal effects typically generated from </a:t>
            </a:r>
            <a:r>
              <a:rPr lang="en-US" i="1" dirty="0"/>
              <a:t>random </a:t>
            </a:r>
            <a:r>
              <a:rPr lang="en-US" dirty="0"/>
              <a:t>variation</a:t>
            </a:r>
          </a:p>
          <a:p>
            <a:pPr lvl="1"/>
            <a:r>
              <a:rPr lang="en-US" dirty="0"/>
              <a:t>If we randomly assign people to one of two groups, we assume that the random assignment produces groups that are, on average, the same in every way</a:t>
            </a:r>
          </a:p>
          <a:p>
            <a:pPr lvl="1"/>
            <a:r>
              <a:rPr lang="en-US" dirty="0"/>
              <a:t>Only the experimental manipulation will differ</a:t>
            </a:r>
          </a:p>
          <a:p>
            <a:r>
              <a:rPr lang="en-US" dirty="0"/>
              <a:t>To generate causal effects off of non-experimental data, you have to control for </a:t>
            </a:r>
            <a:r>
              <a:rPr lang="en-US" i="1" dirty="0"/>
              <a:t>everything </a:t>
            </a:r>
            <a:r>
              <a:rPr lang="en-US" dirty="0"/>
              <a:t>that could be a confounder</a:t>
            </a:r>
          </a:p>
          <a:p>
            <a:pPr lvl="1"/>
            <a:r>
              <a:rPr lang="en-US" dirty="0"/>
              <a:t>We can neve really achieve this</a:t>
            </a:r>
          </a:p>
        </p:txBody>
      </p:sp>
    </p:spTree>
    <p:extLst>
      <p:ext uri="{BB962C8B-B14F-4D97-AF65-F5344CB8AC3E}">
        <p14:creationId xmlns:p14="http://schemas.microsoft.com/office/powerpoint/2010/main" val="996898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Concepts</a:t>
            </a:r>
          </a:p>
        </p:txBody>
      </p:sp>
      <p:sp>
        <p:nvSpPr>
          <p:cNvPr id="3" name="Content Placeholder 2"/>
          <p:cNvSpPr>
            <a:spLocks noGrp="1"/>
          </p:cNvSpPr>
          <p:nvPr>
            <p:ph idx="1"/>
          </p:nvPr>
        </p:nvSpPr>
        <p:spPr/>
        <p:txBody>
          <a:bodyPr>
            <a:normAutofit lnSpcReduction="10000"/>
          </a:bodyPr>
          <a:lstStyle/>
          <a:p>
            <a:r>
              <a:rPr lang="en-US" dirty="0"/>
              <a:t>Sampling</a:t>
            </a:r>
          </a:p>
          <a:p>
            <a:pPr lvl="1"/>
            <a:r>
              <a:rPr lang="en-US" dirty="0"/>
              <a:t>Population vs sample</a:t>
            </a:r>
          </a:p>
          <a:p>
            <a:pPr lvl="1"/>
            <a:r>
              <a:rPr lang="en-US" dirty="0"/>
              <a:t>Goals of sampling</a:t>
            </a:r>
          </a:p>
          <a:p>
            <a:r>
              <a:rPr lang="en-US" dirty="0"/>
              <a:t>Describing Data</a:t>
            </a:r>
          </a:p>
          <a:p>
            <a:pPr lvl="1"/>
            <a:r>
              <a:rPr lang="en-US" dirty="0"/>
              <a:t>How best to describe central tendency and variation</a:t>
            </a:r>
          </a:p>
          <a:p>
            <a:pPr lvl="1"/>
            <a:r>
              <a:rPr lang="en-US" dirty="0"/>
              <a:t>Outliers</a:t>
            </a:r>
          </a:p>
          <a:p>
            <a:r>
              <a:rPr lang="en-US" b="1" u="sng" dirty="0"/>
              <a:t>Central Limit Theorem</a:t>
            </a:r>
          </a:p>
          <a:p>
            <a:pPr lvl="1"/>
            <a:r>
              <a:rPr lang="en-US" dirty="0"/>
              <a:t>Sampling distribution of sample means</a:t>
            </a:r>
          </a:p>
          <a:p>
            <a:pPr lvl="1"/>
            <a:r>
              <a:rPr lang="en-US" dirty="0"/>
              <a:t>Standard error of the mean</a:t>
            </a:r>
          </a:p>
          <a:p>
            <a:pPr lvl="1"/>
            <a:r>
              <a:rPr lang="en-US" dirty="0"/>
              <a:t>Sampling error</a:t>
            </a:r>
          </a:p>
          <a:p>
            <a:pPr lvl="1"/>
            <a:r>
              <a:rPr lang="en-US" dirty="0"/>
              <a:t>Law of large numbers</a:t>
            </a:r>
          </a:p>
          <a:p>
            <a:pPr lvl="1"/>
            <a:r>
              <a:rPr lang="en-US" b="1" dirty="0"/>
              <a:t>Tanner: Chapter 4 and 5</a:t>
            </a:r>
          </a:p>
          <a:p>
            <a:pPr lvl="1"/>
            <a:r>
              <a:rPr lang="en-US" b="1" dirty="0"/>
              <a:t>Caldwell Chapter (on Canvas)</a:t>
            </a:r>
          </a:p>
          <a:p>
            <a:pPr lvl="1"/>
            <a:endParaRPr lang="en-US" dirty="0"/>
          </a:p>
          <a:p>
            <a:endParaRPr lang="en-US" dirty="0"/>
          </a:p>
        </p:txBody>
      </p:sp>
    </p:spTree>
    <p:extLst>
      <p:ext uri="{BB962C8B-B14F-4D97-AF65-F5344CB8AC3E}">
        <p14:creationId xmlns:p14="http://schemas.microsoft.com/office/powerpoint/2010/main" val="3626458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Concepts</a:t>
            </a:r>
          </a:p>
        </p:txBody>
      </p:sp>
      <p:sp>
        <p:nvSpPr>
          <p:cNvPr id="3" name="Content Placeholder 2"/>
          <p:cNvSpPr>
            <a:spLocks noGrp="1"/>
          </p:cNvSpPr>
          <p:nvPr>
            <p:ph idx="1"/>
          </p:nvPr>
        </p:nvSpPr>
        <p:spPr/>
        <p:txBody>
          <a:bodyPr>
            <a:normAutofit fontScale="92500" lnSpcReduction="20000"/>
          </a:bodyPr>
          <a:lstStyle/>
          <a:p>
            <a:r>
              <a:rPr lang="en-US" dirty="0"/>
              <a:t>Normal distributions</a:t>
            </a:r>
          </a:p>
          <a:p>
            <a:pPr lvl="1"/>
            <a:r>
              <a:rPr lang="en-US" dirty="0"/>
              <a:t>Interpret histograms</a:t>
            </a:r>
          </a:p>
          <a:p>
            <a:pPr lvl="1"/>
            <a:r>
              <a:rPr lang="en-US" dirty="0"/>
              <a:t>Standard normal (z curve)</a:t>
            </a:r>
          </a:p>
          <a:p>
            <a:pPr lvl="1"/>
            <a:r>
              <a:rPr lang="en-US" dirty="0"/>
              <a:t>Properties of a normal curve</a:t>
            </a:r>
          </a:p>
          <a:p>
            <a:r>
              <a:rPr lang="en-US" dirty="0"/>
              <a:t>Decision Errors</a:t>
            </a:r>
          </a:p>
          <a:p>
            <a:pPr lvl="1"/>
            <a:r>
              <a:rPr lang="en-US" dirty="0"/>
              <a:t>Type I vs Type II errors</a:t>
            </a:r>
          </a:p>
          <a:p>
            <a:pPr lvl="1"/>
            <a:r>
              <a:rPr lang="en-US" dirty="0"/>
              <a:t>How do we decrease our likelihood of making these errors?</a:t>
            </a:r>
          </a:p>
          <a:p>
            <a:r>
              <a:rPr lang="en-US" dirty="0"/>
              <a:t>Know your tests</a:t>
            </a:r>
          </a:p>
          <a:p>
            <a:pPr lvl="1"/>
            <a:r>
              <a:rPr lang="en-US" dirty="0"/>
              <a:t>If I describe a problem, know which test to you and how to make a decision regarding statistical significance</a:t>
            </a:r>
          </a:p>
          <a:p>
            <a:r>
              <a:rPr lang="en-US" dirty="0"/>
              <a:t>Correlations and regression</a:t>
            </a:r>
          </a:p>
          <a:p>
            <a:pPr lvl="1"/>
            <a:r>
              <a:rPr lang="en-US" dirty="0"/>
              <a:t>Scatter plots</a:t>
            </a:r>
          </a:p>
          <a:p>
            <a:pPr lvl="1"/>
            <a:r>
              <a:rPr lang="en-US" dirty="0"/>
              <a:t>How do we interpret a correlation coefficient vs a regression coefficient (i.e., slope)</a:t>
            </a:r>
          </a:p>
          <a:p>
            <a:pPr lvl="1"/>
            <a:r>
              <a:rPr lang="en-US" dirty="0"/>
              <a:t>What does it mean to control for another variable (i.e., multiple regression interpretation)</a:t>
            </a:r>
          </a:p>
          <a:p>
            <a:pPr lvl="1"/>
            <a:endParaRPr lang="en-US" dirty="0"/>
          </a:p>
          <a:p>
            <a:pPr lvl="1"/>
            <a:endParaRPr lang="en-US" dirty="0"/>
          </a:p>
          <a:p>
            <a:endParaRPr lang="en-US" dirty="0"/>
          </a:p>
        </p:txBody>
      </p:sp>
    </p:spTree>
    <p:extLst>
      <p:ext uri="{BB962C8B-B14F-4D97-AF65-F5344CB8AC3E}">
        <p14:creationId xmlns:p14="http://schemas.microsoft.com/office/powerpoint/2010/main" val="4257530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Procedural Stuff</a:t>
            </a:r>
          </a:p>
        </p:txBody>
      </p:sp>
      <p:sp>
        <p:nvSpPr>
          <p:cNvPr id="3" name="Content Placeholder 2"/>
          <p:cNvSpPr>
            <a:spLocks noGrp="1"/>
          </p:cNvSpPr>
          <p:nvPr>
            <p:ph idx="1"/>
          </p:nvPr>
        </p:nvSpPr>
        <p:spPr/>
        <p:txBody>
          <a:bodyPr>
            <a:normAutofit/>
          </a:bodyPr>
          <a:lstStyle/>
          <a:p>
            <a:r>
              <a:rPr lang="en-US" dirty="0"/>
              <a:t>Know how to perform the tests we have done</a:t>
            </a:r>
          </a:p>
          <a:p>
            <a:pPr lvl="1"/>
            <a:r>
              <a:rPr lang="en-US" dirty="0"/>
              <a:t>Z-test</a:t>
            </a:r>
          </a:p>
          <a:p>
            <a:pPr lvl="1"/>
            <a:r>
              <a:rPr lang="en-US" dirty="0"/>
              <a:t>1 sample t-test</a:t>
            </a:r>
          </a:p>
          <a:p>
            <a:pPr lvl="1"/>
            <a:r>
              <a:rPr lang="en-US" dirty="0"/>
              <a:t>Independent samples t-test</a:t>
            </a:r>
          </a:p>
          <a:p>
            <a:pPr lvl="1"/>
            <a:r>
              <a:rPr lang="en-US" dirty="0"/>
              <a:t>ANOVA</a:t>
            </a:r>
          </a:p>
          <a:p>
            <a:pPr lvl="1"/>
            <a:r>
              <a:rPr lang="en-US" dirty="0"/>
              <a:t>Calculate a correlation coefficient</a:t>
            </a:r>
          </a:p>
          <a:p>
            <a:pPr lvl="1"/>
            <a:r>
              <a:rPr lang="en-US" dirty="0"/>
              <a:t>Find slope and y-intercept in regression</a:t>
            </a:r>
          </a:p>
          <a:p>
            <a:pPr lvl="2"/>
            <a:r>
              <a:rPr lang="en-US" dirty="0"/>
              <a:t>Make predictions using regression and interpret residuals</a:t>
            </a:r>
          </a:p>
          <a:p>
            <a:pPr lvl="2"/>
            <a:r>
              <a:rPr lang="en-US" dirty="0"/>
              <a:t>Teacher value-added models</a:t>
            </a:r>
          </a:p>
          <a:p>
            <a:r>
              <a:rPr lang="en-US" dirty="0"/>
              <a:t>Review normal distribution problems (chapter 4)</a:t>
            </a:r>
          </a:p>
          <a:p>
            <a:pPr lvl="1"/>
            <a:r>
              <a:rPr lang="en-US" dirty="0"/>
              <a:t>Find where someone’s score falls on the normal curve</a:t>
            </a:r>
          </a:p>
          <a:p>
            <a:pPr lvl="1"/>
            <a:endParaRPr lang="en-US" dirty="0"/>
          </a:p>
          <a:p>
            <a:pPr lvl="1"/>
            <a:endParaRPr lang="en-US" dirty="0"/>
          </a:p>
          <a:p>
            <a:pPr lvl="1"/>
            <a:endParaRPr lang="en-US" dirty="0"/>
          </a:p>
          <a:p>
            <a:endParaRPr lang="en-US" dirty="0"/>
          </a:p>
        </p:txBody>
      </p:sp>
    </p:spTree>
    <p:extLst>
      <p:ext uri="{BB962C8B-B14F-4D97-AF65-F5344CB8AC3E}">
        <p14:creationId xmlns:p14="http://schemas.microsoft.com/office/powerpoint/2010/main" val="3186234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study</a:t>
            </a:r>
          </a:p>
        </p:txBody>
      </p:sp>
      <p:sp>
        <p:nvSpPr>
          <p:cNvPr id="3" name="Content Placeholder 2"/>
          <p:cNvSpPr>
            <a:spLocks noGrp="1"/>
          </p:cNvSpPr>
          <p:nvPr>
            <p:ph idx="1"/>
          </p:nvPr>
        </p:nvSpPr>
        <p:spPr/>
        <p:txBody>
          <a:bodyPr>
            <a:normAutofit/>
          </a:bodyPr>
          <a:lstStyle/>
          <a:p>
            <a:r>
              <a:rPr lang="en-US" sz="2600" dirty="0"/>
              <a:t>Read!</a:t>
            </a:r>
          </a:p>
          <a:p>
            <a:pPr lvl="1"/>
            <a:r>
              <a:rPr lang="en-US" sz="2600" dirty="0"/>
              <a:t>Tanner Chapters (all the chapters are important)</a:t>
            </a:r>
          </a:p>
          <a:p>
            <a:r>
              <a:rPr lang="en-US" sz="2600" dirty="0"/>
              <a:t>Go over your assignment</a:t>
            </a:r>
          </a:p>
          <a:p>
            <a:r>
              <a:rPr lang="en-US" sz="2600" dirty="0"/>
              <a:t>Go over the extra questions listed at the end of Tanner chapters</a:t>
            </a:r>
          </a:p>
          <a:p>
            <a:r>
              <a:rPr lang="en-US" sz="2600" dirty="0"/>
              <a:t>Get together and review with classmates!</a:t>
            </a:r>
          </a:p>
          <a:p>
            <a:pPr lvl="1"/>
            <a:endParaRPr lang="en-US" sz="2600" dirty="0"/>
          </a:p>
          <a:p>
            <a:pPr lvl="1"/>
            <a:endParaRPr lang="en-US" sz="2600" dirty="0"/>
          </a:p>
          <a:p>
            <a:pPr lvl="1"/>
            <a:endParaRPr lang="en-US" sz="2600" dirty="0"/>
          </a:p>
          <a:p>
            <a:endParaRPr lang="en-US" sz="2600" dirty="0"/>
          </a:p>
        </p:txBody>
      </p:sp>
    </p:spTree>
    <p:extLst>
      <p:ext uri="{BB962C8B-B14F-4D97-AF65-F5344CB8AC3E}">
        <p14:creationId xmlns:p14="http://schemas.microsoft.com/office/powerpoint/2010/main" val="4170435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1258"/>
            <a:ext cx="8229600" cy="990600"/>
          </a:xfrm>
        </p:spPr>
        <p:txBody>
          <a:bodyPr>
            <a:normAutofit fontScale="90000"/>
          </a:bodyPr>
          <a:lstStyle/>
          <a:p>
            <a:r>
              <a:rPr lang="en-US" dirty="0"/>
              <a:t>Consider this quote from Hal Varian (Google’s chief economist)….</a:t>
            </a:r>
          </a:p>
        </p:txBody>
      </p:sp>
      <p:sp>
        <p:nvSpPr>
          <p:cNvPr id="3" name="Content Placeholder 2"/>
          <p:cNvSpPr>
            <a:spLocks noGrp="1"/>
          </p:cNvSpPr>
          <p:nvPr>
            <p:ph idx="1"/>
          </p:nvPr>
        </p:nvSpPr>
        <p:spPr>
          <a:xfrm>
            <a:off x="228600" y="1295400"/>
            <a:ext cx="8915400" cy="5638800"/>
          </a:xfrm>
        </p:spPr>
        <p:txBody>
          <a:bodyPr>
            <a:normAutofit fontScale="92500"/>
          </a:bodyPr>
          <a:lstStyle/>
          <a:p>
            <a:r>
              <a:rPr lang="en-US" i="1" dirty="0"/>
              <a:t>I keep saying the sexy job in the next ten years will be statisticians. People think I’m joking, but who would’ve guessed that computer engineers would’ve been the sexy job of the 1990s? The ability to take data–to be able to understand it, to process it, to extract value from it, to visualize it, to communicate it–that’s going to be a hugely important skill in the next decades, not only at the professional level but even at the educational level for elementary school kids, for high school kids, for college kids. Because now we really do have essentially free and ubiquitous data. So the complimentary scarce factor is the ability to understand that data and extract value from it.</a:t>
            </a:r>
          </a:p>
          <a:p>
            <a:r>
              <a:rPr lang="en-US" i="1" dirty="0"/>
              <a:t>I think statisticians are part of it, but it’s just a part. You also want to be able to visualize the data, communicate the data, and utilize it effectively. But I do think those skills–of being able to access, understand, and communicate the insights you get from data analysis–are going to be extremely important. Managers need to be able to access and understand the data themselves. </a:t>
            </a:r>
          </a:p>
        </p:txBody>
      </p:sp>
    </p:spTree>
    <p:extLst>
      <p:ext uri="{BB962C8B-B14F-4D97-AF65-F5344CB8AC3E}">
        <p14:creationId xmlns:p14="http://schemas.microsoft.com/office/powerpoint/2010/main" val="1167002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point?</a:t>
            </a:r>
          </a:p>
        </p:txBody>
      </p:sp>
      <p:sp>
        <p:nvSpPr>
          <p:cNvPr id="3" name="Content Placeholder 2"/>
          <p:cNvSpPr>
            <a:spLocks noGrp="1"/>
          </p:cNvSpPr>
          <p:nvPr>
            <p:ph idx="1"/>
          </p:nvPr>
        </p:nvSpPr>
        <p:spPr/>
        <p:txBody>
          <a:bodyPr/>
          <a:lstStyle/>
          <a:p>
            <a:r>
              <a:rPr lang="en-US" dirty="0"/>
              <a:t>Understanding statistics has become increasingly important.</a:t>
            </a:r>
          </a:p>
          <a:p>
            <a:r>
              <a:rPr lang="en-US" dirty="0"/>
              <a:t>School districts need people that can help answer questions using data</a:t>
            </a:r>
          </a:p>
          <a:p>
            <a:r>
              <a:rPr lang="en-US" dirty="0"/>
              <a:t>This class introduced you to the tools (descriptive statistics, inferential statistics tests).</a:t>
            </a:r>
          </a:p>
          <a:p>
            <a:r>
              <a:rPr lang="en-US" dirty="0"/>
              <a:t>Even if you don’t go into this work, you still need to know how to </a:t>
            </a:r>
            <a:r>
              <a:rPr lang="en-US" i="1" dirty="0"/>
              <a:t>consume </a:t>
            </a:r>
            <a:r>
              <a:rPr lang="en-US" dirty="0"/>
              <a:t>information </a:t>
            </a:r>
          </a:p>
          <a:p>
            <a:endParaRPr lang="en-US" dirty="0"/>
          </a:p>
          <a:p>
            <a:r>
              <a:rPr lang="en-US" dirty="0">
                <a:hlinkClick r:id="rId2"/>
              </a:rPr>
              <a:t>https://youtu.be/mJ63-bQc9Xg?t=3m4s</a:t>
            </a:r>
            <a:endParaRPr lang="en-US" dirty="0"/>
          </a:p>
          <a:p>
            <a:endParaRPr lang="en-US" b="1" dirty="0"/>
          </a:p>
        </p:txBody>
      </p:sp>
    </p:spTree>
    <p:extLst>
      <p:ext uri="{BB962C8B-B14F-4D97-AF65-F5344CB8AC3E}">
        <p14:creationId xmlns:p14="http://schemas.microsoft.com/office/powerpoint/2010/main" val="18008099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 to think like a statistician </a:t>
            </a:r>
          </a:p>
        </p:txBody>
      </p:sp>
      <p:sp>
        <p:nvSpPr>
          <p:cNvPr id="3" name="Content Placeholder 2"/>
          <p:cNvSpPr>
            <a:spLocks noGrp="1"/>
          </p:cNvSpPr>
          <p:nvPr>
            <p:ph idx="1"/>
          </p:nvPr>
        </p:nvSpPr>
        <p:spPr/>
        <p:txBody>
          <a:bodyPr/>
          <a:lstStyle/>
          <a:p>
            <a:r>
              <a:rPr lang="en-US" dirty="0"/>
              <a:t>Be skeptical.</a:t>
            </a:r>
          </a:p>
          <a:p>
            <a:r>
              <a:rPr lang="en-US" dirty="0"/>
              <a:t>Ask about the base rate?</a:t>
            </a:r>
          </a:p>
          <a:p>
            <a:pPr lvl="1"/>
            <a:r>
              <a:rPr lang="en-US" dirty="0"/>
              <a:t>How common is this?</a:t>
            </a:r>
          </a:p>
          <a:p>
            <a:r>
              <a:rPr lang="en-US" dirty="0"/>
              <a:t>Keep track of the details but see the bigger picture</a:t>
            </a:r>
          </a:p>
          <a:p>
            <a:pPr lvl="1"/>
            <a:r>
              <a:rPr lang="en-US" dirty="0"/>
              <a:t>Especially important when interpreting historical data</a:t>
            </a:r>
          </a:p>
        </p:txBody>
      </p:sp>
    </p:spTree>
    <p:extLst>
      <p:ext uri="{BB962C8B-B14F-4D97-AF65-F5344CB8AC3E}">
        <p14:creationId xmlns:p14="http://schemas.microsoft.com/office/powerpoint/2010/main" val="9270632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Clarity.thmx</Template>
  <TotalTime>56346</TotalTime>
  <Words>1103</Words>
  <Application>Microsoft Macintosh PowerPoint</Application>
  <PresentationFormat>On-screen Show (4:3)</PresentationFormat>
  <Paragraphs>232</Paragraphs>
  <Slides>19</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Clarity</vt:lpstr>
      <vt:lpstr>EDUC 15: Statistics for education research</vt:lpstr>
      <vt:lpstr>The Regression Equation  with One Predictor</vt:lpstr>
      <vt:lpstr>Multiple Regression</vt:lpstr>
      <vt:lpstr>Multiple Regression</vt:lpstr>
      <vt:lpstr>Multiple Regression</vt:lpstr>
      <vt:lpstr>Why?</vt:lpstr>
      <vt:lpstr>Consider the teacher value added example from last class</vt:lpstr>
      <vt:lpstr>Recall the marshmallow study</vt:lpstr>
      <vt:lpstr>We have tried to replicate…</vt:lpstr>
      <vt:lpstr>Latest results</vt:lpstr>
      <vt:lpstr>In-Class Practice</vt:lpstr>
      <vt:lpstr>Do these equal causal effects? </vt:lpstr>
      <vt:lpstr>Key Concepts</vt:lpstr>
      <vt:lpstr>Key Concepts</vt:lpstr>
      <vt:lpstr>Procedural Stuff</vt:lpstr>
      <vt:lpstr>How to study</vt:lpstr>
      <vt:lpstr>Consider this quote from Hal Varian (Google’s chief economist)….</vt:lpstr>
      <vt:lpstr>What is the point?</vt:lpstr>
      <vt:lpstr>Learn to think like a statistician </vt:lpstr>
    </vt:vector>
  </TitlesOfParts>
  <Company>University of Chicago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Maria Rosales Rueda</dc:creator>
  <cp:lastModifiedBy>Yu Zhang</cp:lastModifiedBy>
  <cp:revision>509</cp:revision>
  <cp:lastPrinted>2015-05-21T00:50:18Z</cp:lastPrinted>
  <dcterms:created xsi:type="dcterms:W3CDTF">2014-08-09T18:16:31Z</dcterms:created>
  <dcterms:modified xsi:type="dcterms:W3CDTF">2022-06-25T19:59:02Z</dcterms:modified>
</cp:coreProperties>
</file>