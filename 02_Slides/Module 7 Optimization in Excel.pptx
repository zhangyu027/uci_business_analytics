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r:id="rId17" roundtripDataSignature="AMtx7mh38Uboj/NKk66fqc+c7lmGni+8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2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12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2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12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457200" y="391140"/>
            <a:ext cx="8229600" cy="1085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447230" y="1476929"/>
            <a:ext cx="8229600" cy="383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3"/>
          <p:cNvSpPr/>
          <p:nvPr/>
        </p:nvSpPr>
        <p:spPr>
          <a:xfrm>
            <a:off x="0" y="1"/>
            <a:ext cx="9144000" cy="610435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3"/>
          <p:cNvCxnSpPr/>
          <p:nvPr/>
        </p:nvCxnSpPr>
        <p:spPr>
          <a:xfrm>
            <a:off x="0" y="592106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3"/>
          <p:cNvSpPr/>
          <p:nvPr/>
        </p:nvSpPr>
        <p:spPr>
          <a:xfrm>
            <a:off x="0" y="1"/>
            <a:ext cx="9144000" cy="610435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13"/>
          <p:cNvCxnSpPr/>
          <p:nvPr/>
        </p:nvCxnSpPr>
        <p:spPr>
          <a:xfrm>
            <a:off x="0" y="592106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617620" y="274638"/>
            <a:ext cx="80691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1762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316704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4"/>
          <p:cNvSpPr/>
          <p:nvPr/>
        </p:nvSpPr>
        <p:spPr>
          <a:xfrm>
            <a:off x="0" y="1"/>
            <a:ext cx="457200" cy="6857999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14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" name="Google Shape;4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4"/>
          <p:cNvSpPr/>
          <p:nvPr/>
        </p:nvSpPr>
        <p:spPr>
          <a:xfrm>
            <a:off x="0" y="1"/>
            <a:ext cx="457200" cy="6857999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14"/>
          <p:cNvCxnSpPr/>
          <p:nvPr/>
        </p:nvCxnSpPr>
        <p:spPr>
          <a:xfrm>
            <a:off x="45720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457200" y="1600200"/>
            <a:ext cx="4038600" cy="422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1" name="Google Shape;51;p15"/>
          <p:cNvSpPr txBox="1"/>
          <p:nvPr>
            <p:ph idx="2" type="body"/>
          </p:nvPr>
        </p:nvSpPr>
        <p:spPr>
          <a:xfrm>
            <a:off x="4648200" y="1600201"/>
            <a:ext cx="4038600" cy="42230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2" name="Google Shape;5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7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7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17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7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457200" y="2174875"/>
            <a:ext cx="4040188" cy="3728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7" name="Google Shape;77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18"/>
          <p:cNvSpPr txBox="1"/>
          <p:nvPr>
            <p:ph idx="4" type="body"/>
          </p:nvPr>
        </p:nvSpPr>
        <p:spPr>
          <a:xfrm>
            <a:off x="4645025" y="2174875"/>
            <a:ext cx="4041775" cy="3728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575050" y="273051"/>
            <a:ext cx="5111750" cy="551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6" name="Google Shape;86;p19"/>
          <p:cNvSpPr txBox="1"/>
          <p:nvPr>
            <p:ph idx="2" type="body"/>
          </p:nvPr>
        </p:nvSpPr>
        <p:spPr>
          <a:xfrm>
            <a:off x="457200" y="1435100"/>
            <a:ext cx="3008313" cy="435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44916" y="6046515"/>
            <a:ext cx="2253916" cy="293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/>
          <p:nvPr>
            <p:ph idx="2" type="pic"/>
          </p:nvPr>
        </p:nvSpPr>
        <p:spPr>
          <a:xfrm>
            <a:off x="1792288" y="1270673"/>
            <a:ext cx="5486400" cy="3456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5" name="Google Shape;9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0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20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20"/>
          <p:cNvSpPr/>
          <p:nvPr/>
        </p:nvSpPr>
        <p:spPr>
          <a:xfrm>
            <a:off x="0" y="1"/>
            <a:ext cx="9144000" cy="1086522"/>
          </a:xfrm>
          <a:prstGeom prst="rect">
            <a:avLst/>
          </a:prstGeom>
          <a:solidFill>
            <a:srgbClr val="1B3D6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3904" y="312317"/>
            <a:ext cx="3730150" cy="4852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20"/>
          <p:cNvCxnSpPr/>
          <p:nvPr/>
        </p:nvCxnSpPr>
        <p:spPr>
          <a:xfrm>
            <a:off x="0" y="1073367"/>
            <a:ext cx="9144000" cy="0"/>
          </a:xfrm>
          <a:prstGeom prst="straightConnector1">
            <a:avLst/>
          </a:prstGeom>
          <a:noFill/>
          <a:ln cap="flat" cmpd="sng" w="28575">
            <a:solidFill>
              <a:srgbClr val="FFD2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 showMasterSp="0">
  <p:cSld name="1_Two Content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  <a:defRPr b="1" i="0" sz="4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r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1B344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pp.vidgrid.com/view/2Se2SNsBF9Y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"/>
          <p:cNvSpPr txBox="1"/>
          <p:nvPr>
            <p:ph type="ctrTitle"/>
          </p:nvPr>
        </p:nvSpPr>
        <p:spPr>
          <a:xfrm>
            <a:off x="564469" y="16764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Optimization using EXCEL</a:t>
            </a:r>
            <a:endParaRPr/>
          </a:p>
        </p:txBody>
      </p:sp>
      <p:sp>
        <p:nvSpPr>
          <p:cNvPr id="128" name="Google Shape;128;p1"/>
          <p:cNvSpPr txBox="1"/>
          <p:nvPr/>
        </p:nvSpPr>
        <p:spPr>
          <a:xfrm>
            <a:off x="526369" y="5619304"/>
            <a:ext cx="784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681175" y="4068706"/>
            <a:ext cx="75389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32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Majed Al-Ghandour, Ph.D., PE, CPM </a:t>
            </a:r>
            <a:endParaRPr/>
          </a:p>
        </p:txBody>
      </p:sp>
      <p:sp>
        <p:nvSpPr>
          <p:cNvPr id="130" name="Google Shape;130;p1"/>
          <p:cNvSpPr/>
          <p:nvPr/>
        </p:nvSpPr>
        <p:spPr>
          <a:xfrm>
            <a:off x="2938875" y="5314152"/>
            <a:ext cx="30235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malghand@uci.edu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152400" y="-40159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Optimization</a:t>
            </a:r>
            <a:endParaRPr/>
          </a:p>
        </p:txBody>
      </p:sp>
      <p:sp>
        <p:nvSpPr>
          <p:cNvPr id="137" name="Google Shape;137;p2"/>
          <p:cNvSpPr txBox="1"/>
          <p:nvPr>
            <p:ph idx="1" type="body"/>
          </p:nvPr>
        </p:nvSpPr>
        <p:spPr>
          <a:xfrm>
            <a:off x="665956" y="990600"/>
            <a:ext cx="8020844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All optimization problems have several common elements: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i="1" lang="en-US">
                <a:solidFill>
                  <a:schemeClr val="dk1"/>
                </a:solidFill>
                <a:highlight>
                  <a:srgbClr val="FFFF00"/>
                </a:highlight>
              </a:rPr>
              <a:t>Decision variables</a:t>
            </a:r>
            <a:r>
              <a:rPr lang="en-US"/>
              <a:t>—the variables whose values the decision maker is allowed to choose.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i="1" lang="en-US">
                <a:solidFill>
                  <a:schemeClr val="dk1"/>
                </a:solidFill>
                <a:highlight>
                  <a:srgbClr val="FFFF00"/>
                </a:highlight>
              </a:rPr>
              <a:t>Objective function </a:t>
            </a:r>
            <a:r>
              <a:rPr i="1" lang="en-US">
                <a:solidFill>
                  <a:srgbClr val="000000"/>
                </a:solidFill>
              </a:rPr>
              <a:t>(</a:t>
            </a:r>
            <a:r>
              <a:rPr b="1" lang="en-US">
                <a:solidFill>
                  <a:srgbClr val="5E0A5C"/>
                </a:solidFill>
                <a:highlight>
                  <a:srgbClr val="FFFF00"/>
                </a:highlight>
              </a:rPr>
              <a:t>objective</a:t>
            </a:r>
            <a:r>
              <a:rPr i="1" lang="en-US">
                <a:solidFill>
                  <a:srgbClr val="000000"/>
                </a:solidFill>
              </a:rPr>
              <a:t>) </a:t>
            </a:r>
            <a:r>
              <a:rPr lang="en-US"/>
              <a:t>to be optimized—maximized or minimized.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>
                <a:solidFill>
                  <a:schemeClr val="dk1"/>
                </a:solidFill>
                <a:highlight>
                  <a:srgbClr val="FFFF00"/>
                </a:highlight>
              </a:rPr>
              <a:t>Constraints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/>
              <a:t>that must be satisfied—physical, logical, or economic restrictions, depending on the nature of the problem.</a:t>
            </a: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335217" y="1447800"/>
            <a:ext cx="501395" cy="4419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660720" y="191697"/>
            <a:ext cx="6116643" cy="85747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b="1" lang="en-US" sz="33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Optimization Problems</a:t>
            </a:r>
            <a:br>
              <a:rPr b="1" lang="en-US" sz="405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405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3"/>
          <p:cNvPicPr preferRelativeResize="0"/>
          <p:nvPr/>
        </p:nvPicPr>
        <p:blipFill rotWithShape="1">
          <a:blip r:embed="rId3">
            <a:alphaModFix/>
          </a:blip>
          <a:srcRect b="6717" l="1176" r="1961" t="5276"/>
          <a:stretch/>
        </p:blipFill>
        <p:spPr>
          <a:xfrm>
            <a:off x="660720" y="784710"/>
            <a:ext cx="7427737" cy="452756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5" name="Google Shape;145;p3"/>
          <p:cNvSpPr/>
          <p:nvPr/>
        </p:nvSpPr>
        <p:spPr>
          <a:xfrm>
            <a:off x="7479632" y="3555021"/>
            <a:ext cx="743144" cy="685979"/>
          </a:xfrm>
          <a:prstGeom prst="ellipse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3129719" y="5509089"/>
            <a:ext cx="4570809" cy="41549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specific type of optimization, </a:t>
            </a:r>
            <a:r>
              <a:rPr b="1" lang="en-US" sz="1050">
                <a:solidFill>
                  <a:srgbClr val="5E0A5C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linear programming</a:t>
            </a:r>
            <a:r>
              <a:rPr b="1" lang="en-US" sz="1050">
                <a:solidFill>
                  <a:srgbClr val="04617B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(LP)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is used in all types of organizations to solve a wide variety of problems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 rot="-3351860">
            <a:off x="6837480" y="4950837"/>
            <a:ext cx="743144" cy="34298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048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www.mbaskool.com/2013_images/stories/nov_images/alternate-opt-solution.jpg" id="153" name="Google Shape;1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798" y="1142405"/>
            <a:ext cx="8322347" cy="440169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4"/>
          <p:cNvSpPr txBox="1"/>
          <p:nvPr>
            <p:ph idx="12" type="sldNum"/>
          </p:nvPr>
        </p:nvSpPr>
        <p:spPr>
          <a:xfrm>
            <a:off x="7144420" y="5796580"/>
            <a:ext cx="914639" cy="20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036" y="970910"/>
            <a:ext cx="4566303" cy="194360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" name="Google Shape;1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2357" y="3143175"/>
            <a:ext cx="2686750" cy="238508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5"/>
          <p:cNvSpPr/>
          <p:nvPr/>
        </p:nvSpPr>
        <p:spPr>
          <a:xfrm rot="2908622">
            <a:off x="2345989" y="3947388"/>
            <a:ext cx="2223686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line in the two-dimensional (2D) plane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1543453" y="4536323"/>
            <a:ext cx="773518" cy="54245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feasible region: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polygon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162295" y="659455"/>
            <a:ext cx="216059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variables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989107" y="5229001"/>
            <a:ext cx="1101584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b="1" lang="en-US" sz="975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975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b="1" lang="en-US" sz="9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 rot="-5400000">
            <a:off x="551336" y="3506931"/>
            <a:ext cx="1101584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r>
              <a:rPr b="1" lang="en-US" sz="975">
                <a:solidFill>
                  <a:srgbClr val="0461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975">
                <a:solidFill>
                  <a:srgbClr val="5E0A5C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b="1" lang="en-US" sz="975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944681" y="1454623"/>
            <a:ext cx="1000467" cy="1231233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506902" y="573406"/>
            <a:ext cx="277659" cy="342989"/>
          </a:xfrm>
          <a:prstGeom prst="octagon">
            <a:avLst>
              <a:gd fmla="val 29289" name="adj"/>
            </a:avLst>
          </a:prstGeom>
          <a:solidFill>
            <a:schemeClr val="accent1"/>
          </a:solidFill>
          <a:ln cap="flat" cmpd="sng" w="25400">
            <a:solidFill>
              <a:srgbClr val="0048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103762" y="1202405"/>
            <a:ext cx="277659" cy="342989"/>
          </a:xfrm>
          <a:prstGeom prst="octagon">
            <a:avLst>
              <a:gd fmla="val 29289" name="adj"/>
            </a:avLst>
          </a:prstGeom>
          <a:solidFill>
            <a:schemeClr val="accent1"/>
          </a:solidFill>
          <a:ln cap="flat" cmpd="sng" w="25400">
            <a:solidFill>
              <a:srgbClr val="0048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5972620" y="2060681"/>
            <a:ext cx="277659" cy="342989"/>
          </a:xfrm>
          <a:prstGeom prst="octagon">
            <a:avLst>
              <a:gd fmla="val 29289" name="adj"/>
            </a:avLst>
          </a:prstGeom>
          <a:solidFill>
            <a:schemeClr val="accent1"/>
          </a:solidFill>
          <a:ln cap="flat" cmpd="sng" w="25400">
            <a:solidFill>
              <a:srgbClr val="0048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155344" y="2317810"/>
            <a:ext cx="13856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/>
          </a:p>
        </p:txBody>
      </p:sp>
      <p:pic>
        <p:nvPicPr>
          <p:cNvPr id="171" name="Google Shape;1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2847" y="2946620"/>
            <a:ext cx="2908165" cy="258163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5"/>
          <p:cNvSpPr/>
          <p:nvPr/>
        </p:nvSpPr>
        <p:spPr>
          <a:xfrm>
            <a:off x="6610258" y="4164221"/>
            <a:ext cx="457319" cy="342989"/>
          </a:xfrm>
          <a:prstGeom prst="ellipse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152938" y="3703617"/>
            <a:ext cx="457319" cy="342989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6040601" y="3410711"/>
            <a:ext cx="963725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Optimum Point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846081" y="3011411"/>
            <a:ext cx="1019831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Simplex Method</a:t>
            </a:r>
            <a:endParaRPr/>
          </a:p>
        </p:txBody>
      </p:sp>
      <p:sp>
        <p:nvSpPr>
          <p:cNvPr id="176" name="Google Shape;176;p5"/>
          <p:cNvSpPr txBox="1"/>
          <p:nvPr>
            <p:ph idx="12" type="sldNum"/>
          </p:nvPr>
        </p:nvSpPr>
        <p:spPr>
          <a:xfrm>
            <a:off x="7010030" y="5686599"/>
            <a:ext cx="914639" cy="204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asible region - Wikipedia"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293" y="1712287"/>
            <a:ext cx="3260165" cy="3260165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Linear Programming: Slope of Objective Function"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964" y="1714054"/>
            <a:ext cx="3260165" cy="3272800"/>
          </a:xfrm>
          <a:prstGeom prst="rect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" name="Google Shape;18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2514600" y="1981200"/>
            <a:ext cx="2680990" cy="70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50291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-83568" y="136525"/>
            <a:ext cx="8325228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502919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#1: A Two-Variable Product Mix Model (PC Models)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152400" y="990600"/>
            <a:ext cx="83820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To use LP to find the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best mix of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models that stays within the company’s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labor availability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maximum sales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PC Tech company must decide how many of each of two models, </a:t>
            </a:r>
            <a:r>
              <a:rPr lang="en-US" sz="2000">
                <a:solidFill>
                  <a:srgbClr val="8F0F64"/>
                </a:solidFill>
                <a:latin typeface="Calibri"/>
                <a:ea typeface="Calibri"/>
                <a:cs typeface="Calibri"/>
                <a:sym typeface="Calibri"/>
              </a:rPr>
              <a:t>Model1 and Model2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to produce to 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maximize its net profit.</a:t>
            </a:r>
            <a:endParaRPr/>
          </a:p>
          <a:p>
            <a:pPr indent="0" lvl="1" marL="3427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it can sell are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 Model1 and 1200 Model2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3427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Model1 sells for $300 and each Model2 for $450.</a:t>
            </a:r>
            <a:endParaRPr/>
          </a:p>
          <a:p>
            <a:pPr indent="0" lvl="1" marL="3427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cost of component parts for a Model1 is $150 and for an Model2 is $225.</a:t>
            </a:r>
            <a:endParaRPr/>
          </a:p>
          <a:p>
            <a:pPr indent="0" lvl="1" marL="3427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at most 10,000 assembly hours and 3000 testing hours available. </a:t>
            </a:r>
            <a:endParaRPr/>
          </a:p>
          <a:p>
            <a:pPr indent="0" lvl="1" marL="3427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Model1 requires </a:t>
            </a: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five hours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assembling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one hour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each Model2 requires </a:t>
            </a: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six hours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assembling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two hours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3427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labor hour for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assembling costs $11 and for testing costs $15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gebraic model equations, see Page 604 in the text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" y="152400"/>
            <a:ext cx="3757328" cy="3810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7315" y="493989"/>
            <a:ext cx="5171769" cy="1828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9"/>
          <p:cNvSpPr txBox="1"/>
          <p:nvPr/>
        </p:nvSpPr>
        <p:spPr>
          <a:xfrm>
            <a:off x="4595446" y="2598895"/>
            <a:ext cx="34596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5*$11 +1*$15 +$150-$300=$80</a:t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4602982" y="3048335"/>
            <a:ext cx="35862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6*$11 +2*$15 +$225-$450=$129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>
            <p:ph type="title"/>
          </p:nvPr>
        </p:nvSpPr>
        <p:spPr>
          <a:xfrm>
            <a:off x="457200" y="391140"/>
            <a:ext cx="8229600" cy="1085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Video</a:t>
            </a:r>
            <a:endParaRPr/>
          </a:p>
        </p:txBody>
      </p:sp>
      <p:sp>
        <p:nvSpPr>
          <p:cNvPr id="211" name="Google Shape;211;p10"/>
          <p:cNvSpPr txBox="1"/>
          <p:nvPr>
            <p:ph idx="1" type="body"/>
          </p:nvPr>
        </p:nvSpPr>
        <p:spPr>
          <a:xfrm>
            <a:off x="152400" y="1828800"/>
            <a:ext cx="9077770" cy="383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https://app.vidgrid.com/view/2Se2SNsBF9Yr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1066800" y="3276600"/>
            <a:ext cx="43386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https://use.vg/EnS2cP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CE">
  <a:themeElements>
    <a:clrScheme name="DCE">
      <a:dk1>
        <a:srgbClr val="000000"/>
      </a:dk1>
      <a:lt1>
        <a:srgbClr val="FFFFFF"/>
      </a:lt1>
      <a:dk2>
        <a:srgbClr val="1B3D6D"/>
      </a:dk2>
      <a:lt2>
        <a:srgbClr val="EEECE1"/>
      </a:lt2>
      <a:accent1>
        <a:srgbClr val="0064A4"/>
      </a:accent1>
      <a:accent2>
        <a:srgbClr val="C0504D"/>
      </a:accent2>
      <a:accent3>
        <a:srgbClr val="9BBB59"/>
      </a:accent3>
      <a:accent4>
        <a:srgbClr val="8064A2"/>
      </a:accent4>
      <a:accent5>
        <a:srgbClr val="6AA2B8"/>
      </a:accent5>
      <a:accent6>
        <a:srgbClr val="F78D2D"/>
      </a:accent6>
      <a:hlink>
        <a:srgbClr val="9BBB59"/>
      </a:hlink>
      <a:folHlink>
        <a:srgbClr val="9BBB5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2013-08-27T18:30:59Z</dcterms:created>
  <dc:creator>Chrissa Harvie</dc:creator>
</cp:coreProperties>
</file>