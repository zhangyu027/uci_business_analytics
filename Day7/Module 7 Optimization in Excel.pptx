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embeddedFontLst>
    <p:embeddedFont>
      <p:font typeface="Arial Black" panose="020B0604020202020204" pitchFamily="34" charset="0"/>
      <p:regular r:id="rId13"/>
      <p:bold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h38Uboj/NKk66fqc+c7lmGni+8k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1904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" name="Google Shape;21;p12"/>
          <p:cNvSpPr/>
          <p:nvPr/>
        </p:nvSpPr>
        <p:spPr>
          <a:xfrm>
            <a:off x="0" y="1"/>
            <a:ext cx="9144000" cy="1086522"/>
          </a:xfrm>
          <a:prstGeom prst="rect">
            <a:avLst/>
          </a:prstGeom>
          <a:solidFill>
            <a:srgbClr val="1B3D6D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" name="Google Shape;22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33904" y="312317"/>
            <a:ext cx="3730150" cy="48528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" name="Google Shape;23;p12"/>
          <p:cNvCxnSpPr/>
          <p:nvPr/>
        </p:nvCxnSpPr>
        <p:spPr>
          <a:xfrm>
            <a:off x="0" y="1073367"/>
            <a:ext cx="9144000" cy="0"/>
          </a:xfrm>
          <a:prstGeom prst="straightConnector1">
            <a:avLst/>
          </a:prstGeom>
          <a:noFill/>
          <a:ln w="28575" cap="flat" cmpd="sng">
            <a:solidFill>
              <a:srgbClr val="FFD2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" name="Google Shape;24;p12"/>
          <p:cNvSpPr/>
          <p:nvPr/>
        </p:nvSpPr>
        <p:spPr>
          <a:xfrm>
            <a:off x="0" y="1"/>
            <a:ext cx="9144000" cy="1086522"/>
          </a:xfrm>
          <a:prstGeom prst="rect">
            <a:avLst/>
          </a:prstGeom>
          <a:solidFill>
            <a:srgbClr val="1B3D6D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" name="Google Shape;25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33904" y="312317"/>
            <a:ext cx="3730150" cy="48528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" name="Google Shape;26;p12"/>
          <p:cNvCxnSpPr/>
          <p:nvPr/>
        </p:nvCxnSpPr>
        <p:spPr>
          <a:xfrm>
            <a:off x="0" y="1073367"/>
            <a:ext cx="9144000" cy="0"/>
          </a:xfrm>
          <a:prstGeom prst="straightConnector1">
            <a:avLst/>
          </a:prstGeom>
          <a:noFill/>
          <a:ln w="28575" cap="flat" cmpd="sng">
            <a:solidFill>
              <a:srgbClr val="FFD20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>
            <a:spLocks noGrp="1"/>
          </p:cNvSpPr>
          <p:nvPr>
            <p:ph type="title"/>
          </p:nvPr>
        </p:nvSpPr>
        <p:spPr>
          <a:xfrm>
            <a:off x="457200" y="391140"/>
            <a:ext cx="8229600" cy="1085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3"/>
          <p:cNvSpPr txBox="1">
            <a:spLocks noGrp="1"/>
          </p:cNvSpPr>
          <p:nvPr>
            <p:ph type="body" idx="1"/>
          </p:nvPr>
        </p:nvSpPr>
        <p:spPr>
          <a:xfrm>
            <a:off x="447230" y="1476929"/>
            <a:ext cx="8229600" cy="3834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3" name="Google Shape;33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444916" y="6046515"/>
            <a:ext cx="2253916" cy="293231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13"/>
          <p:cNvSpPr/>
          <p:nvPr/>
        </p:nvSpPr>
        <p:spPr>
          <a:xfrm>
            <a:off x="0" y="1"/>
            <a:ext cx="9144000" cy="610435"/>
          </a:xfrm>
          <a:prstGeom prst="rect">
            <a:avLst/>
          </a:prstGeom>
          <a:solidFill>
            <a:srgbClr val="1B3D6D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" name="Google Shape;35;p13"/>
          <p:cNvCxnSpPr/>
          <p:nvPr/>
        </p:nvCxnSpPr>
        <p:spPr>
          <a:xfrm>
            <a:off x="0" y="592106"/>
            <a:ext cx="9144000" cy="0"/>
          </a:xfrm>
          <a:prstGeom prst="straightConnector1">
            <a:avLst/>
          </a:prstGeom>
          <a:noFill/>
          <a:ln w="28575" cap="flat" cmpd="sng">
            <a:solidFill>
              <a:srgbClr val="FFD2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13"/>
          <p:cNvSpPr/>
          <p:nvPr/>
        </p:nvSpPr>
        <p:spPr>
          <a:xfrm>
            <a:off x="0" y="1"/>
            <a:ext cx="9144000" cy="610435"/>
          </a:xfrm>
          <a:prstGeom prst="rect">
            <a:avLst/>
          </a:prstGeom>
          <a:solidFill>
            <a:srgbClr val="1B3D6D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" name="Google Shape;37;p13"/>
          <p:cNvCxnSpPr/>
          <p:nvPr/>
        </p:nvCxnSpPr>
        <p:spPr>
          <a:xfrm>
            <a:off x="0" y="592106"/>
            <a:ext cx="9144000" cy="0"/>
          </a:xfrm>
          <a:prstGeom prst="straightConnector1">
            <a:avLst/>
          </a:prstGeom>
          <a:noFill/>
          <a:ln w="28575" cap="flat" cmpd="sng">
            <a:solidFill>
              <a:srgbClr val="FFD20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4"/>
          <p:cNvSpPr txBox="1">
            <a:spLocks noGrp="1"/>
          </p:cNvSpPr>
          <p:nvPr>
            <p:ph type="title"/>
          </p:nvPr>
        </p:nvSpPr>
        <p:spPr>
          <a:xfrm>
            <a:off x="617620" y="274638"/>
            <a:ext cx="80691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4"/>
          <p:cNvSpPr txBox="1">
            <a:spLocks noGrp="1"/>
          </p:cNvSpPr>
          <p:nvPr>
            <p:ph type="dt" idx="10"/>
          </p:nvPr>
        </p:nvSpPr>
        <p:spPr>
          <a:xfrm>
            <a:off x="61762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4"/>
          <p:cNvSpPr txBox="1">
            <a:spLocks noGrp="1"/>
          </p:cNvSpPr>
          <p:nvPr>
            <p:ph type="ftr" idx="11"/>
          </p:nvPr>
        </p:nvSpPr>
        <p:spPr>
          <a:xfrm>
            <a:off x="3316704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14"/>
          <p:cNvSpPr/>
          <p:nvPr/>
        </p:nvSpPr>
        <p:spPr>
          <a:xfrm>
            <a:off x="0" y="1"/>
            <a:ext cx="457200" cy="6857999"/>
          </a:xfrm>
          <a:prstGeom prst="rect">
            <a:avLst/>
          </a:prstGeom>
          <a:solidFill>
            <a:srgbClr val="1B3D6D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" name="Google Shape;44;p14"/>
          <p:cNvCxnSpPr/>
          <p:nvPr/>
        </p:nvCxnSpPr>
        <p:spPr>
          <a:xfrm>
            <a:off x="457200" y="0"/>
            <a:ext cx="0" cy="6858000"/>
          </a:xfrm>
          <a:prstGeom prst="straightConnector1">
            <a:avLst/>
          </a:prstGeom>
          <a:noFill/>
          <a:ln w="28575" cap="flat" cmpd="sng">
            <a:solidFill>
              <a:srgbClr val="FFD2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45" name="Google Shape;45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444916" y="6046515"/>
            <a:ext cx="2253916" cy="293231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4"/>
          <p:cNvSpPr/>
          <p:nvPr/>
        </p:nvSpPr>
        <p:spPr>
          <a:xfrm>
            <a:off x="0" y="1"/>
            <a:ext cx="457200" cy="6857999"/>
          </a:xfrm>
          <a:prstGeom prst="rect">
            <a:avLst/>
          </a:prstGeom>
          <a:solidFill>
            <a:srgbClr val="1B3D6D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" name="Google Shape;47;p14"/>
          <p:cNvCxnSpPr/>
          <p:nvPr/>
        </p:nvCxnSpPr>
        <p:spPr>
          <a:xfrm>
            <a:off x="457200" y="0"/>
            <a:ext cx="0" cy="6858000"/>
          </a:xfrm>
          <a:prstGeom prst="straightConnector1">
            <a:avLst/>
          </a:prstGeom>
          <a:noFill/>
          <a:ln w="28575" cap="flat" cmpd="sng">
            <a:solidFill>
              <a:srgbClr val="FFD20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223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51" name="Google Shape;51;p15"/>
          <p:cNvSpPr txBox="1">
            <a:spLocks noGrp="1"/>
          </p:cNvSpPr>
          <p:nvPr>
            <p:ph type="body" idx="2"/>
          </p:nvPr>
        </p:nvSpPr>
        <p:spPr>
          <a:xfrm>
            <a:off x="4648200" y="1600201"/>
            <a:ext cx="4038600" cy="4223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52" name="Google Shape;52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5" name="Google Shape;55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444916" y="6046515"/>
            <a:ext cx="2253916" cy="2932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0" name="Google Shape;60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444916" y="6046515"/>
            <a:ext cx="2253916" cy="2932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" name="Google Shape;67;p17"/>
          <p:cNvSpPr/>
          <p:nvPr/>
        </p:nvSpPr>
        <p:spPr>
          <a:xfrm>
            <a:off x="0" y="1"/>
            <a:ext cx="9144000" cy="1086522"/>
          </a:xfrm>
          <a:prstGeom prst="rect">
            <a:avLst/>
          </a:prstGeom>
          <a:solidFill>
            <a:srgbClr val="1B3D6D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" name="Google Shape;68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33904" y="312317"/>
            <a:ext cx="3730150" cy="48528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9" name="Google Shape;69;p17"/>
          <p:cNvCxnSpPr/>
          <p:nvPr/>
        </p:nvCxnSpPr>
        <p:spPr>
          <a:xfrm>
            <a:off x="0" y="1073367"/>
            <a:ext cx="9144000" cy="0"/>
          </a:xfrm>
          <a:prstGeom prst="straightConnector1">
            <a:avLst/>
          </a:prstGeom>
          <a:noFill/>
          <a:ln w="28575" cap="flat" cmpd="sng">
            <a:solidFill>
              <a:srgbClr val="FFD2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0" name="Google Shape;70;p17"/>
          <p:cNvSpPr/>
          <p:nvPr/>
        </p:nvSpPr>
        <p:spPr>
          <a:xfrm>
            <a:off x="0" y="1"/>
            <a:ext cx="9144000" cy="1086522"/>
          </a:xfrm>
          <a:prstGeom prst="rect">
            <a:avLst/>
          </a:prstGeom>
          <a:solidFill>
            <a:srgbClr val="1B3D6D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" name="Google Shape;71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33904" y="312317"/>
            <a:ext cx="3730150" cy="48528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2" name="Google Shape;72;p17"/>
          <p:cNvCxnSpPr/>
          <p:nvPr/>
        </p:nvCxnSpPr>
        <p:spPr>
          <a:xfrm>
            <a:off x="0" y="1073367"/>
            <a:ext cx="9144000" cy="0"/>
          </a:xfrm>
          <a:prstGeom prst="straightConnector1">
            <a:avLst/>
          </a:prstGeom>
          <a:noFill/>
          <a:ln w="28575" cap="flat" cmpd="sng">
            <a:solidFill>
              <a:srgbClr val="FFD20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72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72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2" name="Google Shape;82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444916" y="6046515"/>
            <a:ext cx="2253916" cy="2932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9"/>
          <p:cNvSpPr txBox="1">
            <a:spLocks noGrp="1"/>
          </p:cNvSpPr>
          <p:nvPr>
            <p:ph type="body" idx="1"/>
          </p:nvPr>
        </p:nvSpPr>
        <p:spPr>
          <a:xfrm>
            <a:off x="3575050" y="273051"/>
            <a:ext cx="5111750" cy="551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86" name="Google Shape;86;p1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356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0" name="Google Shape;90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444916" y="6046515"/>
            <a:ext cx="2253916" cy="2932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0"/>
          <p:cNvSpPr>
            <a:spLocks noGrp="1"/>
          </p:cNvSpPr>
          <p:nvPr>
            <p:ph type="pic" idx="2"/>
          </p:nvPr>
        </p:nvSpPr>
        <p:spPr>
          <a:xfrm>
            <a:off x="1792288" y="1270673"/>
            <a:ext cx="5486400" cy="3456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" name="Google Shape;94;p2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95" name="Google Shape;95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8" name="Google Shape;98;p20"/>
          <p:cNvSpPr/>
          <p:nvPr/>
        </p:nvSpPr>
        <p:spPr>
          <a:xfrm>
            <a:off x="0" y="1"/>
            <a:ext cx="9144000" cy="1086522"/>
          </a:xfrm>
          <a:prstGeom prst="rect">
            <a:avLst/>
          </a:prstGeom>
          <a:solidFill>
            <a:srgbClr val="1B3D6D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33904" y="312317"/>
            <a:ext cx="3730150" cy="48528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0" name="Google Shape;100;p20"/>
          <p:cNvCxnSpPr/>
          <p:nvPr/>
        </p:nvCxnSpPr>
        <p:spPr>
          <a:xfrm>
            <a:off x="0" y="1073367"/>
            <a:ext cx="9144000" cy="0"/>
          </a:xfrm>
          <a:prstGeom prst="straightConnector1">
            <a:avLst/>
          </a:prstGeom>
          <a:noFill/>
          <a:ln w="28575" cap="flat" cmpd="sng">
            <a:solidFill>
              <a:srgbClr val="FFD2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1" name="Google Shape;101;p20"/>
          <p:cNvSpPr/>
          <p:nvPr/>
        </p:nvSpPr>
        <p:spPr>
          <a:xfrm>
            <a:off x="0" y="1"/>
            <a:ext cx="9144000" cy="1086522"/>
          </a:xfrm>
          <a:prstGeom prst="rect">
            <a:avLst/>
          </a:prstGeom>
          <a:solidFill>
            <a:srgbClr val="1B3D6D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33904" y="312317"/>
            <a:ext cx="3730150" cy="48528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3" name="Google Shape;103;p20"/>
          <p:cNvCxnSpPr/>
          <p:nvPr/>
        </p:nvCxnSpPr>
        <p:spPr>
          <a:xfrm>
            <a:off x="0" y="1073367"/>
            <a:ext cx="9144000" cy="0"/>
          </a:xfrm>
          <a:prstGeom prst="straightConnector1">
            <a:avLst/>
          </a:prstGeom>
          <a:noFill/>
          <a:ln w="28575" cap="flat" cmpd="sng">
            <a:solidFill>
              <a:srgbClr val="FFD20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1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3" name="Google Shape;113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wo Content">
  <p:cSld name="1_Two Content">
    <p:bg>
      <p:bgPr>
        <a:solidFill>
          <a:schemeClr val="lt1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 Black"/>
              <a:buNone/>
              <a:defRPr sz="4000" b="1" i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body" idx="1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2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0" name="Google Shape;120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25400" marR="0" lvl="0" indent="0" algn="r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1B34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25400" marR="0" lvl="1" indent="0" algn="r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1B344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25400" marR="0" lvl="2" indent="0" algn="r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1B344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5400" marR="0" lvl="3" indent="0" algn="r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1B344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5400" marR="0" lvl="4" indent="0" algn="r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1B344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400" marR="0" lvl="5" indent="0" algn="r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1B344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5400" marR="0" lvl="6" indent="0" algn="r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1B344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25400" marR="0" lvl="7" indent="0" algn="r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1B344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25400" marR="0" lvl="8" indent="0" algn="r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1B344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540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vidgrid.com/view/2Se2SNsBF9Yr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"/>
          <p:cNvSpPr txBox="1">
            <a:spLocks noGrp="1"/>
          </p:cNvSpPr>
          <p:nvPr>
            <p:ph type="ctrTitle"/>
          </p:nvPr>
        </p:nvSpPr>
        <p:spPr>
          <a:xfrm>
            <a:off x="564469" y="1676400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Optimization using EXCEL</a:t>
            </a:r>
            <a:endParaRPr/>
          </a:p>
        </p:txBody>
      </p:sp>
      <p:sp>
        <p:nvSpPr>
          <p:cNvPr id="128" name="Google Shape;128;p1"/>
          <p:cNvSpPr txBox="1"/>
          <p:nvPr/>
        </p:nvSpPr>
        <p:spPr>
          <a:xfrm>
            <a:off x="526369" y="5619304"/>
            <a:ext cx="7848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32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36" name="Google Shape;136;p2"/>
          <p:cNvSpPr txBox="1"/>
          <p:nvPr/>
        </p:nvSpPr>
        <p:spPr>
          <a:xfrm>
            <a:off x="152400" y="-40159"/>
            <a:ext cx="8153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Introduction to Optimization</a:t>
            </a:r>
            <a:endParaRPr/>
          </a:p>
        </p:txBody>
      </p:sp>
      <p:sp>
        <p:nvSpPr>
          <p:cNvPr id="137" name="Google Shape;137;p2"/>
          <p:cNvSpPr txBox="1">
            <a:spLocks noGrp="1"/>
          </p:cNvSpPr>
          <p:nvPr>
            <p:ph type="body" idx="1"/>
          </p:nvPr>
        </p:nvSpPr>
        <p:spPr>
          <a:xfrm>
            <a:off x="665956" y="990600"/>
            <a:ext cx="8020844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All optimization problems have several common elements: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b="1" i="1">
                <a:solidFill>
                  <a:schemeClr val="dk1"/>
                </a:solidFill>
                <a:highlight>
                  <a:srgbClr val="FFFF00"/>
                </a:highlight>
              </a:rPr>
              <a:t>Decision variables</a:t>
            </a:r>
            <a:r>
              <a:rPr lang="en-US"/>
              <a:t>—the variables whose values the decision maker is allowed to choose.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b="1" i="1">
                <a:solidFill>
                  <a:schemeClr val="dk1"/>
                </a:solidFill>
                <a:highlight>
                  <a:srgbClr val="FFFF00"/>
                </a:highlight>
              </a:rPr>
              <a:t>Objective function </a:t>
            </a:r>
            <a:r>
              <a:rPr lang="en-US" i="1">
                <a:solidFill>
                  <a:srgbClr val="000000"/>
                </a:solidFill>
              </a:rPr>
              <a:t>(</a:t>
            </a:r>
            <a:r>
              <a:rPr lang="en-US" b="1">
                <a:solidFill>
                  <a:srgbClr val="5E0A5C"/>
                </a:solidFill>
                <a:highlight>
                  <a:srgbClr val="FFFF00"/>
                </a:highlight>
              </a:rPr>
              <a:t>objective</a:t>
            </a:r>
            <a:r>
              <a:rPr lang="en-US" i="1">
                <a:solidFill>
                  <a:srgbClr val="000000"/>
                </a:solidFill>
              </a:rPr>
              <a:t>) </a:t>
            </a:r>
            <a:r>
              <a:rPr lang="en-US"/>
              <a:t>to be optimized—maximized or minimized.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b="1">
                <a:solidFill>
                  <a:schemeClr val="dk1"/>
                </a:solidFill>
                <a:highlight>
                  <a:srgbClr val="FFFF00"/>
                </a:highlight>
              </a:rPr>
              <a:t>Constraints</a:t>
            </a:r>
            <a:r>
              <a:rPr lang="en-US">
                <a:solidFill>
                  <a:schemeClr val="dk1"/>
                </a:solidFill>
              </a:rPr>
              <a:t> </a:t>
            </a:r>
            <a:r>
              <a:rPr lang="en-US"/>
              <a:t>that must be satisfied—physical, logical, or economic restrictions, depending on the nature of the problem.</a:t>
            </a:r>
            <a:endParaRPr/>
          </a:p>
        </p:txBody>
      </p:sp>
      <p:sp>
        <p:nvSpPr>
          <p:cNvPr id="138" name="Google Shape;138;p2"/>
          <p:cNvSpPr/>
          <p:nvPr/>
        </p:nvSpPr>
        <p:spPr>
          <a:xfrm>
            <a:off x="335217" y="1447800"/>
            <a:ext cx="501395" cy="4419600"/>
          </a:xfrm>
          <a:prstGeom prst="leftBrace">
            <a:avLst>
              <a:gd name="adj1" fmla="val 8333"/>
              <a:gd name="adj2" fmla="val 50000"/>
            </a:avLst>
          </a:prstGeom>
          <a:noFill/>
          <a:ln w="5715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"/>
          <p:cNvSpPr txBox="1"/>
          <p:nvPr/>
        </p:nvSpPr>
        <p:spPr>
          <a:xfrm>
            <a:off x="660720" y="191697"/>
            <a:ext cx="6116643" cy="857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300"/>
              <a:buFont typeface="Calibri"/>
              <a:buNone/>
            </a:pPr>
            <a:r>
              <a:rPr lang="en-US" sz="33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Optimization Problems</a:t>
            </a:r>
            <a:br>
              <a:rPr lang="en-US" sz="405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4050" b="1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3"/>
          <p:cNvPicPr preferRelativeResize="0"/>
          <p:nvPr/>
        </p:nvPicPr>
        <p:blipFill rotWithShape="1">
          <a:blip r:embed="rId3">
            <a:alphaModFix/>
          </a:blip>
          <a:srcRect l="1176" t="5276" r="1961" b="6717"/>
          <a:stretch/>
        </p:blipFill>
        <p:spPr>
          <a:xfrm>
            <a:off x="660720" y="784710"/>
            <a:ext cx="7427737" cy="4527567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pic>
      <p:sp>
        <p:nvSpPr>
          <p:cNvPr id="145" name="Google Shape;145;p3"/>
          <p:cNvSpPr/>
          <p:nvPr/>
        </p:nvSpPr>
        <p:spPr>
          <a:xfrm>
            <a:off x="7479632" y="3555021"/>
            <a:ext cx="743144" cy="685979"/>
          </a:xfrm>
          <a:prstGeom prst="ellipse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7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"/>
          <p:cNvSpPr/>
          <p:nvPr/>
        </p:nvSpPr>
        <p:spPr>
          <a:xfrm>
            <a:off x="3129719" y="5509089"/>
            <a:ext cx="4570809" cy="41549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specific type of optimization, </a:t>
            </a:r>
            <a:r>
              <a:rPr lang="en-US" sz="1050" b="1">
                <a:solidFill>
                  <a:srgbClr val="5E0A5C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linear programming</a:t>
            </a:r>
            <a:r>
              <a:rPr lang="en-US" sz="1050" b="1">
                <a:solidFill>
                  <a:srgbClr val="04617B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(LP)</a:t>
            </a: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is used in all types of organizations to solve a wide variety of problems</a:t>
            </a:r>
            <a:endParaRPr/>
          </a:p>
        </p:txBody>
      </p:sp>
      <p:sp>
        <p:nvSpPr>
          <p:cNvPr id="147" name="Google Shape;147;p3"/>
          <p:cNvSpPr/>
          <p:nvPr/>
        </p:nvSpPr>
        <p:spPr>
          <a:xfrm rot="-3351860">
            <a:off x="6837480" y="4950837"/>
            <a:ext cx="743144" cy="342989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00487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7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4" descr="https://www.mbaskool.com/2013_images/stories/nov_images/alternate-opt-solution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1798" y="1142405"/>
            <a:ext cx="8322347" cy="4401696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54" name="Google Shape;154;p4"/>
          <p:cNvSpPr txBox="1">
            <a:spLocks noGrp="1"/>
          </p:cNvSpPr>
          <p:nvPr>
            <p:ph type="sldNum" idx="12"/>
          </p:nvPr>
        </p:nvSpPr>
        <p:spPr>
          <a:xfrm>
            <a:off x="7144420" y="5796580"/>
            <a:ext cx="914639" cy="20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6036" y="970910"/>
            <a:ext cx="4566303" cy="1943606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60" name="Google Shape;160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02357" y="3143175"/>
            <a:ext cx="2686750" cy="238508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61" name="Google Shape;161;p5"/>
          <p:cNvSpPr/>
          <p:nvPr/>
        </p:nvSpPr>
        <p:spPr>
          <a:xfrm rot="2908622">
            <a:off x="2345989" y="3947388"/>
            <a:ext cx="2223686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line in the two-dimensional (2D) plane</a:t>
            </a: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1543453" y="4536323"/>
            <a:ext cx="773518" cy="54245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feasible region: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polygon</a:t>
            </a:r>
            <a:endParaRPr/>
          </a:p>
        </p:txBody>
      </p:sp>
      <p:sp>
        <p:nvSpPr>
          <p:cNvPr id="163" name="Google Shape;163;p5"/>
          <p:cNvSpPr/>
          <p:nvPr/>
        </p:nvSpPr>
        <p:spPr>
          <a:xfrm>
            <a:off x="5162295" y="659455"/>
            <a:ext cx="216059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Decision variables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3989107" y="5229001"/>
            <a:ext cx="1101584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>
                <a:solidFill>
                  <a:srgbClr val="5E0A5C"/>
                </a:solidFill>
                <a:latin typeface="Calibri"/>
                <a:ea typeface="Calibri"/>
                <a:cs typeface="Calibri"/>
                <a:sym typeface="Calibri"/>
              </a:rPr>
              <a:t>Decision</a:t>
            </a:r>
            <a:r>
              <a:rPr lang="en-US" sz="975" b="1">
                <a:solidFill>
                  <a:srgbClr val="04617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75" b="1">
                <a:solidFill>
                  <a:srgbClr val="5E0A5C"/>
                </a:solidFill>
                <a:latin typeface="Calibri"/>
                <a:ea typeface="Calibri"/>
                <a:cs typeface="Calibri"/>
                <a:sym typeface="Calibri"/>
              </a:rPr>
              <a:t>variable</a:t>
            </a:r>
            <a:r>
              <a:rPr lang="en-US" sz="975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 rot="-5400000">
            <a:off x="551336" y="3506931"/>
            <a:ext cx="1101584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>
                <a:solidFill>
                  <a:srgbClr val="5E0A5C"/>
                </a:solidFill>
                <a:latin typeface="Calibri"/>
                <a:ea typeface="Calibri"/>
                <a:cs typeface="Calibri"/>
                <a:sym typeface="Calibri"/>
              </a:rPr>
              <a:t>Decision</a:t>
            </a:r>
            <a:r>
              <a:rPr lang="en-US" sz="975" b="1">
                <a:solidFill>
                  <a:srgbClr val="04617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75" b="1">
                <a:solidFill>
                  <a:srgbClr val="5E0A5C"/>
                </a:solidFill>
                <a:latin typeface="Calibri"/>
                <a:ea typeface="Calibri"/>
                <a:cs typeface="Calibri"/>
                <a:sym typeface="Calibri"/>
              </a:rPr>
              <a:t>variable</a:t>
            </a:r>
            <a:r>
              <a:rPr lang="en-US" sz="975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4944681" y="1454623"/>
            <a:ext cx="1000467" cy="1231233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2506902" y="573406"/>
            <a:ext cx="277659" cy="342989"/>
          </a:xfrm>
          <a:prstGeom prst="octagon">
            <a:avLst>
              <a:gd name="adj" fmla="val 29289"/>
            </a:avLst>
          </a:prstGeom>
          <a:solidFill>
            <a:schemeClr val="accent1"/>
          </a:solidFill>
          <a:ln w="25400" cap="flat" cmpd="sng">
            <a:solidFill>
              <a:srgbClr val="00487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68" name="Google Shape;168;p5"/>
          <p:cNvSpPr/>
          <p:nvPr/>
        </p:nvSpPr>
        <p:spPr>
          <a:xfrm>
            <a:off x="6103762" y="1202405"/>
            <a:ext cx="277659" cy="342989"/>
          </a:xfrm>
          <a:prstGeom prst="octagon">
            <a:avLst>
              <a:gd name="adj" fmla="val 29289"/>
            </a:avLst>
          </a:prstGeom>
          <a:solidFill>
            <a:schemeClr val="accent1"/>
          </a:solidFill>
          <a:ln w="25400" cap="flat" cmpd="sng">
            <a:solidFill>
              <a:srgbClr val="00487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69" name="Google Shape;169;p5"/>
          <p:cNvSpPr/>
          <p:nvPr/>
        </p:nvSpPr>
        <p:spPr>
          <a:xfrm>
            <a:off x="5972620" y="2060681"/>
            <a:ext cx="277659" cy="342989"/>
          </a:xfrm>
          <a:prstGeom prst="octagon">
            <a:avLst>
              <a:gd name="adj" fmla="val 29289"/>
            </a:avLst>
          </a:prstGeom>
          <a:solidFill>
            <a:schemeClr val="accent1"/>
          </a:solidFill>
          <a:ln w="25400" cap="flat" cmpd="sng">
            <a:solidFill>
              <a:srgbClr val="00487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70" name="Google Shape;170;p5"/>
          <p:cNvSpPr/>
          <p:nvPr/>
        </p:nvSpPr>
        <p:spPr>
          <a:xfrm>
            <a:off x="6155344" y="2317810"/>
            <a:ext cx="138563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Constraints</a:t>
            </a:r>
            <a:endParaRPr/>
          </a:p>
        </p:txBody>
      </p:sp>
      <p:pic>
        <p:nvPicPr>
          <p:cNvPr id="171" name="Google Shape;171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22847" y="2946620"/>
            <a:ext cx="2908165" cy="2581635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72" name="Google Shape;172;p5"/>
          <p:cNvSpPr/>
          <p:nvPr/>
        </p:nvSpPr>
        <p:spPr>
          <a:xfrm>
            <a:off x="6610258" y="4164221"/>
            <a:ext cx="457319" cy="342989"/>
          </a:xfrm>
          <a:prstGeom prst="ellipse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7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6152938" y="3703617"/>
            <a:ext cx="457319" cy="342989"/>
          </a:xfrm>
          <a:prstGeom prst="ellipse">
            <a:avLst/>
          </a:prstGeom>
          <a:noFill/>
          <a:ln w="2857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7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 txBox="1"/>
          <p:nvPr/>
        </p:nvSpPr>
        <p:spPr>
          <a:xfrm>
            <a:off x="6040601" y="3410711"/>
            <a:ext cx="963725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Optimum Point</a:t>
            </a:r>
            <a:endParaRPr/>
          </a:p>
        </p:txBody>
      </p:sp>
      <p:sp>
        <p:nvSpPr>
          <p:cNvPr id="175" name="Google Shape;175;p5"/>
          <p:cNvSpPr/>
          <p:nvPr/>
        </p:nvSpPr>
        <p:spPr>
          <a:xfrm>
            <a:off x="6846081" y="3011411"/>
            <a:ext cx="1019831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Simplex Method</a:t>
            </a:r>
            <a:endParaRPr/>
          </a:p>
        </p:txBody>
      </p:sp>
      <p:sp>
        <p:nvSpPr>
          <p:cNvPr id="176" name="Google Shape;176;p5"/>
          <p:cNvSpPr txBox="1">
            <a:spLocks noGrp="1"/>
          </p:cNvSpPr>
          <p:nvPr>
            <p:ph type="sldNum" idx="12"/>
          </p:nvPr>
        </p:nvSpPr>
        <p:spPr>
          <a:xfrm>
            <a:off x="7010030" y="5686599"/>
            <a:ext cx="914639" cy="20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6" descr="Feasible region - Wikip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3293" y="1712287"/>
            <a:ext cx="3260165" cy="3260165"/>
          </a:xfrm>
          <a:prstGeom prst="rect">
            <a:avLst/>
          </a:prstGeom>
          <a:noFill/>
          <a:ln w="9525" cap="flat" cmpd="sng">
            <a:solidFill>
              <a:srgbClr val="7030A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82" name="Google Shape;182;p6" descr="Linear Programming: Slope of Objective Function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14964" y="1714054"/>
            <a:ext cx="3260165" cy="3272800"/>
          </a:xfrm>
          <a:prstGeom prst="rect">
            <a:avLst/>
          </a:prstGeom>
          <a:noFill/>
          <a:ln w="9525" cap="flat" cmpd="sng">
            <a:solidFill>
              <a:srgbClr val="7030A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83" name="Google Shape;183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2514600" y="1981200"/>
            <a:ext cx="2680990" cy="70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02919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-83568" y="136525"/>
            <a:ext cx="8325228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02919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#1: A Two-Variable Product Mix Model (PC Models)</a:t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152400" y="990600"/>
            <a:ext cx="8382000" cy="4401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To use LP to find the </a:t>
            </a:r>
            <a:r>
              <a:rPr lang="en-US" sz="20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best mix of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computer models that stays within the company’s </a:t>
            </a:r>
            <a:r>
              <a:rPr lang="en-US" sz="20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labor availability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lang="en-US" sz="20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maximum sales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constraints.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PC Tech company must decide how many of each of two models, </a:t>
            </a:r>
            <a:r>
              <a:rPr lang="en-US" sz="2000">
                <a:solidFill>
                  <a:srgbClr val="8F0F64"/>
                </a:solidFill>
                <a:latin typeface="Calibri"/>
                <a:ea typeface="Calibri"/>
                <a:cs typeface="Calibri"/>
                <a:sym typeface="Calibri"/>
              </a:rPr>
              <a:t>Model1 and Model2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to produce to </a:t>
            </a:r>
            <a:r>
              <a:rPr lang="en-US" sz="20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maximize its net profit.</a:t>
            </a:r>
            <a:endParaRPr/>
          </a:p>
          <a:p>
            <a:pPr marL="342763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most it can sell are </a:t>
            </a:r>
            <a:r>
              <a:rPr lang="en-US" sz="20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600 Model1 and 1200 Model2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marL="342763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Model1 sells for $300 and each Model2 for $450.</a:t>
            </a:r>
            <a:endParaRPr/>
          </a:p>
          <a:p>
            <a:pPr marL="342763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cost of component parts for a Model1 is $150 and for an Model2 is $225.</a:t>
            </a:r>
            <a:endParaRPr/>
          </a:p>
          <a:p>
            <a:pPr marL="342763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are at most 10,000 assembly hours and 3000 testing hours available. </a:t>
            </a:r>
            <a:endParaRPr/>
          </a:p>
          <a:p>
            <a:pPr marL="342763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Model1 requires </a:t>
            </a:r>
            <a:r>
              <a:rPr lang="en-US" sz="2000" b="0" i="0" u="none" strike="noStrike" cap="none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five hours 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lang="en-US" sz="20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assembling 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lang="en-US" sz="2000" b="0" i="0" u="none" strike="noStrike" cap="none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one hour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</a:t>
            </a:r>
            <a:r>
              <a:rPr lang="en-US" sz="20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testing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and each Model2 requires </a:t>
            </a:r>
            <a:r>
              <a:rPr lang="en-US" sz="2000" b="0" i="0" u="none" strike="noStrike" cap="none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six hours 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</a:t>
            </a:r>
            <a:r>
              <a:rPr lang="en-US" sz="20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assembling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sz="2000" b="0" i="0" u="none" strike="noStrike" cap="none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two hours 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</a:t>
            </a:r>
            <a:r>
              <a:rPr lang="en-US" sz="20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testing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marL="342763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labor hour for </a:t>
            </a:r>
            <a:r>
              <a:rPr lang="en-US" sz="20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assembling costs $11 and for testing costs $15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202" name="Google Shape;202;p9" descr="Algebraic model equations, see Page 604 in the tex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696" y="152400"/>
            <a:ext cx="3757328" cy="38100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03" name="Google Shape;20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67315" y="493989"/>
            <a:ext cx="5171769" cy="18288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04" name="Google Shape;204;p9"/>
          <p:cNvSpPr txBox="1"/>
          <p:nvPr/>
        </p:nvSpPr>
        <p:spPr>
          <a:xfrm>
            <a:off x="4595446" y="2598895"/>
            <a:ext cx="345960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5*$11 +1*$15 +$150-$300=$80</a:t>
            </a:r>
            <a:endParaRPr/>
          </a:p>
        </p:txBody>
      </p:sp>
      <p:sp>
        <p:nvSpPr>
          <p:cNvPr id="205" name="Google Shape;205;p9"/>
          <p:cNvSpPr txBox="1"/>
          <p:nvPr/>
        </p:nvSpPr>
        <p:spPr>
          <a:xfrm>
            <a:off x="4602982" y="3048335"/>
            <a:ext cx="35862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6*$11 +2*$15 +$225-$450=$129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"/>
          <p:cNvSpPr txBox="1">
            <a:spLocks noGrp="1"/>
          </p:cNvSpPr>
          <p:nvPr>
            <p:ph type="title"/>
          </p:nvPr>
        </p:nvSpPr>
        <p:spPr>
          <a:xfrm>
            <a:off x="457200" y="391140"/>
            <a:ext cx="8229600" cy="1085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Video</a:t>
            </a:r>
            <a:endParaRPr/>
          </a:p>
        </p:txBody>
      </p:sp>
      <p:sp>
        <p:nvSpPr>
          <p:cNvPr id="211" name="Google Shape;211;p10"/>
          <p:cNvSpPr txBox="1">
            <a:spLocks noGrp="1"/>
          </p:cNvSpPr>
          <p:nvPr>
            <p:ph type="body" idx="1"/>
          </p:nvPr>
        </p:nvSpPr>
        <p:spPr>
          <a:xfrm>
            <a:off x="152400" y="1828800"/>
            <a:ext cx="9077770" cy="3834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https://app.vidgrid.com/view/2Se2SNsBF9Yr</a:t>
            </a: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  <p:sp>
        <p:nvSpPr>
          <p:cNvPr id="212" name="Google Shape;212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213" name="Google Shape;213;p10"/>
          <p:cNvSpPr/>
          <p:nvPr/>
        </p:nvSpPr>
        <p:spPr>
          <a:xfrm>
            <a:off x="1066800" y="3276600"/>
            <a:ext cx="433862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https://use.vg/EnS2cP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CE">
  <a:themeElements>
    <a:clrScheme name="DCE">
      <a:dk1>
        <a:srgbClr val="000000"/>
      </a:dk1>
      <a:lt1>
        <a:srgbClr val="FFFFFF"/>
      </a:lt1>
      <a:dk2>
        <a:srgbClr val="1B3D6D"/>
      </a:dk2>
      <a:lt2>
        <a:srgbClr val="EEECE1"/>
      </a:lt2>
      <a:accent1>
        <a:srgbClr val="0064A4"/>
      </a:accent1>
      <a:accent2>
        <a:srgbClr val="C0504D"/>
      </a:accent2>
      <a:accent3>
        <a:srgbClr val="9BBB59"/>
      </a:accent3>
      <a:accent4>
        <a:srgbClr val="8064A2"/>
      </a:accent4>
      <a:accent5>
        <a:srgbClr val="6AA2B8"/>
      </a:accent5>
      <a:accent6>
        <a:srgbClr val="F78D2D"/>
      </a:accent6>
      <a:hlink>
        <a:srgbClr val="9BBB59"/>
      </a:hlink>
      <a:folHlink>
        <a:srgbClr val="9BBB5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338</Words>
  <Application>Microsoft Macintosh PowerPoint</Application>
  <PresentationFormat>On-screen Show (4:3)</PresentationFormat>
  <Paragraphs>46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Times New Roman</vt:lpstr>
      <vt:lpstr>Calibri</vt:lpstr>
      <vt:lpstr>Arial Black</vt:lpstr>
      <vt:lpstr>Arial</vt:lpstr>
      <vt:lpstr>DCE</vt:lpstr>
      <vt:lpstr>Optimization using EXCEL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Video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Optimization using EXCEL</dc:title>
  <dc:creator>Chrissa Harvie</dc:creator>
  <cp:lastModifiedBy>Yu Zhang</cp:lastModifiedBy>
  <cp:revision>1</cp:revision>
  <dcterms:created xsi:type="dcterms:W3CDTF">2013-08-27T18:30:59Z</dcterms:created>
  <dcterms:modified xsi:type="dcterms:W3CDTF">2022-06-18T20:32:48Z</dcterms:modified>
</cp:coreProperties>
</file>