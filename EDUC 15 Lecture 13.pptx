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1"/>
  </p:notesMasterIdLst>
  <p:sldIdLst>
    <p:sldId id="343" r:id="rId2"/>
    <p:sldId id="352" r:id="rId3"/>
    <p:sldId id="257" r:id="rId4"/>
    <p:sldId id="258" r:id="rId5"/>
    <p:sldId id="432" r:id="rId6"/>
    <p:sldId id="263" r:id="rId7"/>
    <p:sldId id="267" r:id="rId8"/>
    <p:sldId id="268" r:id="rId9"/>
    <p:sldId id="423" r:id="rId10"/>
    <p:sldId id="424" r:id="rId11"/>
    <p:sldId id="354" r:id="rId12"/>
    <p:sldId id="347" r:id="rId13"/>
    <p:sldId id="391" r:id="rId14"/>
    <p:sldId id="394" r:id="rId15"/>
    <p:sldId id="400" r:id="rId16"/>
    <p:sldId id="396" r:id="rId17"/>
    <p:sldId id="401" r:id="rId18"/>
    <p:sldId id="349" r:id="rId19"/>
    <p:sldId id="262" r:id="rId20"/>
    <p:sldId id="433" r:id="rId21"/>
    <p:sldId id="434" r:id="rId22"/>
    <p:sldId id="435" r:id="rId23"/>
    <p:sldId id="430" r:id="rId24"/>
    <p:sldId id="431" r:id="rId25"/>
    <p:sldId id="439" r:id="rId26"/>
    <p:sldId id="350" r:id="rId27"/>
    <p:sldId id="428" r:id="rId28"/>
    <p:sldId id="437" r:id="rId29"/>
    <p:sldId id="438" r:id="rId3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88"/>
    <p:restoredTop sz="84314" autoAdjust="0"/>
  </p:normalViewPr>
  <p:slideViewPr>
    <p:cSldViewPr snapToGrid="0" snapToObjects="1">
      <p:cViewPr varScale="1">
        <p:scale>
          <a:sx n="96" d="100"/>
          <a:sy n="96" d="100"/>
        </p:scale>
        <p:origin x="1800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AAC5F3-FE5E-6343-B72B-0CA51D452090}" type="datetimeFigureOut">
              <a:rPr lang="en-US" smtClean="0"/>
              <a:t>6/25/22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9A0423-4449-7542-BEED-339873D78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802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http://</a:t>
            </a:r>
            <a:r>
              <a:rPr lang="en-US" dirty="0" err="1"/>
              <a:t>www.pewresearch.org</a:t>
            </a:r>
            <a:r>
              <a:rPr lang="en-US" dirty="0"/>
              <a:t>/fact-tank/2016/11/09/why-2016-election-polls-missed-their-mark/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5970D5-5BB9-7D45-B0E8-45D02E74FB5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6885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001135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835399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964042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212916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995798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881030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493414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969991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103785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905561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04424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9A0423-4449-7542-BEED-339873D78095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8478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6996F-FABD-C945-A906-C73DE0FDFFDC}" type="datetimeFigureOut">
              <a:rPr lang="en-US" smtClean="0"/>
              <a:t>6/25/22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15707-FA0B-5D42-908D-E7BF23FF550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6996F-FABD-C945-A906-C73DE0FDFFDC}" type="datetimeFigureOut">
              <a:rPr lang="en-US" smtClean="0"/>
              <a:t>6/25/22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15707-FA0B-5D42-908D-E7BF23FF550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6996F-FABD-C945-A906-C73DE0FDFFDC}" type="datetimeFigureOut">
              <a:rPr lang="en-US" smtClean="0"/>
              <a:t>6/25/22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15707-FA0B-5D42-908D-E7BF23FF550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6996F-FABD-C945-A906-C73DE0FDFFDC}" type="datetimeFigureOut">
              <a:rPr lang="en-US" smtClean="0"/>
              <a:t>6/25/22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15707-FA0B-5D42-908D-E7BF23FF550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6996F-FABD-C945-A906-C73DE0FDFFDC}" type="datetimeFigureOut">
              <a:rPr lang="en-US" smtClean="0"/>
              <a:t>6/25/22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15707-FA0B-5D42-908D-E7BF23FF550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6996F-FABD-C945-A906-C73DE0FDFFDC}" type="datetimeFigureOut">
              <a:rPr lang="en-US" smtClean="0"/>
              <a:t>6/25/22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15707-FA0B-5D42-908D-E7BF23FF550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6996F-FABD-C945-A906-C73DE0FDFFDC}" type="datetimeFigureOut">
              <a:rPr lang="en-US" smtClean="0"/>
              <a:t>6/25/22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15707-FA0B-5D42-908D-E7BF23FF550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6996F-FABD-C945-A906-C73DE0FDFFDC}" type="datetimeFigureOut">
              <a:rPr lang="en-US" smtClean="0"/>
              <a:t>6/25/22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15707-FA0B-5D42-908D-E7BF23FF550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6996F-FABD-C945-A906-C73DE0FDFFDC}" type="datetimeFigureOut">
              <a:rPr lang="en-US" smtClean="0"/>
              <a:t>6/25/22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15707-FA0B-5D42-908D-E7BF23FF550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6996F-FABD-C945-A906-C73DE0FDFFDC}" type="datetimeFigureOut">
              <a:rPr lang="en-US" smtClean="0"/>
              <a:t>6/25/22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15707-FA0B-5D42-908D-E7BF23FF550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6996F-FABD-C945-A906-C73DE0FDFFDC}" type="datetimeFigureOut">
              <a:rPr lang="en-US" smtClean="0"/>
              <a:t>6/25/22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15707-FA0B-5D42-908D-E7BF23FF550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26996F-FABD-C945-A906-C73DE0FDFFDC}" type="datetimeFigureOut">
              <a:rPr lang="en-US" smtClean="0"/>
              <a:t>6/25/22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215707-FA0B-5D42-908D-E7BF23FF5501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045E47-9577-DF44-B9F9-B674B1C6811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7647344" y="6588699"/>
            <a:ext cx="1467612" cy="189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020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4.e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EDUC 15: Statistics for education research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95947" y="4533659"/>
            <a:ext cx="7997825" cy="932688"/>
          </a:xfrm>
        </p:spPr>
        <p:txBody>
          <a:bodyPr>
            <a:normAutofit fontScale="25000" lnSpcReduction="20000"/>
          </a:bodyPr>
          <a:lstStyle/>
          <a:p>
            <a:pPr algn="ctr"/>
            <a:r>
              <a:rPr lang="en-US" sz="7200" b="1" dirty="0">
                <a:solidFill>
                  <a:schemeClr val="accent5"/>
                </a:solidFill>
              </a:rPr>
              <a:t>Lecture 13</a:t>
            </a:r>
          </a:p>
          <a:p>
            <a:pPr algn="ctr"/>
            <a:r>
              <a:rPr lang="en-US" sz="7200" b="1" dirty="0">
                <a:solidFill>
                  <a:schemeClr val="accent5"/>
                </a:solidFill>
              </a:rPr>
              <a:t>School of Education</a:t>
            </a:r>
          </a:p>
          <a:p>
            <a:pPr algn="ctr"/>
            <a:r>
              <a:rPr lang="en-US" sz="7200" b="1" dirty="0">
                <a:solidFill>
                  <a:schemeClr val="accent5"/>
                </a:solidFill>
              </a:rPr>
              <a:t>UCI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51129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6587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Bivariate regression</a:t>
            </a:r>
            <a:endParaRPr lang="en-US" b="1" dirty="0">
              <a:solidFill>
                <a:schemeClr val="accent1">
                  <a:lumMod val="75000"/>
                </a:schemeClr>
              </a:solidFill>
              <a:latin typeface="Calibri" charset="0"/>
            </a:endParaRPr>
          </a:p>
        </p:txBody>
      </p:sp>
      <p:sp>
        <p:nvSpPr>
          <p:cNvPr id="14338" name="Content Placeholder 2"/>
          <p:cNvSpPr>
            <a:spLocks noGrp="1"/>
          </p:cNvSpPr>
          <p:nvPr>
            <p:ph idx="1"/>
          </p:nvPr>
        </p:nvSpPr>
        <p:spPr>
          <a:xfrm>
            <a:off x="457200" y="1003905"/>
            <a:ext cx="8229600" cy="5660571"/>
          </a:xfrm>
        </p:spPr>
        <p:txBody>
          <a:bodyPr>
            <a:normAutofit/>
          </a:bodyPr>
          <a:lstStyle/>
          <a:p>
            <a:r>
              <a:rPr lang="en-US" dirty="0">
                <a:latin typeface="Calibri" charset="0"/>
              </a:rPr>
              <a:t>Suppose we are interested in the correlation between hours of studying and test scores, </a:t>
            </a:r>
            <a:r>
              <a:rPr lang="en-US" dirty="0"/>
              <a:t>r=.81</a:t>
            </a:r>
            <a:endParaRPr lang="en-US" dirty="0">
              <a:latin typeface="Calibri" charset="0"/>
            </a:endParaRPr>
          </a:p>
          <a:p>
            <a:pPr eaLnBrk="1" hangingPunct="1"/>
            <a:r>
              <a:rPr lang="en-US" dirty="0">
                <a:latin typeface="Calibri" charset="0"/>
              </a:rPr>
              <a:t>What are their correlation?</a:t>
            </a:r>
          </a:p>
          <a:p>
            <a:pPr marL="285750" indent="-285750">
              <a:buFontTx/>
              <a:buChar char="-"/>
              <a:defRPr/>
            </a:pPr>
            <a:r>
              <a:rPr lang="en-US" dirty="0"/>
              <a:t>Positive</a:t>
            </a:r>
          </a:p>
          <a:p>
            <a:pPr marL="285750" indent="-285750">
              <a:buFontTx/>
              <a:buChar char="-"/>
              <a:defRPr/>
            </a:pPr>
            <a:r>
              <a:rPr lang="en-US" dirty="0"/>
              <a:t>Strong</a:t>
            </a:r>
          </a:p>
          <a:p>
            <a:pPr marL="285750" indent="-285750">
              <a:buFontTx/>
              <a:buChar char="-"/>
              <a:defRPr/>
            </a:pPr>
            <a:r>
              <a:rPr lang="en-US" dirty="0"/>
              <a:t>Fairly linear</a:t>
            </a:r>
          </a:p>
          <a:p>
            <a:pPr>
              <a:defRPr/>
            </a:pPr>
            <a:r>
              <a:rPr lang="en-US" dirty="0"/>
              <a:t>Can we predict the students’</a:t>
            </a:r>
          </a:p>
          <a:p>
            <a:pPr marL="0" indent="0">
              <a:buNone/>
              <a:defRPr/>
            </a:pPr>
            <a:r>
              <a:rPr lang="en-US" dirty="0"/>
              <a:t>grades based on their </a:t>
            </a:r>
          </a:p>
          <a:p>
            <a:pPr marL="0" indent="0">
              <a:buNone/>
              <a:defRPr/>
            </a:pPr>
            <a:r>
              <a:rPr lang="en-US" dirty="0"/>
              <a:t>studying hours?</a:t>
            </a:r>
          </a:p>
          <a:p>
            <a:pPr eaLnBrk="1" hangingPunct="1"/>
            <a:endParaRPr lang="en-US" dirty="0">
              <a:latin typeface="Calibri" charset="0"/>
            </a:endParaRPr>
          </a:p>
          <a:p>
            <a:pPr eaLnBrk="1" hangingPunct="1"/>
            <a:endParaRPr lang="en-US" dirty="0">
              <a:latin typeface="Calibri" charset="0"/>
            </a:endParaRPr>
          </a:p>
        </p:txBody>
      </p:sp>
      <p:pic>
        <p:nvPicPr>
          <p:cNvPr id="14339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8831" y="2152838"/>
            <a:ext cx="4283075" cy="311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09248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Correlation and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2400" y="1600200"/>
                <a:ext cx="8686800" cy="487680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2600" dirty="0"/>
                  <a:t>Regression extends the correlation to make a prediction of one variable on another.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sz="2600" dirty="0"/>
                  <a:t>The strength of the correlation indicate the accuracy of the bivariate regression. 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sz="2600" dirty="0"/>
                  <a:t>More variance explained by the predictors means less correlation error.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sz="2600" dirty="0"/>
                  <a:t>Correlation, or strong correlation </a:t>
                </a:r>
                <a14:m>
                  <m:oMath xmlns:m="http://schemas.openxmlformats.org/officeDocument/2006/math">
                    <m:r>
                      <a:rPr lang="en-US" sz="2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sz="2600" dirty="0"/>
                  <a:t> </a:t>
                </a:r>
                <a:r>
                  <a:rPr lang="en-US" sz="2600" b="1" i="1" dirty="0"/>
                  <a:t>causation</a:t>
                </a:r>
                <a:endParaRPr lang="en-US" sz="2600" dirty="0"/>
              </a:p>
              <a:p>
                <a:pPr lvl="2">
                  <a:lnSpc>
                    <a:spcPct val="100000"/>
                  </a:lnSpc>
                </a:pPr>
                <a:r>
                  <a:rPr lang="en-US" sz="2200" dirty="0"/>
                  <a:t>Correlation can be bilateral or bidirectional. </a:t>
                </a:r>
              </a:p>
              <a:p>
                <a:pPr marL="457200" lvl="1" indent="0">
                  <a:lnSpc>
                    <a:spcPct val="100000"/>
                  </a:lnSpc>
                  <a:buNone/>
                </a:pPr>
                <a:r>
                  <a:rPr lang="en-US" sz="2600" dirty="0"/>
                  <a:t>e.g., students’ GPA and teachers’ payment 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1600200"/>
                <a:ext cx="8686800" cy="4876800"/>
              </a:xfrm>
              <a:blipFill>
                <a:blip r:embed="rId3"/>
                <a:stretch>
                  <a:fillRect l="-1053" t="-1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88612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Regression Analysis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3222" y="1681775"/>
            <a:ext cx="5501986" cy="435133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400" dirty="0"/>
              <a:t>The </a:t>
            </a:r>
            <a:r>
              <a:rPr lang="en-US" sz="2400" b="1" i="1" dirty="0"/>
              <a:t>predictor </a:t>
            </a:r>
            <a:r>
              <a:rPr lang="en-US" sz="2400" dirty="0"/>
              <a:t>variables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dirty="0"/>
              <a:t>independent variable denoted by </a:t>
            </a:r>
            <a:r>
              <a:rPr lang="en-US" i="1" dirty="0"/>
              <a:t>x</a:t>
            </a:r>
            <a:endParaRPr lang="en-US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400" dirty="0"/>
              <a:t>The </a:t>
            </a:r>
            <a:r>
              <a:rPr lang="en-US" sz="2400" b="1" i="1" dirty="0"/>
              <a:t>criterion</a:t>
            </a:r>
            <a:r>
              <a:rPr lang="en-US" sz="2400" dirty="0"/>
              <a:t> variable which is </a:t>
            </a:r>
            <a:r>
              <a:rPr lang="en-US" sz="2400" i="1" dirty="0"/>
              <a:t>regressed</a:t>
            </a:r>
            <a:r>
              <a:rPr lang="en-US" sz="2400" dirty="0"/>
              <a:t> on the predictor variable. 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dirty="0"/>
              <a:t>The dependent variable denoted </a:t>
            </a:r>
            <a:r>
              <a:rPr lang="en-US" i="1" dirty="0"/>
              <a:t>y’</a:t>
            </a:r>
            <a:r>
              <a:rPr lang="en-US" dirty="0"/>
              <a:t>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400" dirty="0"/>
              <a:t>H0: the students’ study hours could not predict their grade.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400" dirty="0"/>
              <a:t>Ha: the students’ study hours predict their grades.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89660B-6699-4066-97AC-DCBACAB4D4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7963" y="1690689"/>
            <a:ext cx="3352815" cy="24394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743423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>
                <a:solidFill>
                  <a:schemeClr val="accent1">
                    <a:lumMod val="75000"/>
                  </a:schemeClr>
                </a:solidFill>
              </a:rPr>
              <a:t>The Correlation Coefficient 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400" dirty="0"/>
              <a:t>The proportion of dependent variable explained by the other independent variables.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400" dirty="0"/>
              <a:t>This value is the </a:t>
            </a:r>
            <a:r>
              <a:rPr lang="en-US" sz="2400" b="1" dirty="0"/>
              <a:t>significant Pearson </a:t>
            </a:r>
            <a:r>
              <a:rPr lang="en-US" sz="2400" dirty="0"/>
              <a:t>correlation value squared:  </a:t>
            </a:r>
            <a:r>
              <a:rPr lang="en-US" sz="2400" i="1" dirty="0"/>
              <a:t>r</a:t>
            </a:r>
            <a:r>
              <a:rPr lang="en-US" sz="2400" i="1" baseline="30000" dirty="0"/>
              <a:t>2</a:t>
            </a:r>
            <a:r>
              <a:rPr lang="en-US" sz="2400" i="1" baseline="-25000" dirty="0"/>
              <a:t>xy</a:t>
            </a:r>
            <a:r>
              <a:rPr lang="en-US" sz="2400" dirty="0"/>
              <a:t>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400" dirty="0"/>
              <a:t>For r=0.81; </a:t>
            </a:r>
            <a:r>
              <a:rPr lang="en-US" sz="2400" i="1" dirty="0"/>
              <a:t>r</a:t>
            </a:r>
            <a:r>
              <a:rPr lang="en-US" sz="2400" i="1" baseline="30000" dirty="0"/>
              <a:t>2 </a:t>
            </a:r>
            <a:r>
              <a:rPr lang="en-US" sz="2400" dirty="0"/>
              <a:t>= .656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dirty="0"/>
              <a:t>65.6% of variation of  students’ grade can be explained by their study hours.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880782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The Regression Equation </a:t>
            </a:r>
            <a:b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with One Predictor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dirty="0"/>
              <a:t>A bivariate or simple regression is used when one predictor variable is used to predict the criterion variable.</a:t>
            </a:r>
            <a:endParaRPr lang="en-US" sz="2400" i="1" dirty="0"/>
          </a:p>
          <a:p>
            <a:pPr algn="ctr">
              <a:lnSpc>
                <a:spcPct val="100000"/>
              </a:lnSpc>
              <a:buNone/>
            </a:pPr>
            <a:r>
              <a:rPr lang="en-US" sz="3600" i="1" dirty="0"/>
              <a:t>y’ = a + bx</a:t>
            </a:r>
            <a:endParaRPr lang="en-US" sz="2400" dirty="0"/>
          </a:p>
          <a:p>
            <a:pPr>
              <a:lnSpc>
                <a:spcPct val="100000"/>
              </a:lnSpc>
              <a:buNone/>
            </a:pPr>
            <a:r>
              <a:rPr lang="en-US" sz="2400" dirty="0"/>
              <a:t>Where </a:t>
            </a:r>
            <a:r>
              <a:rPr lang="en-US" sz="2400" i="1" dirty="0"/>
              <a:t>y’</a:t>
            </a:r>
            <a:r>
              <a:rPr lang="en-US" sz="2400" dirty="0"/>
              <a:t> = the predicted value of the criterion variable</a:t>
            </a:r>
          </a:p>
          <a:p>
            <a:pPr>
              <a:lnSpc>
                <a:spcPct val="100000"/>
              </a:lnSpc>
              <a:buNone/>
            </a:pPr>
            <a:r>
              <a:rPr lang="en-US" sz="2400" i="1" dirty="0"/>
              <a:t>	a</a:t>
            </a:r>
            <a:r>
              <a:rPr lang="en-US" sz="2400" dirty="0"/>
              <a:t> = the intercept</a:t>
            </a:r>
          </a:p>
          <a:p>
            <a:pPr>
              <a:lnSpc>
                <a:spcPct val="100000"/>
              </a:lnSpc>
              <a:buNone/>
            </a:pPr>
            <a:r>
              <a:rPr lang="en-US" sz="2400" i="1" dirty="0"/>
              <a:t>	b</a:t>
            </a:r>
            <a:r>
              <a:rPr lang="en-US" sz="2400" dirty="0"/>
              <a:t> = the slope of the regression line</a:t>
            </a:r>
          </a:p>
          <a:p>
            <a:pPr>
              <a:lnSpc>
                <a:spcPct val="100000"/>
              </a:lnSpc>
              <a:buNone/>
            </a:pPr>
            <a:r>
              <a:rPr lang="en-US" sz="2400" i="1" dirty="0"/>
              <a:t>	x</a:t>
            </a:r>
            <a:r>
              <a:rPr lang="en-US" sz="2400" dirty="0"/>
              <a:t> = the value of the predictor variable</a:t>
            </a:r>
          </a:p>
          <a:p>
            <a:pPr>
              <a:lnSpc>
                <a:spcPct val="100000"/>
              </a:lnSpc>
              <a:buNone/>
            </a:pPr>
            <a:r>
              <a:rPr lang="en-US" sz="2400" i="1" dirty="0"/>
              <a:t>y’</a:t>
            </a:r>
            <a:r>
              <a:rPr lang="en-US" sz="2400" dirty="0"/>
              <a:t> = the value predicted by </a:t>
            </a:r>
            <a:r>
              <a:rPr lang="en-US" sz="2400" i="1" dirty="0"/>
              <a:t>X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032646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Calculating the Intercept (</a:t>
            </a:r>
            <a:r>
              <a:rPr lang="en-US" b="1" i="1" dirty="0">
                <a:solidFill>
                  <a:schemeClr val="accent1">
                    <a:lumMod val="75000"/>
                  </a:schemeClr>
                </a:solidFill>
              </a:rPr>
              <a:t>a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ctr">
              <a:buNone/>
            </a:pPr>
            <a:r>
              <a:rPr lang="en-US" sz="2600" i="1" dirty="0"/>
              <a:t>a</a:t>
            </a:r>
            <a:r>
              <a:rPr lang="en-US" sz="2600" dirty="0"/>
              <a:t> = </a:t>
            </a:r>
            <a:r>
              <a:rPr lang="en-US" sz="2600" i="1" dirty="0"/>
              <a:t>M</a:t>
            </a:r>
            <a:r>
              <a:rPr lang="en-US" sz="2600" i="1" baseline="-25000" dirty="0"/>
              <a:t>y</a:t>
            </a:r>
            <a:r>
              <a:rPr lang="en-US" sz="2600" dirty="0"/>
              <a:t> – </a:t>
            </a:r>
            <a:r>
              <a:rPr lang="en-US" sz="2600" i="1" dirty="0" err="1"/>
              <a:t>bM</a:t>
            </a:r>
            <a:r>
              <a:rPr lang="en-US" sz="2600" i="1" baseline="-25000" dirty="0" err="1"/>
              <a:t>x</a:t>
            </a:r>
            <a:endParaRPr lang="en-US" sz="2600" dirty="0"/>
          </a:p>
          <a:p>
            <a:pPr>
              <a:buNone/>
            </a:pPr>
            <a:r>
              <a:rPr lang="en-US" sz="2600" dirty="0"/>
              <a:t>Where </a:t>
            </a:r>
            <a:r>
              <a:rPr lang="en-US" sz="2600" i="1" dirty="0"/>
              <a:t>a</a:t>
            </a:r>
            <a:r>
              <a:rPr lang="en-US" sz="2600" dirty="0"/>
              <a:t> = the intercept is the value of </a:t>
            </a:r>
            <a:r>
              <a:rPr lang="en-US" sz="2600" i="1" dirty="0"/>
              <a:t>y </a:t>
            </a:r>
            <a:r>
              <a:rPr lang="en-US" sz="2600" dirty="0"/>
              <a:t>when </a:t>
            </a:r>
            <a:r>
              <a:rPr lang="en-US" sz="2600" i="1" dirty="0"/>
              <a:t>x </a:t>
            </a:r>
            <a:r>
              <a:rPr lang="en-US" sz="2600" dirty="0"/>
              <a:t>= 0.  </a:t>
            </a:r>
          </a:p>
          <a:p>
            <a:pPr>
              <a:buNone/>
            </a:pPr>
            <a:r>
              <a:rPr lang="en-US" sz="2600" i="1" dirty="0"/>
              <a:t>	b</a:t>
            </a:r>
            <a:r>
              <a:rPr lang="en-US" sz="2600" dirty="0"/>
              <a:t> = the slope of the regression line 		      </a:t>
            </a:r>
          </a:p>
          <a:p>
            <a:pPr>
              <a:buNone/>
            </a:pPr>
            <a:r>
              <a:rPr lang="en-US" sz="2600" i="1" dirty="0"/>
              <a:t>	M</a:t>
            </a:r>
            <a:r>
              <a:rPr lang="en-US" sz="2600" i="1" baseline="-25000" dirty="0"/>
              <a:t>y</a:t>
            </a:r>
            <a:r>
              <a:rPr lang="en-US" sz="2600" i="1" dirty="0"/>
              <a:t> </a:t>
            </a:r>
            <a:r>
              <a:rPr lang="en-US" sz="2600" dirty="0"/>
              <a:t> = the mean of the criterion variable</a:t>
            </a:r>
          </a:p>
          <a:p>
            <a:pPr>
              <a:buNone/>
            </a:pPr>
            <a:r>
              <a:rPr lang="en-US" sz="2600" i="1" dirty="0"/>
              <a:t>	M</a:t>
            </a:r>
            <a:r>
              <a:rPr lang="en-US" sz="2600" i="1" baseline="-25000" dirty="0"/>
              <a:t>x</a:t>
            </a:r>
            <a:r>
              <a:rPr lang="en-US" sz="2600" i="1" dirty="0"/>
              <a:t> </a:t>
            </a:r>
            <a:r>
              <a:rPr lang="en-US" sz="2600" dirty="0"/>
              <a:t> = the mean of the predictor variable</a:t>
            </a:r>
          </a:p>
          <a:p>
            <a:pPr marL="0" indent="0">
              <a:buNone/>
            </a:pPr>
            <a:r>
              <a:rPr lang="en-US" sz="2600" dirty="0"/>
              <a:t>For example, if the number of absences is used to predict a student’s test grade (the criterion), </a:t>
            </a:r>
            <a:r>
              <a:rPr lang="en-US" sz="2600" i="1" dirty="0"/>
              <a:t>a</a:t>
            </a:r>
            <a:r>
              <a:rPr lang="en-US" sz="2600" dirty="0"/>
              <a:t> indicates what the student’s score will be if the student misses 0 days.</a:t>
            </a:r>
          </a:p>
          <a:p>
            <a:pPr>
              <a:buNone/>
            </a:pP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14959349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Calculating the Slope (</a:t>
            </a:r>
            <a:r>
              <a:rPr lang="en-US" b="1" i="1" dirty="0">
                <a:solidFill>
                  <a:schemeClr val="accent1">
                    <a:lumMod val="75000"/>
                  </a:schemeClr>
                </a:solidFill>
              </a:rPr>
              <a:t>b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450655"/>
                <a:ext cx="7886700" cy="4351338"/>
              </a:xfrm>
            </p:spPr>
            <p:txBody>
              <a:bodyPr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sz="2400" dirty="0"/>
                  <a:t>The slope is also called the </a:t>
                </a:r>
                <a:r>
                  <a:rPr lang="en-US" sz="2400" b="1" i="1" dirty="0"/>
                  <a:t>regression coefficient.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∗ 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/>
                  <a:t>	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sz="2400" dirty="0"/>
                  <a:t>Where </a:t>
                </a:r>
                <a:r>
                  <a:rPr lang="en-US" sz="2400" i="1" dirty="0"/>
                  <a:t>b</a:t>
                </a:r>
                <a:r>
                  <a:rPr lang="en-US" sz="2400" dirty="0"/>
                  <a:t> = the slope of the regression line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sz="2400" i="1" dirty="0"/>
                  <a:t>	</a:t>
                </a:r>
                <a:r>
                  <a:rPr lang="en-US" sz="2400" i="1" dirty="0" err="1"/>
                  <a:t>r</a:t>
                </a:r>
                <a:r>
                  <a:rPr lang="en-US" sz="2400" i="1" baseline="-25000" dirty="0" err="1"/>
                  <a:t>xy</a:t>
                </a:r>
                <a:r>
                  <a:rPr lang="en-US" sz="2400" dirty="0"/>
                  <a:t> = the correlation coefficient for the two variables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sz="2400" i="1" dirty="0"/>
                  <a:t>	</a:t>
                </a:r>
                <a:r>
                  <a:rPr lang="en-US" sz="2400" i="1" dirty="0" err="1"/>
                  <a:t>s</a:t>
                </a:r>
                <a:r>
                  <a:rPr lang="en-US" sz="2400" i="1" baseline="-25000" dirty="0" err="1"/>
                  <a:t>y</a:t>
                </a:r>
                <a:r>
                  <a:rPr lang="en-US" sz="2400" dirty="0"/>
                  <a:t> = the standard deviation of the criterion variable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sz="2400" i="1" dirty="0"/>
                  <a:t>	</a:t>
                </a:r>
                <a:r>
                  <a:rPr lang="en-US" sz="2400" i="1" dirty="0" err="1"/>
                  <a:t>s</a:t>
                </a:r>
                <a:r>
                  <a:rPr lang="en-US" sz="2400" i="1" baseline="-25000" dirty="0" err="1"/>
                  <a:t>x</a:t>
                </a:r>
                <a:r>
                  <a:rPr lang="en-US" sz="2400" dirty="0"/>
                  <a:t> = the standard deviation of the predictor variable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/>
                  <a:t>If the value of the slope (</a:t>
                </a:r>
                <a:r>
                  <a:rPr lang="en-US" sz="2400" i="1" dirty="0"/>
                  <a:t>b)</a:t>
                </a:r>
                <a:r>
                  <a:rPr lang="en-US" sz="2400" dirty="0"/>
                  <a:t> is positive, it indicates how much </a:t>
                </a:r>
                <a:r>
                  <a:rPr lang="en-US" sz="2400" i="1" dirty="0"/>
                  <a:t>y</a:t>
                </a:r>
                <a:r>
                  <a:rPr lang="en-US" sz="2400" dirty="0"/>
                  <a:t> </a:t>
                </a:r>
                <a:r>
                  <a:rPr lang="en-US" sz="2400" i="1" dirty="0"/>
                  <a:t>increases </a:t>
                </a:r>
                <a:r>
                  <a:rPr lang="en-US" sz="2400" dirty="0"/>
                  <a:t>for everyone 1.0 unit increase in </a:t>
                </a:r>
                <a:r>
                  <a:rPr lang="en-US" sz="2400" i="1" dirty="0"/>
                  <a:t>x</a:t>
                </a:r>
                <a:r>
                  <a:rPr lang="en-US" sz="2400" dirty="0"/>
                  <a:t>.  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/>
                  <a:t>If </a:t>
                </a:r>
                <a:r>
                  <a:rPr lang="en-US" sz="2400" i="1" dirty="0"/>
                  <a:t>b</a:t>
                </a:r>
                <a:r>
                  <a:rPr lang="en-US" sz="2400" dirty="0"/>
                  <a:t> is negative, it indicates how much </a:t>
                </a:r>
                <a:r>
                  <a:rPr lang="en-US" sz="2400" i="1" dirty="0"/>
                  <a:t>y</a:t>
                </a:r>
                <a:r>
                  <a:rPr lang="en-US" sz="2400" dirty="0"/>
                  <a:t> </a:t>
                </a:r>
                <a:r>
                  <a:rPr lang="en-US" sz="2400" i="1" dirty="0"/>
                  <a:t>decreases </a:t>
                </a:r>
                <a:r>
                  <a:rPr lang="en-US" sz="2400" dirty="0"/>
                  <a:t>for every 1.0 unit increase in the predictor.  </a:t>
                </a:r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US" sz="2400" i="1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450655"/>
                <a:ext cx="7886700" cy="4351338"/>
              </a:xfrm>
              <a:blipFill>
                <a:blip r:embed="rId3"/>
                <a:stretch>
                  <a:fillRect l="-1159" t="-1120" r="-2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65044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AutoShape 2" descr="http://beta.rstudio.org/graphics/plot.png?width=555&amp;height=449&amp;randomizer=1815190823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36" name="AutoShape 4" descr="http://beta.rstudio.org/graphics/plot.png?width=555&amp;height=449&amp;randomizer=1815190823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38" name="AutoShape 6" descr="http://beta.rstudio.org/graphics/plot.png?width=555&amp;height=449&amp;randomizer=1815190823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40" name="AutoShape 8" descr="http://beta.rstudio.org/graphics/plot.png?width=555&amp;height=449&amp;randomizer=1815190823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42" name="AutoShape 10" descr="http://beta.rstudio.org/graphics/plot.png?width=555&amp;height=449&amp;randomizer=1815190823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Content Placeholder 1"/>
          <p:cNvSpPr txBox="1">
            <a:spLocks/>
          </p:cNvSpPr>
          <p:nvPr/>
        </p:nvSpPr>
        <p:spPr>
          <a:xfrm>
            <a:off x="152400" y="990600"/>
            <a:ext cx="8915400" cy="5334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indent="-342900">
              <a:defRPr/>
            </a:pPr>
            <a:endParaRPr lang="en-US" sz="3000" noProof="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 marL="342900" indent="-342900">
              <a:defRPr/>
            </a:pPr>
            <a:endParaRPr lang="en-US" sz="3000" noProof="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600" u="sng" strike="noStrike" kern="1200" cap="none" spc="0" normalizeH="0" baseline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3200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Content Placeholder 1"/>
          <p:cNvSpPr txBox="1">
            <a:spLocks/>
          </p:cNvSpPr>
          <p:nvPr/>
        </p:nvSpPr>
        <p:spPr>
          <a:xfrm>
            <a:off x="152400" y="2057400"/>
            <a:ext cx="88392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marR="0" lvl="0" indent="-3429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000" dirty="0"/>
              <a:t>Weight (</a:t>
            </a:r>
            <a:r>
              <a:rPr lang="en-US" sz="2000" dirty="0" err="1"/>
              <a:t>wgt</a:t>
            </a:r>
            <a:r>
              <a:rPr lang="en-US" sz="2000" dirty="0"/>
              <a:t>) is measured in pounds and height (</a:t>
            </a:r>
            <a:r>
              <a:rPr lang="en-US" sz="2000" dirty="0" err="1"/>
              <a:t>hgt</a:t>
            </a:r>
            <a:r>
              <a:rPr lang="en-US" sz="2000" dirty="0"/>
              <a:t>) in inches</a:t>
            </a:r>
          </a:p>
          <a:p>
            <a:pPr marL="342900" marR="0" lvl="0" indent="-3429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2000" dirty="0"/>
          </a:p>
          <a:p>
            <a:pPr marL="342900" marR="0" lvl="0" indent="-3429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000" dirty="0"/>
              <a:t>What is the correct interpretation for the </a:t>
            </a:r>
            <a:r>
              <a:rPr lang="en-US" sz="2000" b="1" dirty="0"/>
              <a:t>slope</a:t>
            </a:r>
            <a:r>
              <a:rPr lang="en-US" sz="2000" dirty="0"/>
              <a:t>?</a:t>
            </a:r>
          </a:p>
          <a:p>
            <a:pPr marL="1200150" lvl="1" indent="-742950">
              <a:spcBef>
                <a:spcPts val="600"/>
              </a:spcBef>
              <a:buFont typeface="+mj-lt"/>
              <a:buAutoNum type="alphaLcParenR"/>
              <a:defRPr/>
            </a:pPr>
            <a:r>
              <a:rPr kumimoji="0" lang="en-US" sz="2000" u="none" strike="noStrike" kern="1200" cap="none" spc="0" normalizeH="0" baseline="0" dirty="0">
                <a:ln>
                  <a:noFill/>
                </a:ln>
                <a:effectLst/>
                <a:uLnTx/>
                <a:uFillTx/>
              </a:rPr>
              <a:t>The</a:t>
            </a:r>
            <a:r>
              <a:rPr kumimoji="0" lang="en-US" sz="2000" u="none" strike="noStrike" kern="1200" cap="none" spc="0" normalizeH="0" dirty="0">
                <a:ln>
                  <a:noFill/>
                </a:ln>
                <a:effectLst/>
                <a:uLnTx/>
                <a:uFillTx/>
              </a:rPr>
              <a:t> average subject is just over 6 feet tal</a:t>
            </a:r>
            <a:r>
              <a:rPr lang="en-US" sz="2000" dirty="0"/>
              <a:t>l.</a:t>
            </a:r>
            <a:endParaRPr kumimoji="0" lang="en-US" sz="2000" u="none" strike="noStrike" kern="1200" cap="none" spc="0" normalizeH="0" dirty="0">
              <a:ln>
                <a:noFill/>
              </a:ln>
              <a:effectLst/>
              <a:uLnTx/>
              <a:uFillTx/>
            </a:endParaRPr>
          </a:p>
          <a:p>
            <a:pPr marL="1200150" lvl="1" indent="-742950">
              <a:spcBef>
                <a:spcPts val="600"/>
              </a:spcBef>
              <a:buFont typeface="+mj-lt"/>
              <a:buAutoNum type="alphaLcParenR"/>
              <a:defRPr/>
            </a:pPr>
            <a:r>
              <a:rPr lang="en-US" sz="2000" dirty="0"/>
              <a:t>For every extra 6.02 inches in height, the predicted weight goes up by one pound. </a:t>
            </a:r>
          </a:p>
          <a:p>
            <a:pPr marL="1200150" lvl="1" indent="-742950">
              <a:spcBef>
                <a:spcPts val="600"/>
              </a:spcBef>
              <a:buFont typeface="+mj-lt"/>
              <a:buAutoNum type="alphaLcParenR"/>
              <a:defRPr/>
            </a:pPr>
            <a:r>
              <a:rPr lang="en-US" sz="2000" dirty="0"/>
              <a:t>Predicted weight increases by 6.02 pounds for every additional inch in height.</a:t>
            </a:r>
          </a:p>
          <a:p>
            <a:pPr marL="1200150" lvl="1" indent="-742950">
              <a:spcBef>
                <a:spcPts val="600"/>
              </a:spcBef>
              <a:buFont typeface="+mj-lt"/>
              <a:buAutoNum type="alphaLcParenR"/>
              <a:defRPr/>
            </a:pPr>
            <a:r>
              <a:rPr lang="en-US" sz="2000" dirty="0"/>
              <a:t>None of the above</a:t>
            </a:r>
          </a:p>
          <a:p>
            <a:pPr marL="742950" marR="0" lvl="0" indent="-74295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lphaLcParenR"/>
              <a:tabLst/>
              <a:defRPr/>
            </a:pPr>
            <a:endParaRPr kumimoji="0" lang="en-US" sz="2000" u="none" strike="noStrike" kern="1200" cap="none" spc="0" normalizeH="0" baseline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000" b="1" u="sng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990600" y="1193484"/>
                <a:ext cx="6934200" cy="47153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𝑊𝑔𝑡</m:t>
                          </m:r>
                        </m:e>
                      </m:acc>
                      <m:r>
                        <a:rPr lang="en-US" sz="2400" b="0" i="1" smtClean="0">
                          <a:latin typeface="Cambria Math"/>
                        </a:rPr>
                        <m:t>=−260.4+6.02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400" b="0" i="1" smtClean="0">
                          <a:latin typeface="Cambria Math"/>
                          <a:ea typeface="Cambria Math"/>
                        </a:rPr>
                        <m:t>𝐻𝑔𝑡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1193484"/>
                <a:ext cx="6934200" cy="471539"/>
              </a:xfrm>
              <a:prstGeom prst="rect">
                <a:avLst/>
              </a:prstGeom>
              <a:blipFill>
                <a:blip r:embed="rId2"/>
                <a:stretch>
                  <a:fillRect t="-3797" b="-1519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itle 1"/>
          <p:cNvSpPr txBox="1">
            <a:spLocks/>
          </p:cNvSpPr>
          <p:nvPr/>
        </p:nvSpPr>
        <p:spPr>
          <a:xfrm>
            <a:off x="435274" y="393384"/>
            <a:ext cx="8229600" cy="9906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In-Class Practice</a:t>
            </a:r>
          </a:p>
        </p:txBody>
      </p:sp>
    </p:spTree>
    <p:extLst>
      <p:ext uri="{BB962C8B-B14F-4D97-AF65-F5344CB8AC3E}">
        <p14:creationId xmlns:p14="http://schemas.microsoft.com/office/powerpoint/2010/main" val="41783475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AutoShape 2" descr="http://beta.rstudio.org/graphics/plot.png?width=555&amp;height=449&amp;randomizer=1815190823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36" name="AutoShape 4" descr="http://beta.rstudio.org/graphics/plot.png?width=555&amp;height=449&amp;randomizer=1815190823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38" name="AutoShape 6" descr="http://beta.rstudio.org/graphics/plot.png?width=555&amp;height=449&amp;randomizer=1815190823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40" name="AutoShape 8" descr="http://beta.rstudio.org/graphics/plot.png?width=555&amp;height=449&amp;randomizer=1815190823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42" name="AutoShape 10" descr="http://beta.rstudio.org/graphics/plot.png?width=555&amp;height=449&amp;randomizer=1815190823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Content Placeholder 1"/>
          <p:cNvSpPr txBox="1">
            <a:spLocks/>
          </p:cNvSpPr>
          <p:nvPr/>
        </p:nvSpPr>
        <p:spPr>
          <a:xfrm>
            <a:off x="152400" y="990600"/>
            <a:ext cx="8915400" cy="5334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indent="-342900">
              <a:defRPr/>
            </a:pPr>
            <a:endParaRPr lang="en-US" sz="3000" noProof="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 marL="342900" indent="-342900">
              <a:defRPr/>
            </a:pPr>
            <a:endParaRPr lang="en-US" sz="3000" noProof="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600" u="sng" strike="noStrike" kern="1200" cap="none" spc="0" normalizeH="0" baseline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3200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1"/>
              <p:cNvSpPr txBox="1">
                <a:spLocks/>
              </p:cNvSpPr>
              <p:nvPr/>
            </p:nvSpPr>
            <p:spPr>
              <a:xfrm>
                <a:off x="152400" y="2057400"/>
                <a:ext cx="8839200" cy="45720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r>
                  <a:rPr lang="en-US" sz="2200" dirty="0"/>
                  <a:t>Weight (</a:t>
                </a:r>
                <a:r>
                  <a:rPr lang="en-US" sz="2200" dirty="0" err="1"/>
                  <a:t>wgt</a:t>
                </a:r>
                <a:r>
                  <a:rPr lang="en-US" sz="2200" dirty="0"/>
                  <a:t>) is measured in pounds and height (</a:t>
                </a:r>
                <a:r>
                  <a:rPr lang="en-US" sz="2200" dirty="0" err="1"/>
                  <a:t>hgt</a:t>
                </a:r>
                <a:r>
                  <a:rPr lang="en-US" sz="2200" dirty="0"/>
                  <a:t>) in inches</a:t>
                </a:r>
              </a:p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endParaRPr lang="en-US" sz="2200" dirty="0"/>
              </a:p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r>
                  <a:rPr lang="en-US" sz="2200" dirty="0"/>
                  <a:t>What is the correct interpretation for the </a:t>
                </a:r>
                <a:r>
                  <a:rPr lang="en-US" sz="2200" b="1" dirty="0"/>
                  <a:t>y-intercept</a:t>
                </a:r>
                <a:r>
                  <a:rPr lang="en-US" sz="2200" dirty="0"/>
                  <a:t>?</a:t>
                </a:r>
              </a:p>
              <a:p>
                <a:pPr marL="1200150" lvl="1" indent="-742950">
                  <a:spcBef>
                    <a:spcPts val="600"/>
                  </a:spcBef>
                  <a:buFont typeface="+mj-lt"/>
                  <a:buAutoNum type="alphaLcParenR"/>
                  <a:defRPr/>
                </a:pPr>
                <a:r>
                  <a:rPr kumimoji="0" lang="en-US" sz="2200" u="none" strike="noStrike" kern="1200" cap="none" spc="0" normalizeH="0" baseline="0" dirty="0">
                    <a:ln>
                      <a:noFill/>
                    </a:ln>
                    <a:effectLst/>
                    <a:uLnTx/>
                    <a:uFillTx/>
                  </a:rPr>
                  <a:t>The</a:t>
                </a:r>
                <a:r>
                  <a:rPr kumimoji="0" lang="en-US" sz="2200" u="none" strike="noStrike" kern="1200" cap="none" spc="0" normalizeH="0" dirty="0">
                    <a:ln>
                      <a:noFill/>
                    </a:ln>
                    <a:effectLst/>
                    <a:uLnTx/>
                    <a:uFillTx/>
                  </a:rPr>
                  <a:t> average subject is just over 6 feet tal</a:t>
                </a:r>
                <a:r>
                  <a:rPr lang="en-US" sz="2200" dirty="0"/>
                  <a:t>l.</a:t>
                </a:r>
                <a:endParaRPr kumimoji="0" lang="en-US" sz="2200" u="none" strike="noStrike" kern="1200" cap="none" spc="0" normalizeH="0" dirty="0">
                  <a:ln>
                    <a:noFill/>
                  </a:ln>
                  <a:effectLst/>
                  <a:uLnTx/>
                  <a:uFillTx/>
                </a:endParaRPr>
              </a:p>
              <a:p>
                <a:pPr marL="1200150" lvl="1" indent="-742950">
                  <a:spcBef>
                    <a:spcPts val="600"/>
                  </a:spcBef>
                  <a:buFont typeface="+mj-lt"/>
                  <a:buAutoNum type="alphaLcParenR"/>
                  <a:defRPr/>
                </a:pPr>
                <a:r>
                  <a:rPr lang="en-US" sz="2200" dirty="0"/>
                  <a:t>The predicted weight for someone that is 0 inches tall is 260.4 lbs.</a:t>
                </a:r>
              </a:p>
              <a:p>
                <a:pPr marL="1200150" lvl="1" indent="-742950">
                  <a:spcBef>
                    <a:spcPts val="600"/>
                  </a:spcBef>
                  <a:buFont typeface="+mj-lt"/>
                  <a:buAutoNum type="alphaLcParenR"/>
                  <a:defRPr/>
                </a:pPr>
                <a:r>
                  <a:rPr lang="en-US" sz="2200" dirty="0"/>
                  <a:t>For every 6.02 inches in height, weight goes up by 1 lb.</a:t>
                </a:r>
              </a:p>
              <a:p>
                <a:pPr marL="1200150" lvl="1" indent="-742950">
                  <a:spcBef>
                    <a:spcPts val="600"/>
                  </a:spcBef>
                  <a:buFont typeface="+mj-lt"/>
                  <a:buAutoNum type="alphaLcParenR"/>
                  <a:defRPr/>
                </a:pPr>
                <a:r>
                  <a:rPr lang="en-US" sz="2200" dirty="0"/>
                  <a:t>A zero inch tall person is predicted to weigh about </a:t>
                </a:r>
                <a14:m>
                  <m:oMath xmlns:m="http://schemas.openxmlformats.org/officeDocument/2006/math">
                    <m:r>
                      <a:rPr lang="en-US" sz="2200" b="0" i="0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260.4</m:t>
                    </m:r>
                  </m:oMath>
                </a14:m>
                <a:r>
                  <a:rPr lang="en-US" sz="2200" dirty="0"/>
                  <a:t> lbs.</a:t>
                </a:r>
              </a:p>
              <a:p>
                <a:pPr marL="742950" marR="0" lvl="0" indent="-7429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alphaLcParenR"/>
                  <a:tabLst/>
                  <a:defRPr/>
                </a:pPr>
                <a:endParaRPr kumimoji="0" lang="en-US" sz="2200" u="none" strike="noStrike" kern="1200" cap="none" spc="0" normalizeH="0" baseline="0" dirty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endParaRPr kumimoji="0" lang="en-US" sz="2200" b="1" u="sng" strike="noStrike" kern="1200" cap="none" spc="0" normalizeH="0" baseline="0" noProof="0" dirty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itchFamily="34" charset="0"/>
                  <a:buNone/>
                  <a:tabLst/>
                  <a:defRPr/>
                </a:pPr>
                <a:endParaRPr kumimoji="0" 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0" name="Content Placeholder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2057400"/>
                <a:ext cx="8839200" cy="4572000"/>
              </a:xfrm>
              <a:prstGeom prst="rect">
                <a:avLst/>
              </a:prstGeom>
              <a:blipFill>
                <a:blip r:embed="rId2"/>
                <a:stretch>
                  <a:fillRect l="-897" t="-9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990600" y="1193484"/>
                <a:ext cx="6934200" cy="47153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𝑊𝑔𝑡</m:t>
                          </m:r>
                        </m:e>
                      </m:acc>
                      <m:r>
                        <a:rPr lang="en-US" sz="2400" b="0" i="1" smtClean="0">
                          <a:latin typeface="Cambria Math"/>
                        </a:rPr>
                        <m:t>=−260.4+6.02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400" b="0" i="1" smtClean="0">
                          <a:latin typeface="Cambria Math"/>
                          <a:ea typeface="Cambria Math"/>
                        </a:rPr>
                        <m:t>𝐻𝑔𝑡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1193484"/>
                <a:ext cx="6934200" cy="471539"/>
              </a:xfrm>
              <a:prstGeom prst="rect">
                <a:avLst/>
              </a:prstGeom>
              <a:blipFill>
                <a:blip r:embed="rId3"/>
                <a:stretch>
                  <a:fillRect t="-3797" b="-1519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itle 1"/>
          <p:cNvSpPr txBox="1">
            <a:spLocks/>
          </p:cNvSpPr>
          <p:nvPr/>
        </p:nvSpPr>
        <p:spPr>
          <a:xfrm>
            <a:off x="435274" y="393384"/>
            <a:ext cx="8229600" cy="9906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In-Class Practice</a:t>
            </a:r>
          </a:p>
        </p:txBody>
      </p:sp>
    </p:spTree>
    <p:extLst>
      <p:ext uri="{BB962C8B-B14F-4D97-AF65-F5344CB8AC3E}">
        <p14:creationId xmlns:p14="http://schemas.microsoft.com/office/powerpoint/2010/main" val="15200538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99767B-5808-41A1-A686-96DF4F2508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UCI Psychology Professor wants to study the regression between the study hours and grades. If he collects data on a sample of college students and get the results below.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What is the null and alternative hypothesis for his study?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What is the regression equation between the UC Irvine college students’ study hours and grades?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Could the professor conclude what is the students’ grade if they study 13 hours</a:t>
            </a:r>
            <a:r>
              <a:rPr lang="en-US" sz="2000" dirty="0">
                <a:latin typeface="+mj-lt"/>
                <a:cs typeface="Arial" panose="020B0604020202020204" pitchFamily="34" charset="0"/>
              </a:rPr>
              <a:t>? </a:t>
            </a:r>
            <a:endParaRPr lang="en-US" sz="2000" dirty="0">
              <a:latin typeface="+mj-lt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0462BC1-1204-4B05-B804-87A74A572A08}"/>
              </a:ext>
            </a:extLst>
          </p:cNvPr>
          <p:cNvSpPr txBox="1">
            <a:spLocks/>
          </p:cNvSpPr>
          <p:nvPr/>
        </p:nvSpPr>
        <p:spPr>
          <a:xfrm>
            <a:off x="781050" y="5175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chemeClr val="accent1">
                    <a:lumMod val="75000"/>
                  </a:schemeClr>
                </a:solidFill>
                <a:latin typeface="Calibri" charset="0"/>
              </a:rPr>
              <a:t>Example- Study Hours and Grades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alibri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4014C869-2079-4E15-9A1F-51A452E5DAE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07234275"/>
                  </p:ext>
                </p:extLst>
              </p:nvPr>
            </p:nvGraphicFramePr>
            <p:xfrm>
              <a:off x="855073" y="2867398"/>
              <a:ext cx="6096000" cy="112915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32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Study Hours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Grades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Correlation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Mx= 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My= 65.3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𝑥𝑦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/>
                            <a:t>=.81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Sx</a:t>
                          </a:r>
                          <a:r>
                            <a:rPr lang="en-US" dirty="0"/>
                            <a:t>= 3.2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Sy= 10.26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4014C869-2079-4E15-9A1F-51A452E5DAE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07234275"/>
                  </p:ext>
                </p:extLst>
              </p:nvPr>
            </p:nvGraphicFramePr>
            <p:xfrm>
              <a:off x="855073" y="2867398"/>
              <a:ext cx="6096000" cy="112915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32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Study Hours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Grades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Correlation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87477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Mx= 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My= 65.3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103125" r="-1198" b="-1187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Sx</a:t>
                          </a:r>
                          <a:r>
                            <a:rPr lang="en-US" dirty="0"/>
                            <a:t>= 3.2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Sy= 10.26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6996577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EC4E1E-89BC-F341-9293-4F088776AE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2414847"/>
                <a:ext cx="7886700" cy="3762116"/>
              </a:xfrm>
            </p:spPr>
            <p:txBody>
              <a:bodyPr>
                <a:normAutofit fontScale="70000" lnSpcReduction="20000"/>
              </a:bodyPr>
              <a:lstStyle/>
              <a:p>
                <a:pPr marL="514350" indent="-514350">
                  <a:buAutoNum type="arabicParenBoth"/>
                </a:pPr>
                <a:r>
                  <a:rPr lang="en-US" dirty="0"/>
                  <a:t>H</a:t>
                </a:r>
                <a:r>
                  <a:rPr lang="en-US" sz="1300" dirty="0"/>
                  <a:t>0 :</a:t>
                </a:r>
                <a:r>
                  <a:rPr lang="en-US" dirty="0"/>
                  <a:t>The UCI college students’ study hours do not predict their grades. </a:t>
                </a:r>
              </a:p>
              <a:p>
                <a:pPr marL="0" indent="0">
                  <a:buNone/>
                </a:pPr>
                <a:r>
                  <a:rPr lang="en-US" dirty="0"/>
                  <a:t>H</a:t>
                </a:r>
                <a:r>
                  <a:rPr lang="en-US" sz="1300" dirty="0"/>
                  <a:t>a :</a:t>
                </a:r>
                <a:r>
                  <a:rPr lang="en-US" dirty="0"/>
                  <a:t>The UCI college students’ study hours predict their grades. </a:t>
                </a:r>
              </a:p>
              <a:p>
                <a:pPr marL="514350" indent="-514350">
                  <a:buAutoNum type="arabicParenBoth"/>
                </a:pPr>
                <a:endParaRPr lang="en-US" i="1" dirty="0"/>
              </a:p>
              <a:p>
                <a:pPr marL="0" indent="0">
                  <a:buNone/>
                </a:pPr>
                <a:r>
                  <a:rPr lang="en-US" dirty="0"/>
                  <a:t>(2) </a:t>
                </a:r>
                <a:r>
                  <a:rPr lang="en-US" i="1" dirty="0"/>
                  <a:t>y’</a:t>
                </a:r>
                <a:r>
                  <a:rPr lang="en-US" dirty="0">
                    <a:latin typeface="Calibri" charset="0"/>
                  </a:rPr>
                  <a:t> = a + b * X </a:t>
                </a:r>
              </a:p>
              <a:p>
                <a:pPr marL="0" indent="0">
                  <a:buNone/>
                </a:pPr>
                <a:r>
                  <a:rPr lang="en-US" dirty="0"/>
                  <a:t>b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∗ 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= 0.81 *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10.26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3.2</m:t>
                        </m:r>
                      </m:den>
                    </m:f>
                  </m:oMath>
                </a14:m>
                <a:r>
                  <a:rPr lang="en-US" dirty="0"/>
                  <a:t> = 2.6</a:t>
                </a:r>
              </a:p>
              <a:p>
                <a:pPr marL="0" indent="0">
                  <a:buNone/>
                </a:pPr>
                <a:r>
                  <a:rPr lang="en-US" i="1" dirty="0"/>
                  <a:t>a</a:t>
                </a:r>
                <a:r>
                  <a:rPr lang="en-US" dirty="0"/>
                  <a:t> = </a:t>
                </a:r>
                <a:r>
                  <a:rPr lang="en-US" i="1" dirty="0"/>
                  <a:t>M</a:t>
                </a:r>
                <a:r>
                  <a:rPr lang="en-US" i="1" baseline="-25000" dirty="0"/>
                  <a:t>y</a:t>
                </a:r>
                <a:r>
                  <a:rPr lang="en-US" dirty="0"/>
                  <a:t> – </a:t>
                </a:r>
                <a:r>
                  <a:rPr lang="en-US" i="1" dirty="0" err="1"/>
                  <a:t>bM</a:t>
                </a:r>
                <a:r>
                  <a:rPr lang="en-US" i="1" baseline="-25000" dirty="0" err="1"/>
                  <a:t>x</a:t>
                </a:r>
                <a:r>
                  <a:rPr lang="en-US" i="1" dirty="0"/>
                  <a:t> = </a:t>
                </a:r>
                <a:r>
                  <a:rPr lang="en-US" dirty="0"/>
                  <a:t>65.3 – 12 * </a:t>
                </a:r>
                <a:r>
                  <a:rPr lang="en-US" dirty="0">
                    <a:latin typeface="Calibri" charset="0"/>
                  </a:rPr>
                  <a:t>2.6 = 34.14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Calibri" charset="0"/>
                  </a:rPr>
                  <a:t>Regression equation: </a:t>
                </a:r>
                <a:r>
                  <a:rPr lang="en-US" i="1" dirty="0"/>
                  <a:t>y’</a:t>
                </a:r>
                <a:r>
                  <a:rPr lang="en-US" dirty="0">
                    <a:latin typeface="Calibri" charset="0"/>
                  </a:rPr>
                  <a:t> = 34.14 + 2.6 * X </a:t>
                </a:r>
              </a:p>
              <a:p>
                <a:pPr marL="0" indent="0">
                  <a:buNone/>
                </a:pPr>
                <a:endParaRPr lang="en-US" dirty="0">
                  <a:latin typeface="Calibri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Calibri" charset="0"/>
                  </a:rPr>
                  <a:t>(3) If the student study 13 hours, x = 13</a:t>
                </a:r>
              </a:p>
              <a:p>
                <a:pPr marL="0" indent="0">
                  <a:buNone/>
                </a:pPr>
                <a:r>
                  <a:rPr lang="en-US" i="1" dirty="0"/>
                  <a:t>y’</a:t>
                </a:r>
                <a:r>
                  <a:rPr lang="en-US" dirty="0">
                    <a:latin typeface="Calibri" charset="0"/>
                  </a:rPr>
                  <a:t> = 2.6 * X + 34.14 = 67.94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EC4E1E-89BC-F341-9293-4F088776AE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2414847"/>
                <a:ext cx="7886700" cy="3762116"/>
              </a:xfrm>
              <a:blipFill>
                <a:blip r:embed="rId2"/>
                <a:stretch>
                  <a:fillRect l="-850" t="-3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29E2C57C-6657-1F42-832A-F5DC8523F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pPr eaLnBrk="1" hangingPunct="1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libri" charset="0"/>
              </a:rPr>
              <a:t>Example- Study Hours and Grades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32733429-0693-7543-B29B-6A144FA77C9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91529884"/>
                  </p:ext>
                </p:extLst>
              </p:nvPr>
            </p:nvGraphicFramePr>
            <p:xfrm>
              <a:off x="628650" y="1302327"/>
              <a:ext cx="6096000" cy="112915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32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Study Hours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Grades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Correlation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Mx= 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My= 65.3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𝑥𝑦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/>
                            <a:t>=.81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Sx</a:t>
                          </a:r>
                          <a:r>
                            <a:rPr lang="en-US" dirty="0"/>
                            <a:t>= 3.2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Sy= 10.26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32733429-0693-7543-B29B-6A144FA77C9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91529884"/>
                  </p:ext>
                </p:extLst>
              </p:nvPr>
            </p:nvGraphicFramePr>
            <p:xfrm>
              <a:off x="628650" y="1302327"/>
              <a:ext cx="6096000" cy="112915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32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Study Hours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Grades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Correlation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87477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Mx= 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My= 65.3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103125" r="-1198" b="-1187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Sx</a:t>
                          </a:r>
                          <a:r>
                            <a:rPr lang="en-US" dirty="0"/>
                            <a:t>= 3.2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Sy= 10.26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491759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Predictions and Effects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Regressions really do two things:</a:t>
            </a:r>
          </a:p>
          <a:p>
            <a:pPr lvl="1"/>
            <a:r>
              <a:rPr lang="en-US" sz="2400" dirty="0"/>
              <a:t>Identify </a:t>
            </a:r>
            <a:r>
              <a:rPr lang="en-US" sz="2400" b="1" i="1" dirty="0"/>
              <a:t>effects</a:t>
            </a:r>
          </a:p>
          <a:p>
            <a:pPr lvl="1"/>
            <a:r>
              <a:rPr lang="en-US" sz="2400" dirty="0"/>
              <a:t>Help us make </a:t>
            </a:r>
            <a:r>
              <a:rPr lang="en-US" sz="2400" b="1" i="1" dirty="0"/>
              <a:t>predictions</a:t>
            </a:r>
          </a:p>
          <a:p>
            <a:r>
              <a:rPr lang="en-US" sz="2400" dirty="0"/>
              <a:t>For the example of hours of study and test score:</a:t>
            </a:r>
          </a:p>
          <a:p>
            <a:pPr lvl="1"/>
            <a:r>
              <a:rPr lang="en-US" sz="2400" dirty="0"/>
              <a:t>Regression line: y’=</a:t>
            </a:r>
            <a:r>
              <a:rPr lang="en-US" sz="2400" dirty="0" err="1"/>
              <a:t>a+bx</a:t>
            </a:r>
            <a:endParaRPr lang="en-US" sz="2400" dirty="0"/>
          </a:p>
          <a:p>
            <a:pPr lvl="1"/>
            <a:r>
              <a:rPr lang="en-US" sz="2400" dirty="0"/>
              <a:t>Test score=34.1 + 2.6*hours</a:t>
            </a:r>
          </a:p>
          <a:p>
            <a:r>
              <a:rPr lang="en-US" altLang="en-US" sz="2400" dirty="0">
                <a:ea typeface="ＭＳ Ｐゴシック" pitchFamily="-65" charset="-128"/>
                <a:cs typeface="Arial" charset="0"/>
              </a:rPr>
              <a:t>There is a </a:t>
            </a:r>
            <a:r>
              <a:rPr lang="en-US" altLang="en-US" sz="2400" b="1" u="sng" dirty="0">
                <a:ea typeface="ＭＳ Ｐゴシック" pitchFamily="-65" charset="-128"/>
                <a:cs typeface="Arial" charset="0"/>
              </a:rPr>
              <a:t>2.6 point test score effect</a:t>
            </a:r>
            <a:r>
              <a:rPr lang="en-US" altLang="en-US" sz="2400" dirty="0">
                <a:ea typeface="ＭＳ Ｐゴシック" pitchFamily="-65" charset="-128"/>
                <a:cs typeface="Arial" charset="0"/>
              </a:rPr>
              <a:t> of studying an additional hour</a:t>
            </a:r>
          </a:p>
          <a:p>
            <a:r>
              <a:rPr lang="en-US" altLang="en-US" sz="2400" dirty="0">
                <a:ea typeface="ＭＳ Ｐゴシック" pitchFamily="-65" charset="-128"/>
                <a:cs typeface="Arial" charset="0"/>
              </a:rPr>
              <a:t>We can also plug values for hours into the equation and make test score predictions</a:t>
            </a:r>
          </a:p>
        </p:txBody>
      </p:sp>
    </p:spTree>
    <p:extLst>
      <p:ext uri="{BB962C8B-B14F-4D97-AF65-F5344CB8AC3E}">
        <p14:creationId xmlns:p14="http://schemas.microsoft.com/office/powerpoint/2010/main" val="11350523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Prediction Errors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buNone/>
                </a:pPr>
                <a:r>
                  <a:rPr lang="en-US" sz="2400" dirty="0"/>
                  <a:t>The standard error of the estimate is the standard deviation of all possible differences between the actual and predicted values of </a:t>
                </a:r>
                <a:r>
                  <a:rPr lang="en-US" sz="2400" i="1" dirty="0"/>
                  <a:t>y.</a:t>
                </a:r>
                <a:endParaRPr lang="en-US" sz="2400" dirty="0"/>
              </a:p>
              <a:p>
                <a:pPr lvl="1"/>
                <a:r>
                  <a:rPr lang="en-US" dirty="0"/>
                  <a:t>Plays an important role in measuring margin of prediction error.</a:t>
                </a:r>
              </a:p>
              <a:p>
                <a:pPr marL="34290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𝑒𝑠𝑡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∗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𝑥𝑦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rad>
                    </m:oMath>
                  </m:oMathPara>
                </a14:m>
                <a:endParaRPr lang="en-US" dirty="0"/>
              </a:p>
              <a:p>
                <a:pPr>
                  <a:buNone/>
                </a:pPr>
                <a:r>
                  <a:rPr lang="en-US" sz="2400" dirty="0"/>
                  <a:t>Where </a:t>
                </a:r>
                <a:r>
                  <a:rPr lang="en-US" sz="2400" i="1" dirty="0" err="1"/>
                  <a:t>SE</a:t>
                </a:r>
                <a:r>
                  <a:rPr lang="en-US" sz="2400" i="1" baseline="-25000" dirty="0" err="1"/>
                  <a:t>est</a:t>
                </a:r>
                <a:r>
                  <a:rPr lang="en-US" sz="2400" dirty="0"/>
                  <a:t> = the standard error of estimate</a:t>
                </a:r>
              </a:p>
              <a:p>
                <a:pPr>
                  <a:buNone/>
                </a:pPr>
                <a:r>
                  <a:rPr lang="en-US" sz="2400" i="1" dirty="0"/>
                  <a:t>	</a:t>
                </a:r>
                <a:r>
                  <a:rPr lang="en-US" sz="2400" i="1" dirty="0" err="1"/>
                  <a:t>S</a:t>
                </a:r>
                <a:r>
                  <a:rPr lang="en-US" sz="2400" i="1" baseline="-25000" dirty="0" err="1"/>
                  <a:t>y</a:t>
                </a:r>
                <a:r>
                  <a:rPr lang="en-US" sz="2400" i="1" baseline="-25000" dirty="0"/>
                  <a:t>  </a:t>
                </a:r>
                <a:r>
                  <a:rPr lang="en-US" sz="2400" dirty="0"/>
                  <a:t>= the standard deviation of the criterion (</a:t>
                </a:r>
                <a:r>
                  <a:rPr lang="en-US" sz="2400" i="1" dirty="0"/>
                  <a:t>y</a:t>
                </a:r>
                <a:r>
                  <a:rPr lang="en-US" sz="2400" dirty="0"/>
                  <a:t>) variable</a:t>
                </a:r>
              </a:p>
              <a:p>
                <a:pPr>
                  <a:buNone/>
                </a:pPr>
                <a:r>
                  <a:rPr lang="en-US" sz="2400" i="1" dirty="0"/>
                  <a:t>	r</a:t>
                </a:r>
                <a:r>
                  <a:rPr lang="en-US" sz="2400" i="1" baseline="30000" dirty="0"/>
                  <a:t>2</a:t>
                </a:r>
                <a:r>
                  <a:rPr lang="en-US" sz="2400" i="1" baseline="-25000" dirty="0"/>
                  <a:t>xy </a:t>
                </a:r>
                <a:r>
                  <a:rPr lang="en-US" sz="2400" dirty="0"/>
                  <a:t>= the square of the correlation coefficient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159" t="-1961" r="-9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36224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Standard error of the estimate: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/>
                  <a:t>In our example of data on hours of studying and test scores, we have data for some students. </a:t>
                </a:r>
              </a:p>
              <a:p>
                <a:r>
                  <a:rPr lang="en-US" sz="2400" dirty="0"/>
                  <a:t>The correlation between hours of studying and test scores (</a:t>
                </a:r>
                <a:r>
                  <a:rPr lang="en-US" sz="2400" dirty="0" err="1"/>
                  <a:t>r</a:t>
                </a:r>
                <a:r>
                  <a:rPr lang="en-US" sz="2400" baseline="-25000" dirty="0" err="1"/>
                  <a:t>xy</a:t>
                </a:r>
                <a:r>
                  <a:rPr lang="en-US" sz="2400" dirty="0"/>
                  <a:t>) is: 0.81.</a:t>
                </a:r>
              </a:p>
              <a:p>
                <a:r>
                  <a:rPr lang="en-US" sz="2400" dirty="0"/>
                  <a:t>Standard deviation of test scores=10.26 points</a:t>
                </a:r>
              </a:p>
              <a:p>
                <a:r>
                  <a:rPr lang="en-US" sz="2400" dirty="0"/>
                  <a:t>What is the standard error of the estimate for the predicted values?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𝑆𝐸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𝑒𝑠𝑡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 ∗</m:t>
                    </m:r>
                    <m:rad>
                      <m:radPr>
                        <m:degHide m:val="on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1−</m:t>
                        </m:r>
                        <m:sSubSup>
                          <m:sSub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𝑥𝑦</m:t>
                            </m:r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rad>
                  </m:oMath>
                </a14:m>
                <a:r>
                  <a:rPr lang="en-US" sz="2400" dirty="0"/>
                  <a:t> = 10.26 * </a:t>
                </a:r>
                <a:r>
                  <a:rPr lang="en-US" dirty="0"/>
                  <a:t>0.5864</a:t>
                </a:r>
                <a:r>
                  <a:rPr lang="en-US" sz="2400" dirty="0"/>
                  <a:t> = 6.016</a:t>
                </a: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05" t="-1961" r="-8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14023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A Confidence Interval for </a:t>
            </a:r>
            <a:br>
              <a:rPr lang="en-US" b="1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the Estimate of </a:t>
            </a:r>
            <a:r>
              <a:rPr lang="en-US" b="1" i="1" dirty="0">
                <a:solidFill>
                  <a:schemeClr val="accent1">
                    <a:lumMod val="75000"/>
                  </a:schemeClr>
                </a:solidFill>
              </a:rPr>
              <a:t>y (y’)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buNone/>
                </a:pPr>
                <a:r>
                  <a:rPr lang="en-US" sz="2400" dirty="0"/>
                  <a:t>A regression confidence interval is a range for the true value of the criterion variable with a stated probability: </a:t>
                </a:r>
              </a:p>
              <a:p>
                <a:pPr>
                  <a:buNone/>
                </a:pPr>
                <a:r>
                  <a:rPr lang="en-US" sz="2400" i="1" dirty="0"/>
                  <a:t>CI</a:t>
                </a:r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u="sng" dirty="0">
                    <a:latin typeface="Cambria Math" panose="02040503050406030204" pitchFamily="18" charset="0"/>
                  </a:rPr>
                  <a:t>+</a:t>
                </a:r>
                <a:r>
                  <a:rPr lang="en-US" sz="2400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t</a:t>
                </a:r>
                <a:r>
                  <a:rPr lang="en-US" sz="2400" dirty="0"/>
                  <a:t> *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𝑆𝐸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𝑒𝑠𝑡</m:t>
                        </m:r>
                      </m:sub>
                    </m:sSub>
                  </m:oMath>
                </a14:m>
                <a:r>
                  <a:rPr lang="en-US" sz="2400" dirty="0"/>
                  <a:t> (Use the table B: compare the specific value vs predicted value)</a:t>
                </a:r>
              </a:p>
              <a:p>
                <a:pPr>
                  <a:buNone/>
                </a:pPr>
                <a:r>
                  <a:rPr lang="en-US" sz="2400" dirty="0"/>
                  <a:t>Where </a:t>
                </a:r>
              </a:p>
              <a:p>
                <a:pPr lvl="1">
                  <a:buNone/>
                </a:pPr>
                <a:r>
                  <a:rPr lang="en-US" sz="2400" i="1" dirty="0"/>
                  <a:t>C.I.</a:t>
                </a:r>
                <a:r>
                  <a:rPr lang="en-US" sz="2400" dirty="0"/>
                  <a:t> = the confidence interval</a:t>
                </a:r>
              </a:p>
              <a:p>
                <a:pPr lvl="1">
                  <a:buNone/>
                </a:pPr>
                <a:r>
                  <a:rPr lang="en-US" sz="2400" i="1" dirty="0"/>
                  <a:t>t*</a:t>
                </a:r>
                <a:r>
                  <a:rPr lang="en-US" sz="2400" dirty="0"/>
                  <a:t> = Critical value. The value from Table B with </a:t>
                </a:r>
                <a:r>
                  <a:rPr lang="en-US" sz="2400" i="1" dirty="0"/>
                  <a:t>df</a:t>
                </a:r>
                <a:r>
                  <a:rPr lang="en-US" sz="2400" dirty="0"/>
                  <a:t> = n-2</a:t>
                </a:r>
                <a:r>
                  <a:rPr lang="en-US" dirty="0"/>
                  <a:t>, n = number of pairs</a:t>
                </a:r>
                <a:r>
                  <a:rPr lang="en-US" sz="2400" dirty="0"/>
                  <a:t>. Look under heading “area in both tails” if confidence level is .95 look for column 0.05 </a:t>
                </a:r>
              </a:p>
              <a:p>
                <a:pPr lvl="1">
                  <a:buNone/>
                </a:pPr>
                <a:r>
                  <a:rPr lang="en-US" sz="2400" i="1" dirty="0" err="1"/>
                  <a:t>SE</a:t>
                </a:r>
                <a:r>
                  <a:rPr lang="en-US" sz="2400" i="1" baseline="-25000" dirty="0" err="1"/>
                  <a:t>est</a:t>
                </a:r>
                <a:r>
                  <a:rPr lang="en-US" sz="2400" dirty="0"/>
                  <a:t> = the standard error of the estimate</a:t>
                </a:r>
              </a:p>
              <a:p>
                <a:pPr lvl="1">
                  <a:buNone/>
                </a:pPr>
                <a:r>
                  <a:rPr lang="en-US" sz="2400" i="1" dirty="0"/>
                  <a:t>y’</a:t>
                </a:r>
                <a:r>
                  <a:rPr lang="en-US" sz="2400" dirty="0"/>
                  <a:t> = the predicted value for the criterion variable</a:t>
                </a:r>
              </a:p>
              <a:p>
                <a:pPr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59" t="-1961" r="-2009" b="-1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6815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Confidence interval of the estimate: an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/>
                  <a:t>If the student's studies 11 hours per week, What is the 95% (.95) confidence interval for this predicted value?</a:t>
                </a:r>
              </a:p>
              <a:p>
                <a:r>
                  <a:rPr lang="en-US" sz="2400" dirty="0"/>
                  <a:t>Test score’=</a:t>
                </a:r>
                <a:r>
                  <a:rPr lang="en-US" sz="2400" dirty="0" err="1"/>
                  <a:t>a+b</a:t>
                </a:r>
                <a:r>
                  <a:rPr lang="en-US" sz="2400" dirty="0"/>
                  <a:t> * hours</a:t>
                </a:r>
              </a:p>
              <a:p>
                <a:r>
                  <a:rPr lang="en-US" sz="2400" dirty="0"/>
                  <a:t>34.1+2.6*(11)=62.7 points</a:t>
                </a:r>
              </a:p>
              <a:p>
                <a:r>
                  <a:rPr lang="en-US" sz="2400" dirty="0"/>
                  <a:t>n=20, df = 18</a:t>
                </a:r>
              </a:p>
              <a:p>
                <a:r>
                  <a:rPr lang="en-US" sz="2400" dirty="0"/>
                  <a:t>On alpha = 0.05 level, </a:t>
                </a:r>
              </a:p>
              <a:p>
                <a:r>
                  <a:rPr lang="en-US" sz="2400" i="1" dirty="0"/>
                  <a:t>CI</a:t>
                </a:r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 + </m:t>
                    </m:r>
                  </m:oMath>
                </a14:m>
                <a:r>
                  <a:rPr lang="en-US" sz="2400" dirty="0"/>
                  <a:t>t *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𝑆𝐸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𝑒𝑠𝑡</m:t>
                        </m:r>
                      </m:sub>
                    </m:sSub>
                  </m:oMath>
                </a14:m>
                <a:r>
                  <a:rPr lang="en-US" sz="2400" dirty="0"/>
                  <a:t> = 62.7 </a:t>
                </a:r>
                <a:r>
                  <a:rPr lang="en-US" sz="2400" u="sng" dirty="0"/>
                  <a:t>+</a:t>
                </a:r>
                <a:r>
                  <a:rPr lang="en-US" sz="2400" dirty="0"/>
                  <a:t> 2.10 * 6.016 </a:t>
                </a:r>
              </a:p>
              <a:p>
                <a:r>
                  <a:rPr lang="en-US" sz="2400" dirty="0"/>
                  <a:t>CI = [50.066, 75.33]</a:t>
                </a:r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05" t="-1961" r="-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2916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08A714-D539-3641-A842-D57DBE22F6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414847"/>
            <a:ext cx="7886700" cy="3762116"/>
          </a:xfrm>
        </p:spPr>
        <p:txBody>
          <a:bodyPr>
            <a:normAutofit/>
          </a:bodyPr>
          <a:lstStyle/>
          <a:p>
            <a:r>
              <a:rPr lang="en-US" sz="2400" dirty="0"/>
              <a:t>The students had been 16 hours and scored 88  (y = 88).  By how much would we have over/under predicted his/her work (i.e., how much error)?</a:t>
            </a:r>
          </a:p>
          <a:p>
            <a:r>
              <a:rPr lang="en-US" sz="2400" dirty="0">
                <a:latin typeface="Calibri" charset="0"/>
              </a:rPr>
              <a:t>Y’ = 2.6 * X + 34.135 </a:t>
            </a:r>
            <a:r>
              <a:rPr lang="en-US" sz="2400" dirty="0"/>
              <a:t>= 75.735 </a:t>
            </a:r>
          </a:p>
          <a:p>
            <a:r>
              <a:rPr lang="en-US" sz="2400" dirty="0">
                <a:solidFill>
                  <a:srgbClr val="FF0000"/>
                </a:solidFill>
                <a:latin typeface="Calibri" charset="0"/>
              </a:rPr>
              <a:t>Error = 88- 75.735 = 12.265</a:t>
            </a:r>
          </a:p>
          <a:p>
            <a:pPr marL="0" indent="0">
              <a:buNone/>
            </a:pPr>
            <a:r>
              <a:rPr lang="en-US" sz="2400" dirty="0">
                <a:latin typeface="Calibri" charset="0"/>
              </a:rPr>
              <a:t>We underestimate </a:t>
            </a:r>
            <a:r>
              <a:rPr lang="en-US" sz="2400" dirty="0"/>
              <a:t>12.27 scores of the students’ work. </a:t>
            </a:r>
            <a:endParaRPr lang="en-US" sz="2400" dirty="0">
              <a:latin typeface="Calibri" charset="0"/>
            </a:endParaRPr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7780CB9-5B93-FC43-A3FF-91A8CB8D9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pPr eaLnBrk="1" hangingPunct="1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libri" charset="0"/>
              </a:rPr>
              <a:t>Calculate the error</a:t>
            </a:r>
            <a:endParaRPr lang="en-US" dirty="0">
              <a:solidFill>
                <a:srgbClr val="FF0000"/>
              </a:solidFill>
              <a:latin typeface="Calibri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F1E08AD9-F318-4C36-B081-2F970D8B479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20793596"/>
                  </p:ext>
                </p:extLst>
              </p:nvPr>
            </p:nvGraphicFramePr>
            <p:xfrm>
              <a:off x="628650" y="1302327"/>
              <a:ext cx="6096000" cy="112915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32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Study Hours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Grades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Correlation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M= 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M= 65.3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𝑥𝑦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/>
                            <a:t>=.81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Sx</a:t>
                          </a:r>
                          <a:r>
                            <a:rPr lang="en-US" dirty="0"/>
                            <a:t>= 3.2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Sy= 10.26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F1E08AD9-F318-4C36-B081-2F970D8B479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20793596"/>
                  </p:ext>
                </p:extLst>
              </p:nvPr>
            </p:nvGraphicFramePr>
            <p:xfrm>
              <a:off x="628650" y="1302327"/>
              <a:ext cx="6096000" cy="112915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32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Study Hours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Grades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Correlation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87477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M= 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M= 65.3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103125" r="-1198" b="-1187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Sx</a:t>
                          </a:r>
                          <a:r>
                            <a:rPr lang="en-US" dirty="0"/>
                            <a:t>= 3.2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Sy= 10.26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8177911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2317750"/>
            <a:ext cx="5029200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6" name="Straight Connector 15"/>
          <p:cNvCxnSpPr/>
          <p:nvPr/>
        </p:nvCxnSpPr>
        <p:spPr>
          <a:xfrm flipV="1">
            <a:off x="4471988" y="3883025"/>
            <a:ext cx="0" cy="40481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509" name="TextBox 16"/>
          <p:cNvSpPr txBox="1">
            <a:spLocks noChangeArrowheads="1"/>
          </p:cNvSpPr>
          <p:nvPr/>
        </p:nvSpPr>
        <p:spPr bwMode="auto">
          <a:xfrm>
            <a:off x="158998" y="522902"/>
            <a:ext cx="8098632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Minimizing the error (sum of squared differences)</a:t>
            </a:r>
            <a:endParaRPr lang="en-US" sz="3600" dirty="0">
              <a:solidFill>
                <a:srgbClr val="FF0000"/>
              </a:solidFill>
            </a:endParaRPr>
          </a:p>
        </p:txBody>
      </p:sp>
      <p:sp>
        <p:nvSpPr>
          <p:cNvPr id="21510" name="TextBox 17"/>
          <p:cNvSpPr txBox="1">
            <a:spLocks noChangeArrowheads="1"/>
          </p:cNvSpPr>
          <p:nvPr/>
        </p:nvSpPr>
        <p:spPr bwMode="auto">
          <a:xfrm>
            <a:off x="452437" y="6094487"/>
            <a:ext cx="59912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dirty="0"/>
              <a:t>Vertical distance =</a:t>
            </a:r>
            <a:endParaRPr lang="en-US" sz="1800" baseline="-25000" dirty="0"/>
          </a:p>
        </p:txBody>
      </p:sp>
      <p:graphicFrame>
        <p:nvGraphicFramePr>
          <p:cNvPr id="12" name="Object 11"/>
          <p:cNvGraphicFramePr>
            <a:graphicFrameLocks noChangeAspect="1"/>
          </p:cNvGraphicFramePr>
          <p:nvPr/>
        </p:nvGraphicFramePr>
        <p:xfrm>
          <a:off x="2395538" y="6172200"/>
          <a:ext cx="6110287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78" name="Equation" r:id="rId5" imgW="5994400" imgH="393700" progId="Equation.3">
                  <p:embed/>
                </p:oleObj>
              </mc:Choice>
              <mc:Fallback>
                <p:oleObj name="Equation" r:id="rId5" imgW="5994400" imgH="393700" progId="Equation.3">
                  <p:embed/>
                  <p:pic>
                    <p:nvPicPr>
                      <p:cNvPr id="12" name="Object 1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395538" y="6172200"/>
                        <a:ext cx="6110287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29567" y="3886200"/>
            <a:ext cx="1269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e</a:t>
            </a:r>
            <a:r>
              <a:rPr lang="en-US" baseline="-25000" dirty="0" err="1"/>
              <a:t>i</a:t>
            </a:r>
            <a:r>
              <a:rPr lang="en-US" baseline="-25000" dirty="0"/>
              <a:t>   </a:t>
            </a:r>
            <a:r>
              <a:rPr lang="en-US" sz="2200" baseline="-25000" dirty="0"/>
              <a:t>= Residual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4297248"/>
            <a:ext cx="1183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solidFill>
                  <a:srgbClr val="FF0000"/>
                </a:solidFill>
              </a:rPr>
              <a:t>y</a:t>
            </a:r>
            <a:r>
              <a:rPr lang="en-US" sz="1600" baseline="-25000" dirty="0" err="1">
                <a:solidFill>
                  <a:srgbClr val="FF0000"/>
                </a:solidFill>
              </a:rPr>
              <a:t>i</a:t>
            </a:r>
            <a:r>
              <a:rPr lang="en-US" sz="1600" dirty="0">
                <a:solidFill>
                  <a:srgbClr val="FF0000"/>
                </a:solidFill>
              </a:rPr>
              <a:t>: observed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 flipH="1" flipV="1">
            <a:off x="4471988" y="4395713"/>
            <a:ext cx="138830" cy="240925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4471988" y="3805238"/>
            <a:ext cx="0" cy="1376362"/>
          </a:xfrm>
          <a:prstGeom prst="line">
            <a:avLst/>
          </a:prstGeom>
          <a:ln w="12700">
            <a:solidFill>
              <a:srgbClr val="FF62E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2395538" y="3883025"/>
            <a:ext cx="2076450" cy="0"/>
          </a:xfrm>
          <a:prstGeom prst="line">
            <a:avLst/>
          </a:prstGeom>
          <a:ln w="12700">
            <a:solidFill>
              <a:srgbClr val="FF62E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331091" y="3453702"/>
            <a:ext cx="12696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y’: predicted </a:t>
            </a:r>
          </a:p>
        </p:txBody>
      </p:sp>
    </p:spTree>
    <p:extLst>
      <p:ext uri="{BB962C8B-B14F-4D97-AF65-F5344CB8AC3E}">
        <p14:creationId xmlns:p14="http://schemas.microsoft.com/office/powerpoint/2010/main" val="17588684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4D087-5675-490D-B8C1-1D28C45D7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Chi-square 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00C613-5412-497E-86C9-EF2DB09F69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Chi</a:t>
            </a:r>
            <a:r>
              <a:rPr lang="en-US" dirty="0"/>
              <a:t>-</a:t>
            </a:r>
            <a:r>
              <a:rPr lang="en-US" b="1" dirty="0"/>
              <a:t>squared test </a:t>
            </a:r>
            <a:r>
              <a:rPr lang="en-US" dirty="0"/>
              <a:t>investigate the association of two variables measured at an ordinal or nominal level </a:t>
            </a:r>
            <a:r>
              <a:rPr lang="en-US" b="1" dirty="0"/>
              <a:t> </a:t>
            </a:r>
            <a:r>
              <a:rPr lang="en-US" dirty="0"/>
              <a:t>: χ</a:t>
            </a:r>
            <a:r>
              <a:rPr lang="en-US" baseline="30000" dirty="0"/>
              <a:t>2</a:t>
            </a:r>
            <a:r>
              <a:rPr lang="en-US" dirty="0"/>
              <a:t> test.</a:t>
            </a:r>
          </a:p>
          <a:p>
            <a:r>
              <a:rPr lang="en-US" dirty="0"/>
              <a:t>Whether there is linear correlation between two categorical variables. (e.g., dummy coded: 0 and 1).</a:t>
            </a:r>
          </a:p>
          <a:p>
            <a:r>
              <a:rPr lang="en-US" dirty="0"/>
              <a:t>Investigate the distribution of the IV groups on the DV groups/levels, such as using </a:t>
            </a:r>
            <a:r>
              <a:rPr lang="en-US" b="1" dirty="0"/>
              <a:t>Cross-Tabulation.</a:t>
            </a:r>
          </a:p>
          <a:p>
            <a:r>
              <a:rPr lang="en-US" dirty="0"/>
              <a:t>illustrate the SPSS Statistics procedure to perform a chi-square test </a:t>
            </a:r>
            <a:r>
              <a:rPr lang="en-US" b="1" dirty="0"/>
              <a:t> </a:t>
            </a:r>
          </a:p>
          <a:p>
            <a:pPr marL="0" indent="0">
              <a:buNone/>
            </a:pP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99316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4D087-5675-490D-B8C1-1D28C45D7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Chi-Square </a:t>
            </a:r>
            <a:br>
              <a:rPr lang="en-US" b="1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Chocolate Flavor Activities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00C613-5412-497E-86C9-EF2DB09F69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dirty="0"/>
              <a:t>The EDU Instructor want to know her students’ gender distributions associated with the preferred type of chocolates. </a:t>
            </a:r>
          </a:p>
          <a:p>
            <a:pPr marL="0" indent="0">
              <a:buNone/>
            </a:pPr>
            <a:r>
              <a:rPr lang="en-US" sz="2200" dirty="0"/>
              <a:t>She has such Chi-square hypothesis:</a:t>
            </a:r>
          </a:p>
          <a:p>
            <a:pPr marL="457200" lvl="1" indent="0">
              <a:buNone/>
            </a:pPr>
            <a:r>
              <a:rPr lang="en-US" sz="2200" dirty="0"/>
              <a:t>Ho: the proportions of male and female groups’ chocolate preference are the same.</a:t>
            </a:r>
          </a:p>
          <a:p>
            <a:pPr marL="457200" lvl="1" indent="0">
              <a:buNone/>
            </a:pPr>
            <a:r>
              <a:rPr lang="en-US" sz="2200" dirty="0"/>
              <a:t>Ha. the proportions of male and female groups’ chocolate preference are the different.</a:t>
            </a:r>
          </a:p>
          <a:p>
            <a:endParaRPr lang="en-US" sz="22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200" dirty="0"/>
              <a:t>Activities Instruction: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 dirty="0"/>
              <a:t>Each student pick up a piece of the chocolate;  you can only pick either flavor of milk or almond, why?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 dirty="0"/>
              <a:t>What is the statistical results, significantly or not, and why?</a:t>
            </a:r>
          </a:p>
        </p:txBody>
      </p:sp>
    </p:spTree>
    <p:extLst>
      <p:ext uri="{BB962C8B-B14F-4D97-AF65-F5344CB8AC3E}">
        <p14:creationId xmlns:p14="http://schemas.microsoft.com/office/powerpoint/2010/main" val="36839265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0EE6B-AD1C-4022-8EE7-EB5EE90B2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3F9A54-D28F-42B0-9187-E57E71D28E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400" dirty="0"/>
              <a:t>Inputting data</a:t>
            </a:r>
          </a:p>
          <a:p>
            <a:pPr marL="514350" indent="-51435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400" dirty="0"/>
              <a:t>Upload the data to SPSS</a:t>
            </a:r>
          </a:p>
          <a:p>
            <a:pPr marL="514350" indent="-51435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400" dirty="0"/>
              <a:t>Create the coding </a:t>
            </a:r>
          </a:p>
          <a:p>
            <a:pPr marL="514350" indent="-51435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400" dirty="0"/>
              <a:t>Run analysis </a:t>
            </a:r>
          </a:p>
          <a:p>
            <a:pPr marL="514350" indent="-51435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400" dirty="0"/>
              <a:t>Interpret the findings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/>
              <a:t>There is an association between the gender distribution and chocolate flavor preferences. 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/>
              <a:t>We found the pattern that the girls are more likely to choose milk, and dislike almond. 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en-US" sz="2400" dirty="0"/>
          </a:p>
          <a:p>
            <a:pPr lvl="1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69276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1BF868-73B4-AA4A-8535-5E5B8A784B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364" y="2924397"/>
            <a:ext cx="7963557" cy="3772440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800" dirty="0"/>
              <a:t>Paolo wants to study relation between spatial reasoning and mathematical ability.  He thinks spatial reasoning leads to more math ability, n = 20.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AutoNum type="arabicParenBoth"/>
            </a:pPr>
            <a:r>
              <a:rPr lang="en-US" sz="1800" dirty="0"/>
              <a:t>What is H0 and Ha?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AutoNum type="arabicParenBoth"/>
            </a:pPr>
            <a:r>
              <a:rPr lang="en-US" sz="1800" dirty="0"/>
              <a:t>What is the critical value </a:t>
            </a:r>
            <a:r>
              <a:rPr lang="en-US" sz="1800" i="1" dirty="0"/>
              <a:t>r </a:t>
            </a:r>
            <a:r>
              <a:rPr lang="en-US" sz="1800" dirty="0"/>
              <a:t>(check out Table E), when n (pair) = 20, did your finding reject the H0, and why? 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AutoNum type="arabicParenBoth"/>
            </a:pPr>
            <a:r>
              <a:rPr lang="en-US" sz="1800" dirty="0"/>
              <a:t>What is the regression equation of spatial reasoning and mathematical ability?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AutoNum type="arabicParenBoth"/>
            </a:pPr>
            <a:r>
              <a:rPr lang="en-US" sz="1800" dirty="0"/>
              <a:t>How much variance of the mathematical ability can be explained by spatial reasoning?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AutoNum type="arabicParenBoth"/>
            </a:pPr>
            <a:r>
              <a:rPr lang="en-US" sz="1800" dirty="0"/>
              <a:t>Rachel got 80 in her spatial reasoning class, what is her predicted mathematical ability? If she actually got 120 score for her mathematical ability, what is the error/residual of her mathematical ability?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sz="1800" dirty="0"/>
          </a:p>
          <a:p>
            <a:endParaRPr lang="en-US" sz="18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2256B4F-410A-6B4A-A182-B69801A20081}"/>
              </a:ext>
            </a:extLst>
          </p:cNvPr>
          <p:cNvSpPr txBox="1">
            <a:spLocks/>
          </p:cNvSpPr>
          <p:nvPr/>
        </p:nvSpPr>
        <p:spPr>
          <a:xfrm>
            <a:off x="781050" y="5175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>
                <a:solidFill>
                  <a:schemeClr val="accent1">
                    <a:lumMod val="75000"/>
                  </a:schemeClr>
                </a:solidFill>
              </a:rPr>
              <a:t>In-Class Practice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CEF351A4-EA0E-4994-A2C6-A2F11712CF8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6663020"/>
                  </p:ext>
                </p:extLst>
              </p:nvPr>
            </p:nvGraphicFramePr>
            <p:xfrm>
              <a:off x="781050" y="1546247"/>
              <a:ext cx="6096000" cy="139839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32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15013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Spatial Reasoning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Mathematical Ability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Correlation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Mx= 70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My= 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𝑥𝑦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/>
                            <a:t>=0.63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Sx</a:t>
                          </a:r>
                          <a:r>
                            <a:rPr lang="en-US" dirty="0"/>
                            <a:t>= 9.97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Sy= 14.83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CEF351A4-EA0E-4994-A2C6-A2F11712CF8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6663020"/>
                  </p:ext>
                </p:extLst>
              </p:nvPr>
            </p:nvGraphicFramePr>
            <p:xfrm>
              <a:off x="781050" y="1546247"/>
              <a:ext cx="6096000" cy="139839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32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Spatial Reasoning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Mathematical Ability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Correlation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87477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Mx= 70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My= 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173438" r="-1198" b="-11718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Sx</a:t>
                          </a:r>
                          <a:r>
                            <a:rPr lang="en-US" dirty="0"/>
                            <a:t>= 9.97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Sy= 14.83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1271321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1BF868-73B4-AA4A-8535-5E5B8A784B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1050" y="3349604"/>
            <a:ext cx="8039100" cy="2423013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2400" dirty="0"/>
              <a:t>Paolo wants to study the correlation between spatial reasoning and mathematical ability. He thinks spatial reasoning leads to more math ability, n = 20.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/>
              <a:t>(1)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/>
              <a:t>H0: spatial reasoning can not predict mathematical ability.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/>
              <a:t>Ha: the spatial reasoning predicts mathematical ability.</a:t>
            </a:r>
            <a:endParaRPr lang="en-US" sz="2200" dirty="0"/>
          </a:p>
          <a:p>
            <a:endParaRPr lang="en-US" sz="2200" dirty="0"/>
          </a:p>
          <a:p>
            <a:pPr marL="0" indent="0">
              <a:buNone/>
            </a:pPr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2256B4F-410A-6B4A-A182-B69801A20081}"/>
              </a:ext>
            </a:extLst>
          </p:cNvPr>
          <p:cNvSpPr txBox="1">
            <a:spLocks/>
          </p:cNvSpPr>
          <p:nvPr/>
        </p:nvSpPr>
        <p:spPr>
          <a:xfrm>
            <a:off x="781050" y="5175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>
                <a:solidFill>
                  <a:schemeClr val="accent1">
                    <a:lumMod val="75000"/>
                  </a:schemeClr>
                </a:solidFill>
              </a:rPr>
              <a:t>In-Class Practice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CEF351A4-EA0E-4994-A2C6-A2F11712CF8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93515868"/>
                  </p:ext>
                </p:extLst>
              </p:nvPr>
            </p:nvGraphicFramePr>
            <p:xfrm>
              <a:off x="1676400" y="1682335"/>
              <a:ext cx="6096000" cy="139839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32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Spatial Reasoning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Mathematical Ability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Correlation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Mx= 70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My= 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𝑥𝑦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/>
                            <a:t>=0.63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Sx</a:t>
                          </a:r>
                          <a:r>
                            <a:rPr lang="en-US" dirty="0"/>
                            <a:t>= 9.97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Sy= 14.83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CEF351A4-EA0E-4994-A2C6-A2F11712CF8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93515868"/>
                  </p:ext>
                </p:extLst>
              </p:nvPr>
            </p:nvGraphicFramePr>
            <p:xfrm>
              <a:off x="1676400" y="1682335"/>
              <a:ext cx="6096000" cy="139839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32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Spatial Reasoning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Mathematical Ability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Correlation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87477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Mx= 70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My= 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01" t="-173438" r="-1502" b="-1187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Sx</a:t>
                          </a:r>
                          <a:r>
                            <a:rPr lang="en-US" dirty="0"/>
                            <a:t>= 9.97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Sy= 14.83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3272882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48862" y="2745828"/>
                <a:ext cx="8001000" cy="3560379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/>
                  <a:t>Paolo wants to study the correlation between spatial reasoning and mathematical ability. He thinks spatial reasoning leads to more math ability, n = 20.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/>
                  <a:t>(2) Critical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sz="2400" i="1" dirty="0"/>
                  <a:t> = </a:t>
                </a:r>
                <a:r>
                  <a:rPr lang="en-US" sz="2400" dirty="0"/>
                  <a:t>0.444,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</m:oMath>
                </a14:m>
                <a:r>
                  <a:rPr lang="en-US" sz="2400" dirty="0"/>
                  <a:t> &gt;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sz="2400" dirty="0"/>
                  <a:t> reject the H0, the result is statistically significant, the spatial reasoning predicts the mathematical ability. 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48862" y="2745828"/>
                <a:ext cx="8001000" cy="3560379"/>
              </a:xfrm>
              <a:blipFill>
                <a:blip r:embed="rId3"/>
                <a:stretch>
                  <a:fillRect l="-1067" t="-13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1">
            <a:extLst>
              <a:ext uri="{FF2B5EF4-FFF2-40B4-BE49-F238E27FC236}">
                <a16:creationId xmlns:a16="http://schemas.microsoft.com/office/drawing/2014/main" id="{773DD32B-A521-374A-B114-F400A3A3E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5831"/>
            <a:ext cx="7886700" cy="1325563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In-Class Practice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D4D35E81-95BE-48DB-BEE8-915B339D0A2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409700" y="1241968"/>
              <a:ext cx="6096000" cy="139839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32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Spatial Reasoning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Mathematical Ability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Correlation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Mx= 70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My= 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𝑥𝑦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/>
                            <a:t>=0.63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Sx</a:t>
                          </a:r>
                          <a:r>
                            <a:rPr lang="en-US" dirty="0"/>
                            <a:t>= 9.97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Sy= 14.83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D4D35E81-95BE-48DB-BEE8-915B339D0A2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409700" y="1241968"/>
              <a:ext cx="6096000" cy="139839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32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Spatial Reasoning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Mathematical Ability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Correlation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87477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Mx= 70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My= 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0000" t="-173438" r="-1198" b="-11718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Sx</a:t>
                          </a:r>
                          <a:r>
                            <a:rPr lang="en-US" dirty="0"/>
                            <a:t>= 9.97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Sy= 14.83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7389277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1BF868-73B4-AA4A-8535-5E5B8A784B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3153103"/>
                <a:ext cx="8039100" cy="3023860"/>
              </a:xfrm>
            </p:spPr>
            <p:txBody>
              <a:bodyPr>
                <a:normAutofit lnSpcReduction="10000"/>
              </a:bodyPr>
              <a:lstStyle/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US" sz="2400" dirty="0"/>
                  <a:t>Paolo wants to study relation between spatial reasoning and mathematical ability.  He thinks spatial reasoning leads to more math ability, n = 20.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2200" dirty="0"/>
                  <a:t>(3) Calculate the slope and intercept of regression equation</a:t>
                </a: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200" dirty="0"/>
                  <a:t>	 = 0.63*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200" dirty="0"/>
                          <m:t>14.83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200" dirty="0"/>
                          <m:t>9.97</m:t>
                        </m:r>
                      </m:den>
                    </m:f>
                  </m:oMath>
                </a14:m>
                <a:r>
                  <a:rPr lang="en-US" sz="2200" dirty="0"/>
                  <a:t> = 0.9371</a:t>
                </a: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US" sz="2200" i="1" dirty="0"/>
                  <a:t>a</a:t>
                </a:r>
                <a:r>
                  <a:rPr lang="en-US" sz="2200" dirty="0"/>
                  <a:t> = </a:t>
                </a:r>
                <a:r>
                  <a:rPr lang="en-US" sz="2200" i="1" dirty="0"/>
                  <a:t>M</a:t>
                </a:r>
                <a:r>
                  <a:rPr lang="en-US" sz="2200" i="1" baseline="-25000" dirty="0"/>
                  <a:t>y</a:t>
                </a:r>
                <a:r>
                  <a:rPr lang="en-US" sz="2200" dirty="0"/>
                  <a:t> – </a:t>
                </a:r>
                <a:r>
                  <a:rPr lang="en-US" sz="2200" i="1" dirty="0" err="1"/>
                  <a:t>bM</a:t>
                </a:r>
                <a:r>
                  <a:rPr lang="en-US" sz="2200" i="1" baseline="-25000" dirty="0" err="1"/>
                  <a:t>x</a:t>
                </a:r>
                <a:r>
                  <a:rPr lang="en-US" sz="2200" i="1" baseline="-25000" dirty="0"/>
                  <a:t> </a:t>
                </a:r>
                <a:r>
                  <a:rPr lang="en-US" sz="2200" dirty="0"/>
                  <a:t>=100 – 70*.9371 = 34.40</a:t>
                </a: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US" sz="2000" dirty="0"/>
                  <a:t>y’=34.2+0.94 *  X</a:t>
                </a:r>
                <a:endParaRPr lang="en-US" sz="2200" dirty="0"/>
              </a:p>
              <a:p>
                <a:endParaRPr lang="en-US" sz="2200" dirty="0"/>
              </a:p>
              <a:p>
                <a:endParaRPr lang="en-US" sz="2200" dirty="0"/>
              </a:p>
              <a:p>
                <a:endParaRPr lang="en-US" sz="2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1BF868-73B4-AA4A-8535-5E5B8A784B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3153103"/>
                <a:ext cx="8039100" cy="3023860"/>
              </a:xfrm>
              <a:blipFill>
                <a:blip r:embed="rId2"/>
                <a:stretch>
                  <a:fillRect l="-986" t="-1008" b="-6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12256B4F-410A-6B4A-A182-B69801A20081}"/>
              </a:ext>
            </a:extLst>
          </p:cNvPr>
          <p:cNvSpPr txBox="1">
            <a:spLocks/>
          </p:cNvSpPr>
          <p:nvPr/>
        </p:nvSpPr>
        <p:spPr>
          <a:xfrm>
            <a:off x="781050" y="5175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>
                <a:solidFill>
                  <a:schemeClr val="accent1">
                    <a:lumMod val="75000"/>
                  </a:schemeClr>
                </a:solidFill>
              </a:rPr>
              <a:t>In-Class Practice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CEF351A4-EA0E-4994-A2C6-A2F11712CF8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08386701"/>
                  </p:ext>
                </p:extLst>
              </p:nvPr>
            </p:nvGraphicFramePr>
            <p:xfrm>
              <a:off x="946588" y="1558708"/>
              <a:ext cx="6096000" cy="139839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32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Spatial Reasoning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Mathematical Ability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Correlation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Mx= 70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My= 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𝑥𝑦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/>
                            <a:t>=0.63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Sx</a:t>
                          </a:r>
                          <a:r>
                            <a:rPr lang="en-US" dirty="0"/>
                            <a:t>= 9.97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Sy= 14.83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CEF351A4-EA0E-4994-A2C6-A2F11712CF8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08386701"/>
                  </p:ext>
                </p:extLst>
              </p:nvPr>
            </p:nvGraphicFramePr>
            <p:xfrm>
              <a:off x="946588" y="1558708"/>
              <a:ext cx="6096000" cy="139839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32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Spatial Reasoning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Mathematical Ability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Correlation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87477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Mx= 70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My= 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173438" r="-1198" b="-11718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Sx</a:t>
                          </a:r>
                          <a:r>
                            <a:rPr lang="en-US" dirty="0"/>
                            <a:t>= 9.97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Sy= 14.83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0080808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48862" y="2745828"/>
                <a:ext cx="8001000" cy="3560379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/>
                  <a:t>Paolo wants to study relation between spatial reasoning and mathematical ability.  He thinks spatial reasoning leads to more math ability, n = 20.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sz="2400" dirty="0"/>
                  <a:t>(4)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= 0.40. 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sz="2400" dirty="0"/>
                  <a:t>40% variances of mathematical ability can be explained by spatial reasoning. 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sz="2400" dirty="0"/>
                  <a:t>(5) y’=34.2+0.94 *X = 34.2 + 0.94 * 80 = 109.4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sz="2400" dirty="0"/>
                  <a:t>Error = 120 – 109.4 = 10.6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48862" y="2745828"/>
                <a:ext cx="8001000" cy="3560379"/>
              </a:xfrm>
              <a:blipFill>
                <a:blip r:embed="rId2"/>
                <a:stretch>
                  <a:fillRect l="-1220" t="-1370" r="-3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1">
            <a:extLst>
              <a:ext uri="{FF2B5EF4-FFF2-40B4-BE49-F238E27FC236}">
                <a16:creationId xmlns:a16="http://schemas.microsoft.com/office/drawing/2014/main" id="{773DD32B-A521-374A-B114-F400A3A3E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5831"/>
            <a:ext cx="7886700" cy="1325563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In-Class Practice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D4D35E81-95BE-48DB-BEE8-915B339D0A2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68734139"/>
                  </p:ext>
                </p:extLst>
              </p:nvPr>
            </p:nvGraphicFramePr>
            <p:xfrm>
              <a:off x="1409700" y="1241968"/>
              <a:ext cx="6096000" cy="139839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32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Spatial Reasoning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Mathematical Ability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Correlation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Mx= 70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My= 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𝑥𝑦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/>
                            <a:t>=0.63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Sx</a:t>
                          </a:r>
                          <a:r>
                            <a:rPr lang="en-US" dirty="0"/>
                            <a:t>= 9.97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Sy= 14.83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D4D35E81-95BE-48DB-BEE8-915B339D0A2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68734139"/>
                  </p:ext>
                </p:extLst>
              </p:nvPr>
            </p:nvGraphicFramePr>
            <p:xfrm>
              <a:off x="1409700" y="1241968"/>
              <a:ext cx="6096000" cy="139839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32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Spatial Reasoning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Mathematical Ability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Correlation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87477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Mx= 70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My= 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173438" r="-1198" b="-11718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Sx</a:t>
                          </a:r>
                          <a:r>
                            <a:rPr lang="en-US" dirty="0"/>
                            <a:t>= 9.97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Sy= 14.83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13237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ECBC7-B923-482D-8387-1077971D1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Linear Regression Activity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C5726F-5306-45DC-8CC0-FFBE4B7BAF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r>
                  <a:rPr lang="en-US" sz="2600" dirty="0"/>
                  <a:t>Work in groups and make sure each group has at least 5 persons.</a:t>
                </a:r>
              </a:p>
              <a:p>
                <a:r>
                  <a:rPr lang="en-US" sz="2600" dirty="0"/>
                  <a:t>Collect information about your group members' heights and weights.</a:t>
                </a:r>
              </a:p>
              <a:p>
                <a:r>
                  <a:rPr lang="en-US" sz="2600" dirty="0"/>
                  <a:t>Create the linear regression equation: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600" i="1">
                        <a:latin typeface="Cambria Math"/>
                        <a:ea typeface="Cambria Math"/>
                      </a:rPr>
                      <m:t>𝐻𝑔𝑡</m:t>
                    </m:r>
                    <m:r>
                      <a:rPr lang="en-US" sz="2600" i="1">
                        <a:latin typeface="Cambria Math"/>
                      </a:rPr>
                      <m:t>=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600" i="1">
                        <a:latin typeface="Cambria Math"/>
                      </a:rPr>
                      <m:t>+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∗</m:t>
                    </m:r>
                  </m:oMath>
                </a14:m>
                <a:r>
                  <a:rPr lang="en-US" sz="2600" dirty="0"/>
                  <a:t> </a:t>
                </a:r>
                <a:r>
                  <a:rPr lang="en-US" sz="2600" i="1" dirty="0"/>
                  <a:t>Wgt</a:t>
                </a:r>
              </a:p>
              <a:p>
                <a:pPr marL="457200" lvl="1" indent="0">
                  <a:buNone/>
                </a:pPr>
                <a:r>
                  <a:rPr lang="en-US" sz="2600" dirty="0"/>
                  <a:t>Find the “a” and “b” in your group and know how to interpret them. </a:t>
                </a:r>
              </a:p>
              <a:p>
                <a:pPr marL="457200" lvl="1" indent="0">
                  <a:buNone/>
                </a:pPr>
                <a:r>
                  <a:rPr lang="en-US" sz="2600" dirty="0"/>
                  <a:t>Download the table on canvas using excel calculation</a:t>
                </a:r>
              </a:p>
              <a:p>
                <a:r>
                  <a:rPr lang="en-US" sz="2600" dirty="0"/>
                  <a:t>If Dr. Zhang wants to be the tallest person to be predicted by your group’s regressions, which group do you think she should be in? (e.g., Her </a:t>
                </a:r>
                <a:r>
                  <a:rPr lang="en-US" sz="2600" i="1" dirty="0" err="1"/>
                  <a:t>Wgt</a:t>
                </a:r>
                <a:r>
                  <a:rPr lang="en-US" sz="2600" dirty="0"/>
                  <a:t> = 120 </a:t>
                </a:r>
                <a:r>
                  <a:rPr lang="en-US" sz="2600" dirty="0" err="1"/>
                  <a:t>lb</a:t>
                </a:r>
                <a:r>
                  <a:rPr lang="en-US" sz="2600" dirty="0"/>
                  <a:t>). </a:t>
                </a:r>
              </a:p>
              <a:p>
                <a:r>
                  <a:rPr lang="en-US" sz="2600" dirty="0"/>
                  <a:t>If Dr. Zhang’s actual height is 5’7”, what is the error (residual) of my height in your group? </a:t>
                </a:r>
              </a:p>
              <a:p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C5726F-5306-45DC-8CC0-FFBE4B7BAF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50" t="-2241" r="-1159" b="-2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99132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E8BC3-E939-48BA-A3FC-8885B6648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Formulas to Use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EABFF7-67EC-4C54-9DC5-7A86B35C13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419497"/>
                <a:ext cx="7886700" cy="4757466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Canvas </a:t>
                </a:r>
                <a:r>
                  <a:rPr lang="en-US" dirty="0">
                    <a:sym typeface="Wingdings" panose="05000000000000000000" pitchFamily="2" charset="2"/>
                  </a:rPr>
                  <a:t> files  LM calculation</a:t>
                </a:r>
                <a:endParaRPr lang="en-US" dirty="0"/>
              </a:p>
              <a:p>
                <a:r>
                  <a:rPr lang="en-US" dirty="0"/>
                  <a:t>Step 1, to know</a:t>
                </a:r>
                <a:r>
                  <a:rPr lang="en-US" i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</m:oMath>
                </a14:m>
                <a:r>
                  <a:rPr lang="en-US" dirty="0"/>
                  <a:t>?</a:t>
                </a:r>
              </a:p>
              <a:p>
                <a:pPr lvl="1"/>
                <a:r>
                  <a:rPr lang="en-US" dirty="0"/>
                  <a:t>Inputting the data and use the excel function.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∗ </m:t>
                        </m:r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𝑥𝑦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nary>
                                  <m:naryPr>
                                    <m:chr m:val="∑"/>
                                    <m:subHide m:val="on"/>
                                    <m:supHide m:val="on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/>
                                  <m:sup/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nary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∗(</m:t>
                            </m:r>
                            <m:nary>
                              <m:naryPr>
                                <m:chr m:val="∑"/>
                                <m:subHide m:val="on"/>
                                <m:supHide m:val="on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nary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∗ </m:t>
                            </m:r>
                            <m:nary>
                              <m:naryPr>
                                <m:chr m:val="∑"/>
                                <m:subHide m:val="on"/>
                                <m:supHide m:val="on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nary>
                                          <m:naryPr>
                                            <m:chr m:val="∑"/>
                                            <m:subHide m:val="on"/>
                                            <m:supHide m:val="on"/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naryPr>
                                          <m:sub/>
                                          <m:sup/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</m:nary>
                                      </m:e>
                                    </m:d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nary>
                          </m:e>
                        </m:rad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∗ </m:t>
                            </m:r>
                            <m:nary>
                              <m:naryPr>
                                <m:chr m:val="∑"/>
                                <m:subHide m:val="on"/>
                                <m:supHide m:val="on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nary>
                                          <m:naryPr>
                                            <m:chr m:val="∑"/>
                                            <m:subHide m:val="on"/>
                                            <m:supHide m:val="on"/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naryPr>
                                          <m:sub/>
                                          <m:sup/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</m:nary>
                                      </m:e>
                                    </m:d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</m:e>
                            </m:nary>
                          </m:e>
                        </m:rad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Step 2, to know </a:t>
                </a:r>
                <a:r>
                  <a:rPr lang="en-US" i="1" dirty="0"/>
                  <a:t>a</a:t>
                </a:r>
                <a:r>
                  <a:rPr lang="en-US" dirty="0"/>
                  <a:t> and </a:t>
                </a:r>
                <a:r>
                  <a:rPr lang="en-US" i="1" dirty="0"/>
                  <a:t>b</a:t>
                </a:r>
                <a:r>
                  <a:rPr lang="en-US" dirty="0"/>
                  <a:t>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∗ 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pPr lvl="1"/>
                <a:r>
                  <a:rPr lang="en-US" i="1" dirty="0"/>
                  <a:t>a</a:t>
                </a:r>
                <a:r>
                  <a:rPr lang="en-US" dirty="0"/>
                  <a:t> = </a:t>
                </a:r>
                <a:r>
                  <a:rPr lang="en-US" i="1" dirty="0"/>
                  <a:t>M</a:t>
                </a:r>
                <a:r>
                  <a:rPr lang="en-US" i="1" baseline="-25000" dirty="0"/>
                  <a:t>y</a:t>
                </a:r>
                <a:r>
                  <a:rPr lang="en-US" dirty="0"/>
                  <a:t> – </a:t>
                </a:r>
                <a:r>
                  <a:rPr lang="en-US" i="1" dirty="0" err="1"/>
                  <a:t>bM</a:t>
                </a:r>
                <a:r>
                  <a:rPr lang="en-US" i="1" baseline="-25000" dirty="0" err="1"/>
                  <a:t>x</a:t>
                </a:r>
                <a:endParaRPr lang="en-US" i="1" baseline="-25000" dirty="0"/>
              </a:p>
              <a:p>
                <a:r>
                  <a:rPr lang="en-US" dirty="0"/>
                  <a:t>Step 3, insert “120 </a:t>
                </a:r>
                <a:r>
                  <a:rPr lang="en-US" dirty="0" err="1"/>
                  <a:t>lb</a:t>
                </a:r>
                <a:r>
                  <a:rPr lang="en-US" dirty="0"/>
                  <a:t>” to the regression equation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𝐻𝑔𝑡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∗</m:t>
                    </m:r>
                  </m:oMath>
                </a14:m>
                <a:r>
                  <a:rPr lang="en-US" dirty="0"/>
                  <a:t> </a:t>
                </a:r>
                <a:r>
                  <a:rPr lang="en-US" i="1" dirty="0"/>
                  <a:t>Wgt</a:t>
                </a:r>
              </a:p>
              <a:p>
                <a:r>
                  <a:rPr lang="en-US" dirty="0"/>
                  <a:t>Step 4. calculate the residual.</a:t>
                </a:r>
              </a:p>
              <a:p>
                <a:pPr marL="457200" lvl="1" indent="0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𝐻𝑔𝑡</m:t>
                    </m:r>
                  </m:oMath>
                </a14:m>
                <a:r>
                  <a:rPr lang="en-US" dirty="0"/>
                  <a:t> = 5’7”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EABFF7-67EC-4C54-9DC5-7A86B35C13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419497"/>
                <a:ext cx="7886700" cy="4757466"/>
              </a:xfrm>
              <a:blipFill>
                <a:blip r:embed="rId2"/>
                <a:stretch>
                  <a:fillRect l="-1391" t="-2949" b="-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29483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993</TotalTime>
  <Words>2321</Words>
  <Application>Microsoft Macintosh PowerPoint</Application>
  <PresentationFormat>On-screen Show (4:3)</PresentationFormat>
  <Paragraphs>297</Paragraphs>
  <Slides>29</Slides>
  <Notes>13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7" baseType="lpstr">
      <vt:lpstr>Arial</vt:lpstr>
      <vt:lpstr>Calibri</vt:lpstr>
      <vt:lpstr>Calibri Light</vt:lpstr>
      <vt:lpstr>Cambria Math</vt:lpstr>
      <vt:lpstr>Courier New</vt:lpstr>
      <vt:lpstr>Wingdings</vt:lpstr>
      <vt:lpstr>Office Theme</vt:lpstr>
      <vt:lpstr>Equation</vt:lpstr>
      <vt:lpstr>EDUC 15: Statistics for education research</vt:lpstr>
      <vt:lpstr>Bivariate regression</vt:lpstr>
      <vt:lpstr>Correlation and Regression</vt:lpstr>
      <vt:lpstr>Regression Analysis Variables</vt:lpstr>
      <vt:lpstr>The Correlation Coefficient </vt:lpstr>
      <vt:lpstr>The Regression Equation  with One Predictor</vt:lpstr>
      <vt:lpstr>Calculating the Intercept (a)</vt:lpstr>
      <vt:lpstr>Calculating the Slope (b)</vt:lpstr>
      <vt:lpstr>PowerPoint Presentation</vt:lpstr>
      <vt:lpstr>PowerPoint Presentation</vt:lpstr>
      <vt:lpstr>PowerPoint Presentation</vt:lpstr>
      <vt:lpstr>Example- Study Hours and Grades</vt:lpstr>
      <vt:lpstr>Predictions and Effects</vt:lpstr>
      <vt:lpstr>Prediction Errors</vt:lpstr>
      <vt:lpstr>Standard error of the estimate: example</vt:lpstr>
      <vt:lpstr>A Confidence Interval for  the Estimate of y (y’)</vt:lpstr>
      <vt:lpstr>Confidence interval of the estimate: an example</vt:lpstr>
      <vt:lpstr>Calculate the error</vt:lpstr>
      <vt:lpstr>PowerPoint Presentation</vt:lpstr>
      <vt:lpstr>Chi-square test</vt:lpstr>
      <vt:lpstr>Chi-Square  Chocolate Flavor Activities</vt:lpstr>
      <vt:lpstr>Data Analysis</vt:lpstr>
      <vt:lpstr>PowerPoint Presentation</vt:lpstr>
      <vt:lpstr>PowerPoint Presentation</vt:lpstr>
      <vt:lpstr>In-Class Practice</vt:lpstr>
      <vt:lpstr>PowerPoint Presentation</vt:lpstr>
      <vt:lpstr>In-Class Practice</vt:lpstr>
      <vt:lpstr>Linear Regression Activity</vt:lpstr>
      <vt:lpstr>Formulas to Use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Tyler Watts</dc:creator>
  <cp:lastModifiedBy>Yu Zhang</cp:lastModifiedBy>
  <cp:revision>372</cp:revision>
  <dcterms:created xsi:type="dcterms:W3CDTF">2017-03-08T22:09:17Z</dcterms:created>
  <dcterms:modified xsi:type="dcterms:W3CDTF">2022-06-25T19:58:17Z</dcterms:modified>
</cp:coreProperties>
</file>